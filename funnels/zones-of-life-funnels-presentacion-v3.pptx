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89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036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Decisión pendiente: si hace falta revisión humana antes de la sesión, se cambia la regla. Hoy el sistema es automático hasta el coach.</a:t>
            </a:r>
          </a:p>
          <a:p>
            <a:r>
              <a:t>Preparar los campos del CRM en ActiveCampaign antes de encender los flujos.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Precio en dólares para audiencia de EE.UU.: pendiente de confirmar y de agregar a la tabla de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gráfica corta se muestra completa en pantalla. Lo que se reserva es la explicación, no el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 eliminaron los mensajes de bono (B8 y B9 del v2). El código B9 queda retirado y no se reutiliza; B10 y B11 conservan su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flujo D ahora es una venta, no una invitación: la Revisión Privada se paga. Falta definir {{precio_sesion}}.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66928"/>
            <a:ext cx="1309969" cy="279806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66928"/>
            <a:ext cx="130996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09728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Funnels y copys de seguimiento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31546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Mini Perfil Financiero a la Revisión Privada con un coach del ACLC. Todo automatizado hasta la sesión, que es el primer contacto humano.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" y="5532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E9ECF6"/>
          </a:solidFill>
          <a:ln w="12700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 txBox="1"/>
          <p:nvPr/>
        </p:nvSpPr>
        <p:spPr>
          <a:xfrm>
            <a:off x="612648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Perfil Financiero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08376" y="5532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 txBox="1"/>
          <p:nvPr/>
        </p:nvSpPr>
        <p:spPr>
          <a:xfrm>
            <a:off x="3008376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Salud Financiera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04104" y="5532120"/>
            <a:ext cx="1901952" cy="457200"/>
          </a:xfrm>
          <a:prstGeom prst="roundRect">
            <a:avLst>
              <a:gd name="adj" fmla="val 16000"/>
            </a:avLst>
          </a:prstGeom>
          <a:solidFill>
            <a:srgbClr val="E9ECF6"/>
          </a:solidFill>
          <a:ln w="12700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 txBox="1"/>
          <p:nvPr/>
        </p:nvSpPr>
        <p:spPr>
          <a:xfrm>
            <a:off x="5404104" y="55321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Privada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15784" y="55321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5" name="Text 13"/>
          <p:cNvSpPr txBox="1"/>
          <p:nvPr/>
        </p:nvSpPr>
        <p:spPr>
          <a:xfrm>
            <a:off x="7415784" y="55321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59368" y="5532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7" name="Text 15"/>
          <p:cNvSpPr txBox="1"/>
          <p:nvPr/>
        </p:nvSpPr>
        <p:spPr>
          <a:xfrm>
            <a:off x="8659368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Reevaluación 90 días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5303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del sistema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115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principios que aplican a todos los flujos.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" y="18745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7" name="Text 5"/>
          <p:cNvSpPr txBox="1"/>
          <p:nvPr/>
        </p:nvSpPr>
        <p:spPr>
          <a:xfrm>
            <a:off x="841248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humanos antes del coach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53288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mensaje previo a la sesión es automático y se firma como "Equipo Zones of Life", nunca con el nombre del coach.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8745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 txBox="1"/>
          <p:nvPr/>
        </p:nvSpPr>
        <p:spPr>
          <a:xfrm>
            <a:off x="4544568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Dudas por botones o IA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53288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rápidas predefinidas y un asistente de IA identificado como tal para preguntas abiertas.</a:t>
            </a:r>
          </a:p>
        </p:txBody>
      </p:sp>
      <p:sp>
        <p:nvSpPr>
          <p:cNvPr id="12" name="Shape 10"/>
          <p:cNvSpPr/>
          <p:nvPr/>
        </p:nvSpPr>
        <p:spPr>
          <a:xfrm>
            <a:off x="8019288" y="18745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 txBox="1"/>
          <p:nvPr/>
        </p:nvSpPr>
        <p:spPr>
          <a:xfrm>
            <a:off x="8247888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puntaje cambia la secuencia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253288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lead con intención alta entra a una versión acelerada del flujo. El canal no cambia.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" y="397764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6" name="Text 14"/>
          <p:cNvSpPr txBox="1"/>
          <p:nvPr/>
        </p:nvSpPr>
        <p:spPr>
          <a:xfrm>
            <a:off x="841248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cada flujo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63600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avanza, pasa al siguiente paso. Si llega al último mensaje sin responder, va a nutrición mensual.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15968" y="397764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9" name="Text 17"/>
          <p:cNvSpPr txBox="1"/>
          <p:nvPr/>
        </p:nvSpPr>
        <p:spPr>
          <a:xfrm>
            <a:off x="4544568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con plantillas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44568" y="463600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la ventana de 24 horas se usan plantillas aprobadas por Meta, con opt-in explícito en el formulario.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19288" y="397764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2" name="Text 20"/>
          <p:cNvSpPr txBox="1"/>
          <p:nvPr/>
        </p:nvSpPr>
        <p:spPr>
          <a:xfrm>
            <a:off x="8247888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desde el minuto uno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47888" y="463600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 más baja, perfil y etapa se escriben en el CRM al terminar el mini perfil.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530352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flujos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124712"/>
            <a:ext cx="3200400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izquierda, el camino del lead. A la derecha, el flujo que se activa si se detiene en ese punto.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" y="58887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3D4F86"/>
          </a:solidFill>
          <a:ln w="12700">
            <a:solidFill>
              <a:srgbClr val="3D4F8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7" name="Text 5"/>
          <p:cNvSpPr txBox="1"/>
          <p:nvPr/>
        </p:nvSpPr>
        <p:spPr>
          <a:xfrm>
            <a:off x="795528" y="5833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04188" y="58887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E7A57"/>
          </a:solidFill>
          <a:ln w="12700">
            <a:solidFill>
              <a:srgbClr val="2E7A57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 txBox="1"/>
          <p:nvPr/>
        </p:nvSpPr>
        <p:spPr>
          <a:xfrm>
            <a:off x="1687068" y="5833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73452" y="58887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9A3D6A"/>
          </a:solidFill>
          <a:ln w="12700">
            <a:solidFill>
              <a:srgbClr val="9A3D6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 txBox="1"/>
          <p:nvPr/>
        </p:nvSpPr>
        <p:spPr>
          <a:xfrm>
            <a:off x="2656332" y="5833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548640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 txBox="1"/>
          <p:nvPr/>
        </p:nvSpPr>
        <p:spPr>
          <a:xfrm>
            <a:off x="4297680" y="54864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al sitio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Orgánico, pauta, referidos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60520" y="1161288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5" name="Text 13"/>
          <p:cNvSpPr txBox="1"/>
          <p:nvPr/>
        </p:nvSpPr>
        <p:spPr>
          <a:xfrm>
            <a:off x="4297680" y="116128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su Mini Perfil Financiero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datos y WhatsApp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1408176"/>
            <a:ext cx="256032" cy="0"/>
          </a:xfrm>
          <a:prstGeom prst="line">
            <a:avLst/>
          </a:prstGeom>
          <a:noFill/>
          <a:ln w="9525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7" name="Shape 15"/>
          <p:cNvSpPr/>
          <p:nvPr/>
        </p:nvSpPr>
        <p:spPr>
          <a:xfrm>
            <a:off x="8348472" y="1161288"/>
            <a:ext cx="3230575" cy="493776"/>
          </a:xfrm>
          <a:prstGeom prst="roundRect">
            <a:avLst>
              <a:gd name="adj" fmla="val 14815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 txBox="1"/>
          <p:nvPr/>
        </p:nvSpPr>
        <p:spPr>
          <a:xfrm>
            <a:off x="8485632" y="1161288"/>
            <a:ext cx="2956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A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Abandonó a medias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60520" y="1773936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0" name="Text 18"/>
          <p:cNvSpPr txBox="1"/>
          <p:nvPr/>
        </p:nvSpPr>
        <p:spPr>
          <a:xfrm>
            <a:off x="4297680" y="177393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su resultado gratuito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 más baja y oferta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2020824"/>
            <a:ext cx="256032" cy="0"/>
          </a:xfrm>
          <a:prstGeom prst="line">
            <a:avLst/>
          </a:prstGeom>
          <a:noFill/>
          <a:ln w="9525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2" name="Shape 20"/>
          <p:cNvSpPr/>
          <p:nvPr/>
        </p:nvSpPr>
        <p:spPr>
          <a:xfrm>
            <a:off x="8348472" y="1773936"/>
            <a:ext cx="3230575" cy="493776"/>
          </a:xfrm>
          <a:prstGeom prst="roundRect">
            <a:avLst>
              <a:gd name="adj" fmla="val 14815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3" name="Text 21"/>
          <p:cNvSpPr txBox="1"/>
          <p:nvPr/>
        </p:nvSpPr>
        <p:spPr>
          <a:xfrm>
            <a:off x="8485632" y="1773936"/>
            <a:ext cx="2956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B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compra el perfil completo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60520" y="2386584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E3F1EA"/>
          </a:solidFill>
          <a:ln w="9525">
            <a:solidFill>
              <a:srgbClr val="E3F1E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5" name="Text 23"/>
          <p:cNvSpPr txBox="1"/>
          <p:nvPr/>
        </p:nvSpPr>
        <p:spPr>
          <a:xfrm>
            <a:off x="4297680" y="238658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su Perfil de Salud Financiera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 primera venta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92440" y="2633472"/>
            <a:ext cx="256032" cy="0"/>
          </a:xfrm>
          <a:prstGeom prst="line">
            <a:avLst/>
          </a:prstGeom>
          <a:noFill/>
          <a:ln w="9525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7" name="Shape 25"/>
          <p:cNvSpPr/>
          <p:nvPr/>
        </p:nvSpPr>
        <p:spPr>
          <a:xfrm>
            <a:off x="8348472" y="2386584"/>
            <a:ext cx="3230575" cy="493776"/>
          </a:xfrm>
          <a:prstGeom prst="roundRect">
            <a:avLst>
              <a:gd name="adj" fmla="val 14815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8" name="Text 26"/>
          <p:cNvSpPr txBox="1"/>
          <p:nvPr/>
        </p:nvSpPr>
        <p:spPr>
          <a:xfrm>
            <a:off x="8485632" y="2386584"/>
            <a:ext cx="2956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Pagó y no lo termina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60520" y="2999232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0" name="Text 28"/>
          <p:cNvSpPr txBox="1"/>
          <p:nvPr/>
        </p:nvSpPr>
        <p:spPr>
          <a:xfrm>
            <a:off x="4297680" y="299923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gráfica, reporte y cuaderno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automáticos al terminar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256032" cy="0"/>
          </a:xfrm>
          <a:prstGeom prst="line">
            <a:avLst/>
          </a:prstGeom>
          <a:noFill/>
          <a:ln w="9525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2" name="Shape 30"/>
          <p:cNvSpPr/>
          <p:nvPr/>
        </p:nvSpPr>
        <p:spPr>
          <a:xfrm>
            <a:off x="8348472" y="2999232"/>
            <a:ext cx="3230575" cy="493776"/>
          </a:xfrm>
          <a:prstGeom prst="roundRect">
            <a:avLst>
              <a:gd name="adj" fmla="val 14815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3" name="Text 31"/>
          <p:cNvSpPr txBox="1"/>
          <p:nvPr/>
        </p:nvSpPr>
        <p:spPr>
          <a:xfrm>
            <a:off x="8485632" y="2999232"/>
            <a:ext cx="2956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agenda su revisión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160520" y="3611880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E3F1EA"/>
          </a:solidFill>
          <a:ln w="9525">
            <a:solidFill>
              <a:srgbClr val="E3F1E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5" name="Text 33"/>
          <p:cNvSpPr txBox="1"/>
          <p:nvPr/>
        </p:nvSpPr>
        <p:spPr>
          <a:xfrm>
            <a:off x="4297680" y="361188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y agenda su Revisión Privada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venta: {{precio_sesion}}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092440" y="3858768"/>
            <a:ext cx="256032" cy="0"/>
          </a:xfrm>
          <a:prstGeom prst="line">
            <a:avLst/>
          </a:prstGeom>
          <a:noFill/>
          <a:ln w="9525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7" name="Shape 35"/>
          <p:cNvSpPr/>
          <p:nvPr/>
        </p:nvSpPr>
        <p:spPr>
          <a:xfrm>
            <a:off x="8348472" y="3611880"/>
            <a:ext cx="3230575" cy="493776"/>
          </a:xfrm>
          <a:prstGeom prst="roundRect">
            <a:avLst>
              <a:gd name="adj" fmla="val 14815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8" name="Text 36"/>
          <p:cNvSpPr txBox="1"/>
          <p:nvPr/>
        </p:nvSpPr>
        <p:spPr>
          <a:xfrm>
            <a:off x="8485632" y="3611880"/>
            <a:ext cx="2956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presentó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160520" y="4261104"/>
            <a:ext cx="7418527" cy="329184"/>
          </a:xfrm>
          <a:prstGeom prst="roundRect">
            <a:avLst>
              <a:gd name="adj" fmla="val 16667"/>
            </a:avLst>
          </a:prstGeom>
          <a:solidFill>
            <a:srgbClr val="E3F1EA"/>
          </a:solidFill>
          <a:ln w="12700">
            <a:solidFill>
              <a:srgbClr val="E3F1E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0" name="Text 38"/>
          <p:cNvSpPr txBox="1"/>
          <p:nvPr/>
        </p:nvSpPr>
        <p:spPr>
          <a:xfrm>
            <a:off x="4297680" y="426110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contacto humano: la Revisión Privada con un coach del ACLC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60520" y="4663440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2" name="Text 40"/>
          <p:cNvSpPr txBox="1"/>
          <p:nvPr/>
        </p:nvSpPr>
        <p:spPr>
          <a:xfrm>
            <a:off x="4297680" y="466344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 a su Revisión Privada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propuesta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092440" y="4910328"/>
            <a:ext cx="256032" cy="0"/>
          </a:xfrm>
          <a:prstGeom prst="line">
            <a:avLst/>
          </a:prstGeom>
          <a:noFill/>
          <a:ln w="9525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4" name="Shape 42"/>
          <p:cNvSpPr/>
          <p:nvPr/>
        </p:nvSpPr>
        <p:spPr>
          <a:xfrm>
            <a:off x="8348472" y="4663440"/>
            <a:ext cx="3230575" cy="493776"/>
          </a:xfrm>
          <a:prstGeom prst="roundRect">
            <a:avLst>
              <a:gd name="adj" fmla="val 14815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5" name="Text 43"/>
          <p:cNvSpPr txBox="1"/>
          <p:nvPr/>
        </p:nvSpPr>
        <p:spPr>
          <a:xfrm>
            <a:off x="8485632" y="4663440"/>
            <a:ext cx="2956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F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Asistió y no compró: programa o reevaluación</a:t>
            </a:r>
          </a:p>
        </p:txBody>
      </p:sp>
      <p:sp>
        <p:nvSpPr>
          <p:cNvPr id="46" name="Shape 44"/>
          <p:cNvSpPr/>
          <p:nvPr/>
        </p:nvSpPr>
        <p:spPr>
          <a:xfrm>
            <a:off x="4160520" y="5276088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E3F1EA"/>
          </a:solidFill>
          <a:ln w="9525">
            <a:solidFill>
              <a:srgbClr val="E3F1E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7" name="Text 45"/>
          <p:cNvSpPr txBox="1"/>
          <p:nvPr/>
        </p:nvSpPr>
        <p:spPr>
          <a:xfrm>
            <a:off x="4297680" y="527608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programa y reevaluación a 90 días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referidos, ascenso a ACLC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837590" cy="256032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837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del Mini Perfil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920240"/>
            <a:ext cx="320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oferta se hace aquí, en la misma página, sin esperar al correo.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611120"/>
            <a:ext cx="3200400" cy="61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seis habilidades y cuál está más baja.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356737"/>
            <a:ext cx="3200400" cy="61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porqué, cómo se arrastran entre sí y el plan de 90 días.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530352"/>
            <a:ext cx="7415784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 txBox="1"/>
          <p:nvPr/>
        </p:nvSpPr>
        <p:spPr>
          <a:xfrm>
            <a:off x="4480560" y="804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804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el mini perfil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570464" y="813816"/>
            <a:ext cx="620146" cy="220370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 w="9525">
            <a:solidFill>
              <a:srgbClr val="E3F1E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 txBox="1"/>
          <p:nvPr/>
        </p:nvSpPr>
        <p:spPr>
          <a:xfrm>
            <a:off x="10570464" y="813816"/>
            <a:ext cx="620146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1261872"/>
            <a:ext cx="677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{{nombre}}, tu habilidad más baja es {{habilidad_critica}}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1901952"/>
            <a:ext cx="677570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 err="1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{{frase_habilidad}}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580132"/>
            <a:ext cx="6775704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>
                    <a:lumMod val="6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este resultado todavía no te dice: por qué {{habilidad_critica}} está ahí, cuál de las otras cinco la arrastra y cuál es el primer movimiento con más impacto. Eso está en tu Perfil de Salud Financiera: 100 preguntas, tu gráfica completa, el reporte de las seis habilidades, el Cuaderno de Trabajo y la audio-lección de Alan C. Walter.</a:t>
            </a:r>
            <a:endParaRPr lang="en-US" sz="15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480560" y="3753612"/>
            <a:ext cx="67757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 err="1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de Salud Financiera: $500, pago único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80560" y="4275582"/>
            <a:ext cx="2794589" cy="279806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0" name="Text 18"/>
          <p:cNvSpPr txBox="1"/>
          <p:nvPr/>
        </p:nvSpPr>
        <p:spPr>
          <a:xfrm>
            <a:off x="4480560" y="4275582"/>
            <a:ext cx="279458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mi Perfil de Salud Financiera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84877" y="4275582"/>
            <a:ext cx="2382195" cy="2798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2" name="Text 20"/>
          <p:cNvSpPr txBox="1"/>
          <p:nvPr/>
        </p:nvSpPr>
        <p:spPr>
          <a:xfrm>
            <a:off x="7384877" y="4275582"/>
            <a:ext cx="2382195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Enviarme mi mini perfil por correo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1137514" cy="256032"/>
          </a:xfrm>
          <a:prstGeom prst="roundRect">
            <a:avLst>
              <a:gd name="adj" fmla="val 50000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11375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A: mini perfil abandonado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304288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Dejó datos y no terminó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856230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el mini perfil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408172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responde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mensual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530352"/>
            <a:ext cx="7418527" cy="1656334"/>
          </a:xfrm>
          <a:prstGeom prst="roundRect">
            <a:avLst>
              <a:gd name="adj" fmla="val 552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 txBox="1"/>
          <p:nvPr/>
        </p:nvSpPr>
        <p:spPr>
          <a:xfrm>
            <a:off x="4315968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64008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hora después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867187" y="65836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 txBox="1"/>
          <p:nvPr/>
        </p:nvSpPr>
        <p:spPr>
          <a:xfrm>
            <a:off x="10867187" y="65836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914400"/>
            <a:ext cx="7107631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faltaron {{preguntas_restantes}} preguntas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15968" y="1139698"/>
            <a:ext cx="7107631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 detuviste en la pregunta {{pregunta_actual}} de {{total_preguntas}}. Tus respuestas están guardadas: te faltan unos minutos para ver tus seis habilidades financieras y cuál te está frenando hoy.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15968" y="1820926"/>
            <a:ext cx="1857329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 txBox="1"/>
          <p:nvPr/>
        </p:nvSpPr>
        <p:spPr>
          <a:xfrm>
            <a:off x="4315968" y="1820926"/>
            <a:ext cx="1857329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mi mini perfil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60520" y="2314702"/>
            <a:ext cx="7418527" cy="1258824"/>
          </a:xfrm>
          <a:prstGeom prst="roundRect">
            <a:avLst>
              <a:gd name="adj" fmla="val 7264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0" name="Text 18"/>
          <p:cNvSpPr txBox="1"/>
          <p:nvPr/>
        </p:nvSpPr>
        <p:spPr>
          <a:xfrm>
            <a:off x="4315968" y="242443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90288" y="242443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horas después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675986" y="2442718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3" name="Text 21"/>
          <p:cNvSpPr txBox="1"/>
          <p:nvPr/>
        </p:nvSpPr>
        <p:spPr>
          <a:xfrm>
            <a:off x="10675986" y="2442718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315968" y="2698750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Hola {{nombre}}, te escribe el equipo de Zones of Life. Tu Mini Perfil Financiero sigue guardado: te faltan {{preguntas_restantes}} preguntas para ver tus seis habilidades. ¿Lo terminamos?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15968" y="3189478"/>
            <a:ext cx="1249985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6" name="Text 24"/>
          <p:cNvSpPr txBox="1"/>
          <p:nvPr/>
        </p:nvSpPr>
        <p:spPr>
          <a:xfrm>
            <a:off x="4315968" y="3189478"/>
            <a:ext cx="1249985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ahora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39105" y="3189478"/>
            <a:ext cx="1519916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8" name="Text 26"/>
          <p:cNvSpPr txBox="1"/>
          <p:nvPr/>
        </p:nvSpPr>
        <p:spPr>
          <a:xfrm>
            <a:off x="5639105" y="3189478"/>
            <a:ext cx="1519916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Recordármelo mañana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3701542"/>
            <a:ext cx="7418527" cy="1465834"/>
          </a:xfrm>
          <a:prstGeom prst="roundRect">
            <a:avLst>
              <a:gd name="adj" fmla="val 623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0" name="Text 28"/>
          <p:cNvSpPr txBox="1"/>
          <p:nvPr/>
        </p:nvSpPr>
        <p:spPr>
          <a:xfrm>
            <a:off x="4315968" y="381127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90288" y="381127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horas después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867187" y="382955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3" name="Text 31"/>
          <p:cNvSpPr txBox="1"/>
          <p:nvPr/>
        </p:nvSpPr>
        <p:spPr>
          <a:xfrm>
            <a:off x="10867187" y="382955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315968" y="4085590"/>
            <a:ext cx="7107631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habilidad que crees que te frena casi nunca es la que te frena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315968" y="4310888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 todos llegan pensando que el problema es que no ganan lo suficiente. Al medir, el punto más bajo suele estar en otro lado. Tu avance se guarda {{dias_guardado}} días más.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15968" y="4801616"/>
            <a:ext cx="1789847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7" name="Text 35"/>
          <p:cNvSpPr txBox="1"/>
          <p:nvPr/>
        </p:nvSpPr>
        <p:spPr>
          <a:xfrm>
            <a:off x="4315968" y="4801616"/>
            <a:ext cx="1789847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Terminar mi mini perfil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Recuperación, 1 de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B: vender el Perfil de Salud Financiera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304288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 su mini perfil y no compró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856230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el perfil completo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408172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responde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mensual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530352"/>
            <a:ext cx="3645256" cy="1846834"/>
          </a:xfrm>
          <a:prstGeom prst="roundRect">
            <a:avLst>
              <a:gd name="adj" fmla="val 495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 txBox="1"/>
          <p:nvPr/>
        </p:nvSpPr>
        <p:spPr>
          <a:xfrm>
            <a:off x="4315968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93915" y="65836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 txBox="1"/>
          <p:nvPr/>
        </p:nvSpPr>
        <p:spPr>
          <a:xfrm>
            <a:off x="7093915" y="65836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914400"/>
            <a:ext cx="3334360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{{nombre}}, tu habilidad más baja es {{habilidad_critica}}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15968" y="1139698"/>
            <a:ext cx="333436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mini perfil dice dónde está el punto bajo, no por qué ni qué hacer primero. El perfil completo te da las seis habilidades a fondo, el cuaderno de trabajo y tu plan de 90 días, por {{precio_completo}}.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15968" y="2011426"/>
            <a:ext cx="2329708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 txBox="1"/>
          <p:nvPr/>
        </p:nvSpPr>
        <p:spPr>
          <a:xfrm>
            <a:off x="4315968" y="2011426"/>
            <a:ext cx="232970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mi perfil completo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33792" y="530352"/>
            <a:ext cx="3645256" cy="1846834"/>
          </a:xfrm>
          <a:prstGeom prst="roundRect">
            <a:avLst>
              <a:gd name="adj" fmla="val 495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0" name="Text 18"/>
          <p:cNvSpPr txBox="1"/>
          <p:nvPr/>
        </p:nvSpPr>
        <p:spPr>
          <a:xfrm>
            <a:off x="8089240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63560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675986" y="658368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3" name="Text 21"/>
          <p:cNvSpPr txBox="1"/>
          <p:nvPr/>
        </p:nvSpPr>
        <p:spPr>
          <a:xfrm>
            <a:off x="10675986" y="658368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089240" y="914400"/>
            <a:ext cx="333436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Mini Perfil Financiero está listo. Tu habilidad más baja es {{habilidad_critica}}. Si quieres saber por qué está ahí y por dónde empezar, el perfil completo te lo muestra.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89240" y="1786128"/>
            <a:ext cx="1857329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6" name="Text 24"/>
          <p:cNvSpPr txBox="1"/>
          <p:nvPr/>
        </p:nvSpPr>
        <p:spPr>
          <a:xfrm>
            <a:off x="8089240" y="1786128"/>
            <a:ext cx="1857329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qué incluye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019721" y="1786128"/>
            <a:ext cx="980054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8" name="Text 26"/>
          <p:cNvSpPr txBox="1"/>
          <p:nvPr/>
        </p:nvSpPr>
        <p:spPr>
          <a:xfrm>
            <a:off x="10019721" y="1786128"/>
            <a:ext cx="980054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mi mini perfil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2505202"/>
            <a:ext cx="3645256" cy="1656334"/>
          </a:xfrm>
          <a:prstGeom prst="roundRect">
            <a:avLst>
              <a:gd name="adj" fmla="val 552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0" name="Text 28"/>
          <p:cNvSpPr txBox="1"/>
          <p:nvPr/>
        </p:nvSpPr>
        <p:spPr>
          <a:xfrm>
            <a:off x="4315968" y="261493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90288" y="261493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 tras abandonar el pago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02714" y="2633218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3" name="Text 31"/>
          <p:cNvSpPr txBox="1"/>
          <p:nvPr/>
        </p:nvSpPr>
        <p:spPr>
          <a:xfrm>
            <a:off x="6902714" y="2633218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315968" y="2889250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Perfil de Salud Financiera quedó en el paso de pago. Si algo falló, puedes retomarlo sin volver a empezar.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15968" y="3570478"/>
            <a:ext cx="1047537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6" name="Text 34"/>
          <p:cNvSpPr txBox="1"/>
          <p:nvPr/>
        </p:nvSpPr>
        <p:spPr>
          <a:xfrm>
            <a:off x="4315968" y="3570478"/>
            <a:ext cx="1047537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Retomar pago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36657" y="3570478"/>
            <a:ext cx="1182502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8" name="Text 36"/>
          <p:cNvSpPr txBox="1"/>
          <p:nvPr/>
        </p:nvSpPr>
        <p:spPr>
          <a:xfrm>
            <a:off x="5436657" y="3570478"/>
            <a:ext cx="1182502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una duda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933792" y="2505202"/>
            <a:ext cx="3645256" cy="1656334"/>
          </a:xfrm>
          <a:prstGeom prst="roundRect">
            <a:avLst>
              <a:gd name="adj" fmla="val 552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0" name="Text 38"/>
          <p:cNvSpPr txBox="1"/>
          <p:nvPr/>
        </p:nvSpPr>
        <p:spPr>
          <a:xfrm>
            <a:off x="8089240" y="261493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363560" y="261493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 tras abandonar el pago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867187" y="263321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3" name="Text 41"/>
          <p:cNvSpPr txBox="1"/>
          <p:nvPr/>
        </p:nvSpPr>
        <p:spPr>
          <a:xfrm>
            <a:off x="10867187" y="263321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089240" y="2889250"/>
            <a:ext cx="3334360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Guardamos tu lugar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089240" y="3114548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el problema fue el método de pago, puedes intentarlo con otro desde el mismo enlace. {{opcion_pago}}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89240" y="3795776"/>
            <a:ext cx="1452433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7" name="Text 45"/>
          <p:cNvSpPr txBox="1"/>
          <p:nvPr/>
        </p:nvSpPr>
        <p:spPr>
          <a:xfrm>
            <a:off x="8089240" y="3795776"/>
            <a:ext cx="1452433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Terminar mi compra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60520" y="4289552"/>
            <a:ext cx="3645256" cy="1499362"/>
          </a:xfrm>
          <a:prstGeom prst="roundRect">
            <a:avLst>
              <a:gd name="adj" fmla="val 609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9" name="Text 47"/>
          <p:cNvSpPr txBox="1"/>
          <p:nvPr/>
        </p:nvSpPr>
        <p:spPr>
          <a:xfrm>
            <a:off x="4315968" y="43992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590288" y="43992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093915" y="441756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2" name="Text 50"/>
          <p:cNvSpPr txBox="1"/>
          <p:nvPr/>
        </p:nvSpPr>
        <p:spPr>
          <a:xfrm>
            <a:off x="7093915" y="441756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4315968" y="4673600"/>
            <a:ext cx="3334360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tu mini perfil no te está diciendo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4315968" y="4898898"/>
            <a:ext cx="333436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el origen es hábito, conocimiento o una decisión pospuesta; cuál de las otras cinco habilidades arrastra a {{habilidad_critica}}; y cuál es el primer movimiento con más impacto.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933792" y="4289552"/>
            <a:ext cx="3645256" cy="1499362"/>
          </a:xfrm>
          <a:prstGeom prst="roundRect">
            <a:avLst>
              <a:gd name="adj" fmla="val 609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6" name="Text 54"/>
          <p:cNvSpPr txBox="1"/>
          <p:nvPr/>
        </p:nvSpPr>
        <p:spPr>
          <a:xfrm>
            <a:off x="8089240" y="43992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8363560" y="43992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0867187" y="441756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9" name="Text 57"/>
          <p:cNvSpPr txBox="1"/>
          <p:nvPr/>
        </p:nvSpPr>
        <p:spPr>
          <a:xfrm>
            <a:off x="10867187" y="441756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8089240" y="4673600"/>
            <a:ext cx="3334360" cy="3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descubrió alguien con tu mismo punto bajo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8089240" y="5069332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{{caso_nombre}} creía que el problema era {{caso_creencia}}. Su perfil mostró {{caso_hallazgo}}. Caso real, con permiso por escrito.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Recuperación, 2 de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B: vender el Perfil de Salud Financiera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304288"/>
            <a:ext cx="3200400" cy="61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acelerada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leads con dos o más clics en la oferta o visita al checkout.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3049905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 B1 y B2. Día 1 B5. Día 2 B7. Día 3 B8. Día 5 B10. Día 7 B11.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601847"/>
            <a:ext cx="3200400" cy="61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descuentos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bonos ni precios de lanzamiento. El mini perfil es gratis, el perfil cuesta {{precio_completo}} y la Revisión Privada se paga aparte.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530352"/>
            <a:ext cx="3645256" cy="1846834"/>
          </a:xfrm>
          <a:prstGeom prst="roundRect">
            <a:avLst>
              <a:gd name="adj" fmla="val 495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 txBox="1"/>
          <p:nvPr/>
        </p:nvSpPr>
        <p:spPr>
          <a:xfrm>
            <a:off x="4315968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93915" y="65836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 txBox="1"/>
          <p:nvPr/>
        </p:nvSpPr>
        <p:spPr>
          <a:xfrm>
            <a:off x="7093915" y="65836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914400"/>
            <a:ext cx="3334360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te ha costado adivinar?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15968" y="1139698"/>
            <a:ext cx="333436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Cuesta {{precio_completo}}. Piensa en cursos, libros y meses intentándolo por tu cuenta. Sin una medición precisa, cada intento es una apuesta.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15968" y="2011426"/>
            <a:ext cx="1384950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 txBox="1"/>
          <p:nvPr/>
        </p:nvSpPr>
        <p:spPr>
          <a:xfrm>
            <a:off x="4315968" y="2011426"/>
            <a:ext cx="138495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adivinar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33792" y="530352"/>
            <a:ext cx="3645256" cy="1846834"/>
          </a:xfrm>
          <a:prstGeom prst="roundRect">
            <a:avLst>
              <a:gd name="adj" fmla="val 495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0" name="Text 18"/>
          <p:cNvSpPr txBox="1"/>
          <p:nvPr/>
        </p:nvSpPr>
        <p:spPr>
          <a:xfrm>
            <a:off x="8089240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63560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7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867187" y="65836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3" name="Text 21"/>
          <p:cNvSpPr txBox="1"/>
          <p:nvPr/>
        </p:nvSpPr>
        <p:spPr>
          <a:xfrm>
            <a:off x="10867187" y="65836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089240" y="914400"/>
            <a:ext cx="3334360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 exactamente tu perfil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089240" y="1139698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Cien preguntas, tu gráfica, el reporte de las seis habilidades, el Cuaderno de Trabajo y la audio-lección de Walter. Pago único.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89240" y="1820926"/>
            <a:ext cx="1384950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7" name="Text 25"/>
          <p:cNvSpPr txBox="1"/>
          <p:nvPr/>
        </p:nvSpPr>
        <p:spPr>
          <a:xfrm>
            <a:off x="8089240" y="1820926"/>
            <a:ext cx="138495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todo lo que incluye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57320" y="2505202"/>
            <a:ext cx="3645256" cy="1723644"/>
          </a:xfrm>
          <a:prstGeom prst="roundRect">
            <a:avLst>
              <a:gd name="adj" fmla="val 5305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9" name="Text 37"/>
          <p:cNvSpPr txBox="1"/>
          <p:nvPr/>
        </p:nvSpPr>
        <p:spPr>
          <a:xfrm>
            <a:off x="4312768" y="261493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687672" y="2614930"/>
            <a:ext cx="1862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99514" y="2633218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2" name="Text 40"/>
          <p:cNvSpPr txBox="1"/>
          <p:nvPr/>
        </p:nvSpPr>
        <p:spPr>
          <a:xfrm>
            <a:off x="6899514" y="2633218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4312768" y="2889250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te detiene para obtener tu Perfil de Salud Financiera? Cada botón dispara una respuesta escrita; "Ahora no" pausa 30 días.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312768" y="3570478"/>
            <a:ext cx="845088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5" name="Text 43"/>
          <p:cNvSpPr txBox="1"/>
          <p:nvPr/>
        </p:nvSpPr>
        <p:spPr>
          <a:xfrm>
            <a:off x="4312768" y="3570478"/>
            <a:ext cx="84508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31008" y="3570478"/>
            <a:ext cx="1384950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7" name="Text 45"/>
          <p:cNvSpPr txBox="1"/>
          <p:nvPr/>
        </p:nvSpPr>
        <p:spPr>
          <a:xfrm>
            <a:off x="5231008" y="3570478"/>
            <a:ext cx="138495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sé qué incluye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312768" y="3844798"/>
            <a:ext cx="1519916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9" name="Text 47"/>
          <p:cNvSpPr txBox="1"/>
          <p:nvPr/>
        </p:nvSpPr>
        <p:spPr>
          <a:xfrm>
            <a:off x="4312768" y="3844798"/>
            <a:ext cx="1519916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no es momento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60520" y="4356862"/>
            <a:ext cx="7418527" cy="1465834"/>
          </a:xfrm>
          <a:prstGeom prst="roundRect">
            <a:avLst>
              <a:gd name="adj" fmla="val 623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1" name="Text 49"/>
          <p:cNvSpPr txBox="1"/>
          <p:nvPr/>
        </p:nvSpPr>
        <p:spPr>
          <a:xfrm>
            <a:off x="4315968" y="446659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4690872" y="4466590"/>
            <a:ext cx="56354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14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867187" y="448487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4" name="Text 52"/>
          <p:cNvSpPr txBox="1"/>
          <p:nvPr/>
        </p:nvSpPr>
        <p:spPr>
          <a:xfrm>
            <a:off x="10867187" y="448487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4315968" y="4740910"/>
            <a:ext cx="7107631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 dejamos en el mini perfil?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4315968" y="4966208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Último correo sobre el perfil completo. Tu mini perfil sigue en tu cuenta y cada mes te mandamos una idea práctica sobre una de las seis habilidades.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315968" y="5456936"/>
            <a:ext cx="1249985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8" name="Text 56"/>
          <p:cNvSpPr txBox="1"/>
          <p:nvPr/>
        </p:nvSpPr>
        <p:spPr>
          <a:xfrm>
            <a:off x="4315968" y="5456936"/>
            <a:ext cx="1249985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Obtenerlo ahora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639105" y="5456936"/>
            <a:ext cx="2397191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60" name="Text 58"/>
          <p:cNvSpPr txBox="1"/>
          <p:nvPr/>
        </p:nvSpPr>
        <p:spPr>
          <a:xfrm>
            <a:off x="5639105" y="5456936"/>
            <a:ext cx="2397191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quiero el contenido mensual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687629" cy="25603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 w="9525">
            <a:solidFill>
              <a:srgbClr val="E3F1E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6876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 y Flujo C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920240"/>
            <a:ext cx="3200400" cy="61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 entra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Pagó y no ha terminado las 100 preguntas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665857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y su reporte se genera solo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217799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responde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mensual hasta que termine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530352"/>
            <a:ext cx="3645256" cy="1826768"/>
          </a:xfrm>
          <a:prstGeom prst="roundRect">
            <a:avLst>
              <a:gd name="adj" fmla="val 5006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 txBox="1"/>
          <p:nvPr/>
        </p:nvSpPr>
        <p:spPr>
          <a:xfrm>
            <a:off x="4315968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el pago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93915" y="65836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 txBox="1"/>
          <p:nvPr/>
        </p:nvSpPr>
        <p:spPr>
          <a:xfrm>
            <a:off x="7093915" y="65836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914400"/>
            <a:ext cx="3334360" cy="3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Listo, {{nombre}}. Empecemos tu Perfil de Salud Financiera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15968" y="1310132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 confirmado. Son 100 preguntas, unos {{minutos_completo}} minutos. Responde pensando en cómo estás hoy; tu avance se guarda solo.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15968" y="1991360"/>
            <a:ext cx="2329708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 txBox="1"/>
          <p:nvPr/>
        </p:nvSpPr>
        <p:spPr>
          <a:xfrm>
            <a:off x="4315968" y="1991360"/>
            <a:ext cx="232970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mi perfil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33792" y="530352"/>
            <a:ext cx="3645256" cy="1826768"/>
          </a:xfrm>
          <a:prstGeom prst="roundRect">
            <a:avLst>
              <a:gd name="adj" fmla="val 5006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0" name="Text 18"/>
          <p:cNvSpPr txBox="1"/>
          <p:nvPr/>
        </p:nvSpPr>
        <p:spPr>
          <a:xfrm>
            <a:off x="8089240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63560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el pago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675986" y="658368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3" name="Text 21"/>
          <p:cNvSpPr txBox="1"/>
          <p:nvPr/>
        </p:nvSpPr>
        <p:spPr>
          <a:xfrm>
            <a:off x="10675986" y="658368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089240" y="914400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 confirmado, {{nombre}}. Tu Perfil de Salud Financiera ya está activo: son 100 preguntas y puedes pausar cuando quieras.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89240" y="1595628"/>
            <a:ext cx="1115019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6" name="Text 24"/>
          <p:cNvSpPr txBox="1"/>
          <p:nvPr/>
        </p:nvSpPr>
        <p:spPr>
          <a:xfrm>
            <a:off x="8089240" y="1595628"/>
            <a:ext cx="1115019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ahora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277411" y="1595628"/>
            <a:ext cx="1384950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8" name="Text 26"/>
          <p:cNvSpPr txBox="1"/>
          <p:nvPr/>
        </p:nvSpPr>
        <p:spPr>
          <a:xfrm>
            <a:off x="9277411" y="1595628"/>
            <a:ext cx="138495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hago más tarde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2485136"/>
            <a:ext cx="3645256" cy="1656334"/>
          </a:xfrm>
          <a:prstGeom prst="roundRect">
            <a:avLst>
              <a:gd name="adj" fmla="val 552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0" name="Text 28"/>
          <p:cNvSpPr txBox="1"/>
          <p:nvPr/>
        </p:nvSpPr>
        <p:spPr>
          <a:xfrm>
            <a:off x="4315968" y="2594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90288" y="2594864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horas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93915" y="2613152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3" name="Text 31"/>
          <p:cNvSpPr txBox="1"/>
          <p:nvPr/>
        </p:nvSpPr>
        <p:spPr>
          <a:xfrm>
            <a:off x="7093915" y="2613152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315968" y="2869184"/>
            <a:ext cx="3334360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gráfica se genera en cuanto termines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315968" y="3094482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poner la última respuesta, tu gráfica y tu reporte aparecen solos en tu cuenta. Si lo partes en dos ratos de 10 minutos, lo terminas hoy.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15968" y="3775710"/>
            <a:ext cx="845088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7" name="Text 35"/>
          <p:cNvSpPr txBox="1"/>
          <p:nvPr/>
        </p:nvSpPr>
        <p:spPr>
          <a:xfrm>
            <a:off x="4315968" y="3775710"/>
            <a:ext cx="84508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33792" y="2485136"/>
            <a:ext cx="3645256" cy="1656334"/>
          </a:xfrm>
          <a:prstGeom prst="roundRect">
            <a:avLst>
              <a:gd name="adj" fmla="val 552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9" name="Text 37"/>
          <p:cNvSpPr txBox="1"/>
          <p:nvPr/>
        </p:nvSpPr>
        <p:spPr>
          <a:xfrm>
            <a:off x="8089240" y="2594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363560" y="2594864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horas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675986" y="2613152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2" name="Text 40"/>
          <p:cNvSpPr txBox="1"/>
          <p:nvPr/>
        </p:nvSpPr>
        <p:spPr>
          <a:xfrm>
            <a:off x="10675986" y="2613152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089240" y="2869184"/>
            <a:ext cx="3334360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perfil está a {{preguntas_restantes}} preguntas de estar listo. ¿Seguimos?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89240" y="3359912"/>
            <a:ext cx="845088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5" name="Text 43"/>
          <p:cNvSpPr txBox="1"/>
          <p:nvPr/>
        </p:nvSpPr>
        <p:spPr>
          <a:xfrm>
            <a:off x="8089240" y="3359912"/>
            <a:ext cx="84508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007480" y="3359912"/>
            <a:ext cx="1182502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7" name="Text 45"/>
          <p:cNvSpPr txBox="1"/>
          <p:nvPr/>
        </p:nvSpPr>
        <p:spPr>
          <a:xfrm>
            <a:off x="9007480" y="3359912"/>
            <a:ext cx="1182502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ayuda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60520" y="4269486"/>
            <a:ext cx="3645256" cy="1449324"/>
          </a:xfrm>
          <a:prstGeom prst="roundRect">
            <a:avLst>
              <a:gd name="adj" fmla="val 630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9" name="Text 47"/>
          <p:cNvSpPr txBox="1"/>
          <p:nvPr/>
        </p:nvSpPr>
        <p:spPr>
          <a:xfrm>
            <a:off x="4315968" y="437921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590288" y="4379214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02714" y="4397502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2" name="Text 50"/>
          <p:cNvSpPr txBox="1"/>
          <p:nvPr/>
        </p:nvSpPr>
        <p:spPr>
          <a:xfrm>
            <a:off x="6902714" y="4397502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4315968" y="4653534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de un minuto: responde con lo que haces hoy, no con lo que sabes que deberías. Enlace directo a donde te quedaste.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315968" y="5334762"/>
            <a:ext cx="1654881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5" name="Text 53"/>
          <p:cNvSpPr txBox="1"/>
          <p:nvPr/>
        </p:nvSpPr>
        <p:spPr>
          <a:xfrm>
            <a:off x="4315968" y="5334762"/>
            <a:ext cx="1654881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video y continuar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933792" y="4269486"/>
            <a:ext cx="3645256" cy="1449324"/>
          </a:xfrm>
          <a:prstGeom prst="roundRect">
            <a:avLst>
              <a:gd name="adj" fmla="val 630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7" name="Text 55"/>
          <p:cNvSpPr txBox="1"/>
          <p:nvPr/>
        </p:nvSpPr>
        <p:spPr>
          <a:xfrm>
            <a:off x="8089240" y="437921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8363560" y="4379214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0867187" y="4397502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60" name="Text 58"/>
          <p:cNvSpPr txBox="1"/>
          <p:nvPr/>
        </p:nvSpPr>
        <p:spPr>
          <a:xfrm>
            <a:off x="10867187" y="4397502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8089240" y="4653534"/>
            <a:ext cx="3334360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perfil sigue esperándote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8089240" y="4878832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otro lado están tu gráfica, tu reporte, tu Cuaderno de Trabajo y la audio-lección de Alan C. Walter. Tu acceso sigue activo.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Recuperación, 1 de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D: perfil listo, no agenda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304288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Recibió su gráfica y su reporte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856230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su Revisión Privada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408172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responde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mensual y reevaluación a 90 días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530352"/>
            <a:ext cx="7418527" cy="1465834"/>
          </a:xfrm>
          <a:prstGeom prst="roundRect">
            <a:avLst>
              <a:gd name="adj" fmla="val 623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 txBox="1"/>
          <p:nvPr/>
        </p:nvSpPr>
        <p:spPr>
          <a:xfrm>
            <a:off x="4315968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64008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867187" y="65836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 txBox="1"/>
          <p:nvPr/>
        </p:nvSpPr>
        <p:spPr>
          <a:xfrm>
            <a:off x="10867187" y="65836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914400"/>
            <a:ext cx="7107631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{{nombre}}, tu Perfil de Salud Financiera está listo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15968" y="1139698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Gráfica, reporte, cuaderno y audio-lección. Al terminar el cuaderno tendrás tu plan de 90 días. La Revisión Privada con un coach: {{duracion_sesion}} minutos, {{precio_sesion}}.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15968" y="1630426"/>
            <a:ext cx="1182502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 txBox="1"/>
          <p:nvPr/>
        </p:nvSpPr>
        <p:spPr>
          <a:xfrm>
            <a:off x="4315968" y="1630426"/>
            <a:ext cx="1182502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mi perfil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1622" y="1630426"/>
            <a:ext cx="1384950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0" name="Text 18"/>
          <p:cNvSpPr txBox="1"/>
          <p:nvPr/>
        </p:nvSpPr>
        <p:spPr>
          <a:xfrm>
            <a:off x="5571622" y="1630426"/>
            <a:ext cx="138495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Revisión Privada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60520" y="2124202"/>
            <a:ext cx="7418527" cy="1258824"/>
          </a:xfrm>
          <a:prstGeom prst="roundRect">
            <a:avLst>
              <a:gd name="adj" fmla="val 7264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2" name="Text 20"/>
          <p:cNvSpPr txBox="1"/>
          <p:nvPr/>
        </p:nvSpPr>
        <p:spPr>
          <a:xfrm>
            <a:off x="4315968" y="223393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223393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675986" y="2252218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5" name="Text 23"/>
          <p:cNvSpPr txBox="1"/>
          <p:nvPr/>
        </p:nvSpPr>
        <p:spPr>
          <a:xfrm>
            <a:off x="10675986" y="2252218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315968" y="2508250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{{nombre}}, tu Perfil de Salud Financiera ya está en tu cuenta: gráfica, reporte y cuaderno. Si quieres leerlo con un coach, la Revisión Privada cuesta {{precio_sesion}}.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15968" y="2998978"/>
            <a:ext cx="1182502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8" name="Text 26"/>
          <p:cNvSpPr txBox="1"/>
          <p:nvPr/>
        </p:nvSpPr>
        <p:spPr>
          <a:xfrm>
            <a:off x="4315968" y="2998978"/>
            <a:ext cx="1182502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mi perfil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71622" y="2998978"/>
            <a:ext cx="1182502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0" name="Text 28"/>
          <p:cNvSpPr txBox="1"/>
          <p:nvPr/>
        </p:nvSpPr>
        <p:spPr>
          <a:xfrm>
            <a:off x="5571622" y="2998978"/>
            <a:ext cx="1182502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sesión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60520" y="3511042"/>
            <a:ext cx="7418527" cy="1118362"/>
          </a:xfrm>
          <a:prstGeom prst="roundRect">
            <a:avLst>
              <a:gd name="adj" fmla="val 8176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2" name="Text 30"/>
          <p:cNvSpPr txBox="1"/>
          <p:nvPr/>
        </p:nvSpPr>
        <p:spPr>
          <a:xfrm>
            <a:off x="4315968" y="362077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90288" y="362077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867187" y="363905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5" name="Text 33"/>
          <p:cNvSpPr txBox="1"/>
          <p:nvPr/>
        </p:nvSpPr>
        <p:spPr>
          <a:xfrm>
            <a:off x="10867187" y="363905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315968" y="3895090"/>
            <a:ext cx="7107631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tu gráfica (y hasta dónde llega leerla solo)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315968" y="4120388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de 3 minutos: qué significan las zonas y por qué crear riqueza es el promedio de las otras cinco. Leerla dice qué pasa; decidir qué hacer es la parte que casi nadie resuelve solo.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60520" y="4757420"/>
            <a:ext cx="7418527" cy="1118362"/>
          </a:xfrm>
          <a:prstGeom prst="roundRect">
            <a:avLst>
              <a:gd name="adj" fmla="val 8176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9" name="Text 37"/>
          <p:cNvSpPr txBox="1"/>
          <p:nvPr/>
        </p:nvSpPr>
        <p:spPr>
          <a:xfrm>
            <a:off x="4315968" y="48671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90288" y="4867148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4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867187" y="4885436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2" name="Text 40"/>
          <p:cNvSpPr txBox="1"/>
          <p:nvPr/>
        </p:nvSpPr>
        <p:spPr>
          <a:xfrm>
            <a:off x="10867187" y="4885436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4315968" y="5141468"/>
            <a:ext cx="7107631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gráfica al plan: el caso de {{caso_nombre}}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315968" y="5366766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Tenía gráfica, reporte y plan, y aun así no avanzaba. En su Revisión Privada apareció {{caso_hallazgo_sesion}}. Tener el mapa no es saber recorrerlo.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Recuperación, 2 de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D: perfil listo, no agenda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304288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cupos de D5 salen del calendario real.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856230"/>
            <a:ext cx="3200400" cy="81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"Prefiero trabajarlo solo" saca al lead del flujo y programa la reevaluación a 90 días.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530352"/>
            <a:ext cx="3645256" cy="1826768"/>
          </a:xfrm>
          <a:prstGeom prst="roundRect">
            <a:avLst>
              <a:gd name="adj" fmla="val 5006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 txBox="1"/>
          <p:nvPr/>
        </p:nvSpPr>
        <p:spPr>
          <a:xfrm>
            <a:off x="4315968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7 · condicional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093915" y="65836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 txBox="1"/>
          <p:nvPr/>
        </p:nvSpPr>
        <p:spPr>
          <a:xfrm>
            <a:off x="7093915" y="65836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914400"/>
            <a:ext cx="3334360" cy="3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{{cupos_semana}} espacios esta semana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1310132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{{duracion_sesion}} minutos por videollamada, {{precio_sesion}}. Llegas con tu gráfica y tu plan, y sales con tres decisiones.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1991360"/>
            <a:ext cx="1384950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7" name="Text 15"/>
          <p:cNvSpPr txBox="1"/>
          <p:nvPr/>
        </p:nvSpPr>
        <p:spPr>
          <a:xfrm>
            <a:off x="4315968" y="1991360"/>
            <a:ext cx="138495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horarios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33792" y="530352"/>
            <a:ext cx="3645256" cy="1826768"/>
          </a:xfrm>
          <a:prstGeom prst="roundRect">
            <a:avLst>
              <a:gd name="adj" fmla="val 5006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9" name="Text 17"/>
          <p:cNvSpPr txBox="1"/>
          <p:nvPr/>
        </p:nvSpPr>
        <p:spPr>
          <a:xfrm>
            <a:off x="8089240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63560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675986" y="658368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2" name="Text 20"/>
          <p:cNvSpPr txBox="1"/>
          <p:nvPr/>
        </p:nvSpPr>
        <p:spPr>
          <a:xfrm>
            <a:off x="10675986" y="658368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089240" y="914400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te gustaría hacer con tu Perfil de Salud Financiera? Cada botón lleva a una respuesta escrita.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89240" y="1595628"/>
            <a:ext cx="1182502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5" name="Text 23"/>
          <p:cNvSpPr txBox="1"/>
          <p:nvPr/>
        </p:nvSpPr>
        <p:spPr>
          <a:xfrm>
            <a:off x="8089240" y="1595628"/>
            <a:ext cx="1182502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mi revisión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344894" y="1595628"/>
            <a:ext cx="1452433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7" name="Text 25"/>
          <p:cNvSpPr txBox="1"/>
          <p:nvPr/>
        </p:nvSpPr>
        <p:spPr>
          <a:xfrm>
            <a:off x="9344894" y="1595628"/>
            <a:ext cx="1452433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Dudas de la sesión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89240" y="1869948"/>
            <a:ext cx="1249985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9" name="Text 27"/>
          <p:cNvSpPr txBox="1"/>
          <p:nvPr/>
        </p:nvSpPr>
        <p:spPr>
          <a:xfrm>
            <a:off x="8089240" y="1869948"/>
            <a:ext cx="1249985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Trabajarlo solo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60520" y="2485136"/>
            <a:ext cx="3645256" cy="1669796"/>
          </a:xfrm>
          <a:prstGeom prst="roundRect">
            <a:avLst>
              <a:gd name="adj" fmla="val 5476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1" name="Text 29"/>
          <p:cNvSpPr txBox="1"/>
          <p:nvPr/>
        </p:nvSpPr>
        <p:spPr>
          <a:xfrm>
            <a:off x="4315968" y="2594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90288" y="2594864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14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93915" y="2613152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4" name="Text 32"/>
          <p:cNvSpPr txBox="1"/>
          <p:nvPr/>
        </p:nvSpPr>
        <p:spPr>
          <a:xfrm>
            <a:off x="7093915" y="2613152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315968" y="2869184"/>
            <a:ext cx="3334360" cy="3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dudas que más frenan la Revisión Privada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315968" y="3264916"/>
            <a:ext cx="333436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"Ya pagué el perfil": el perfil es la medición; la sesión es el tiempo de un coach leyéndola contigo. "No tengo tiempo": dura {{duracion_sesion}} minutos. "Ya sé qué hacer": casi siempre no es lo primero.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33792" y="2485136"/>
            <a:ext cx="3645256" cy="1669796"/>
          </a:xfrm>
          <a:prstGeom prst="roundRect">
            <a:avLst>
              <a:gd name="adj" fmla="val 5476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8" name="Text 36"/>
          <p:cNvSpPr txBox="1"/>
          <p:nvPr/>
        </p:nvSpPr>
        <p:spPr>
          <a:xfrm>
            <a:off x="8089240" y="2594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363560" y="2594864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867187" y="2613152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1" name="Text 39"/>
          <p:cNvSpPr txBox="1"/>
          <p:nvPr/>
        </p:nvSpPr>
        <p:spPr>
          <a:xfrm>
            <a:off x="10867187" y="2613152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8089240" y="2869184"/>
            <a:ext cx="3334360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perfil no caduca, pero tu momento sí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089240" y="3094482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Último correo sobre la Revisión Privada. En 90 días te invitamos a tu reevaluación; el calendario sigue abierto.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89240" y="3775710"/>
            <a:ext cx="1384950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5" name="Text 43"/>
          <p:cNvSpPr txBox="1"/>
          <p:nvPr/>
        </p:nvSpPr>
        <p:spPr>
          <a:xfrm>
            <a:off x="8089240" y="3775710"/>
            <a:ext cx="138495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 mi Revisión Privada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687629" cy="256032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6876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Confirmación y recordatorios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920240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su Revisión Privada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472182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 o no se presenta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530352"/>
            <a:ext cx="3645256" cy="1826768"/>
          </a:xfrm>
          <a:prstGeom prst="roundRect">
            <a:avLst>
              <a:gd name="adj" fmla="val 5006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 txBox="1"/>
          <p:nvPr/>
        </p:nvSpPr>
        <p:spPr>
          <a:xfrm>
            <a:off x="4315968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agendar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093915" y="65836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 txBox="1"/>
          <p:nvPr/>
        </p:nvSpPr>
        <p:spPr>
          <a:xfrm>
            <a:off x="7093915" y="65836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914400"/>
            <a:ext cx="3334360" cy="3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confirmado: {{fecha_sesion}}, {{hora_sesion}}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1310132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tu gráfica y tu plan a la mano y trae una pregunta sobre {{habilidad_critica}}. Puedes reagendar sin costo hasta {{horas_reagendar}} horas antes.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1991360"/>
            <a:ext cx="1789847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7" name="Text 15"/>
          <p:cNvSpPr txBox="1"/>
          <p:nvPr/>
        </p:nvSpPr>
        <p:spPr>
          <a:xfrm>
            <a:off x="4315968" y="1991360"/>
            <a:ext cx="1789847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a mi calendario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78967" y="1991360"/>
            <a:ext cx="845088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9" name="Text 17"/>
          <p:cNvSpPr txBox="1"/>
          <p:nvPr/>
        </p:nvSpPr>
        <p:spPr>
          <a:xfrm>
            <a:off x="6178967" y="1991360"/>
            <a:ext cx="84508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Reagendar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33792" y="530352"/>
            <a:ext cx="3645256" cy="1826768"/>
          </a:xfrm>
          <a:prstGeom prst="roundRect">
            <a:avLst>
              <a:gd name="adj" fmla="val 5006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1" name="Text 19"/>
          <p:cNvSpPr txBox="1"/>
          <p:nvPr/>
        </p:nvSpPr>
        <p:spPr>
          <a:xfrm>
            <a:off x="8089240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63560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agendar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675986" y="658368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4" name="Text 22"/>
          <p:cNvSpPr txBox="1"/>
          <p:nvPr/>
        </p:nvSpPr>
        <p:spPr>
          <a:xfrm>
            <a:off x="10675986" y="658368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089240" y="914400"/>
            <a:ext cx="333436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Listo, {{nombre}}. Tu pago quedó registrado y tu Revisión Privada con {{coach}} es el {{fecha_sesion}} a las {{</a:t>
            </a:r>
            <a:r>
              <a:rPr lang="en-US" sz="1200" dirty="0" err="1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hora_sesion</a:t>
            </a: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}}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60520" y="2485136"/>
            <a:ext cx="3645256" cy="1465834"/>
          </a:xfrm>
          <a:prstGeom prst="roundRect">
            <a:avLst>
              <a:gd name="adj" fmla="val 623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7" name="Text 25"/>
          <p:cNvSpPr txBox="1"/>
          <p:nvPr/>
        </p:nvSpPr>
        <p:spPr>
          <a:xfrm>
            <a:off x="4315968" y="2594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2594864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horas antes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93915" y="2613152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0" name="Text 28"/>
          <p:cNvSpPr txBox="1"/>
          <p:nvPr/>
        </p:nvSpPr>
        <p:spPr>
          <a:xfrm>
            <a:off x="7093915" y="2613152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315968" y="2869184"/>
            <a:ext cx="3334360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 conoces a </a:t>
            </a:r>
            <a:r>
              <a:rPr lang="en-US" sz="11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{{coach}}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315968" y="3094482"/>
            <a:ext cx="3334360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corto y bio de {{coach}}, y recordatorio de llevar gráfica y plan.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15968" y="3585210"/>
            <a:ext cx="845088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4" name="Text 32"/>
          <p:cNvSpPr txBox="1"/>
          <p:nvPr/>
        </p:nvSpPr>
        <p:spPr>
          <a:xfrm>
            <a:off x="4315968" y="3585210"/>
            <a:ext cx="84508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video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33792" y="2485136"/>
            <a:ext cx="3645256" cy="1465834"/>
          </a:xfrm>
          <a:prstGeom prst="roundRect">
            <a:avLst>
              <a:gd name="adj" fmla="val 623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6" name="Text 34"/>
          <p:cNvSpPr txBox="1"/>
          <p:nvPr/>
        </p:nvSpPr>
        <p:spPr>
          <a:xfrm>
            <a:off x="8089240" y="2594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363560" y="2594864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antes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675986" y="2613152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9" name="Text 37"/>
          <p:cNvSpPr txBox="1"/>
          <p:nvPr/>
        </p:nvSpPr>
        <p:spPr>
          <a:xfrm>
            <a:off x="10675986" y="2613152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8089240" y="2869184"/>
            <a:ext cx="3334360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Revisión Privada con {{coach}} es hoy a las {{hora_sesion}}. ¿Confirmas?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89240" y="3359912"/>
            <a:ext cx="912571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2" name="Text 40"/>
          <p:cNvSpPr txBox="1"/>
          <p:nvPr/>
        </p:nvSpPr>
        <p:spPr>
          <a:xfrm>
            <a:off x="8089240" y="3359912"/>
            <a:ext cx="912571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estaré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074963" y="3359912"/>
            <a:ext cx="1452433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4" name="Text 42"/>
          <p:cNvSpPr txBox="1"/>
          <p:nvPr/>
        </p:nvSpPr>
        <p:spPr>
          <a:xfrm>
            <a:off x="9074963" y="3359912"/>
            <a:ext cx="1452433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reagendar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60520" y="4078986"/>
            <a:ext cx="7418527" cy="720852"/>
          </a:xfrm>
          <a:prstGeom prst="roundRect">
            <a:avLst>
              <a:gd name="adj" fmla="val 12685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6" name="Text 44"/>
          <p:cNvSpPr txBox="1"/>
          <p:nvPr/>
        </p:nvSpPr>
        <p:spPr>
          <a:xfrm>
            <a:off x="4315968" y="418871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590288" y="4188714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antes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675986" y="4207002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9" name="Text 47"/>
          <p:cNvSpPr txBox="1"/>
          <p:nvPr/>
        </p:nvSpPr>
        <p:spPr>
          <a:xfrm>
            <a:off x="10675986" y="4207002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4315968" y="4463034"/>
            <a:ext cx="7107631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{{nombre}}</a:t>
            </a: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tu sesión empieza en 10 minutos. Entra desde aquí: </a:t>
            </a:r>
            <a:r>
              <a:rPr lang="en-US" sz="120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{{link_sesion}}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762610" cy="256032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762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automático al coach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920240"/>
            <a:ext cx="3200400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la sesión es el primer contacto humano, el coach llega sabiendo todo lo que la automatización ya sabe.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60520" y="530352"/>
            <a:ext cx="7418527" cy="1814767"/>
          </a:xfrm>
          <a:prstGeom prst="roundRect">
            <a:avLst>
              <a:gd name="adj" fmla="val 503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 txBox="1"/>
          <p:nvPr/>
        </p:nvSpPr>
        <p:spPr>
          <a:xfrm>
            <a:off x="4315968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64008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agendar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548518" y="658368"/>
            <a:ext cx="875081" cy="220370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 txBox="1"/>
          <p:nvPr/>
        </p:nvSpPr>
        <p:spPr>
          <a:xfrm>
            <a:off x="10548518" y="658368"/>
            <a:ext cx="875081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coach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914400"/>
            <a:ext cx="7107631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Revisión Privada: {{nombre}}, {{fecha_sesion}} {{hora_sesion}}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1139698"/>
            <a:ext cx="7107631" cy="20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y habilidad más baja: {{perfil}}, {{habilidad_critica}}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1377124"/>
            <a:ext cx="7107631" cy="20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Puntajes: Tener, Investigar, Enfocarse, Invertir, Producir, Crear riqueza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315968" y="1614551"/>
            <a:ext cx="7107631" cy="20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Recorrido: fecha del mini perfil, días hasta la compra, días hasta agendar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315968" y="1851977"/>
            <a:ext cx="7107631" cy="20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Señales: </a:t>
            </a: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abiertos, botones elegidos, lead scoring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315968" y="2089404"/>
            <a:ext cx="7107631" cy="20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Entregables: enlace al reporte y al plan de 90 días del cuaderno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1137514" cy="256032"/>
          </a:xfrm>
          <a:prstGeom prst="roundRect">
            <a:avLst>
              <a:gd name="adj" fmla="val 50000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11375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E: no se presentó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920240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asistió a su Revisión Privada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472182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Reagenda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024124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responde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 a D6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530352"/>
            <a:ext cx="7418527" cy="1258824"/>
          </a:xfrm>
          <a:prstGeom prst="roundRect">
            <a:avLst>
              <a:gd name="adj" fmla="val 7264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 txBox="1"/>
          <p:nvPr/>
        </p:nvSpPr>
        <p:spPr>
          <a:xfrm>
            <a:off x="4315968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64008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después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675986" y="658368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 txBox="1"/>
          <p:nvPr/>
        </p:nvSpPr>
        <p:spPr>
          <a:xfrm>
            <a:off x="10675986" y="658368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914400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Hola {{nombre}}, tu Revisión Privada con {{coach}} era a las {{hora_sesion}}. Tu pago sigue aplicando: puedes elegir otro horario.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1405128"/>
            <a:ext cx="845088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7" name="Text 15"/>
          <p:cNvSpPr txBox="1"/>
          <p:nvPr/>
        </p:nvSpPr>
        <p:spPr>
          <a:xfrm>
            <a:off x="4315968" y="1405128"/>
            <a:ext cx="84508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Reagendar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34208" y="1405128"/>
            <a:ext cx="1384950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9" name="Text 17"/>
          <p:cNvSpPr txBox="1"/>
          <p:nvPr/>
        </p:nvSpPr>
        <p:spPr>
          <a:xfrm>
            <a:off x="5234208" y="1405128"/>
            <a:ext cx="138495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me interesa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60520" y="1917192"/>
            <a:ext cx="7418527" cy="1465834"/>
          </a:xfrm>
          <a:prstGeom prst="roundRect">
            <a:avLst>
              <a:gd name="adj" fmla="val 623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1" name="Text 19"/>
          <p:cNvSpPr txBox="1"/>
          <p:nvPr/>
        </p:nvSpPr>
        <p:spPr>
          <a:xfrm>
            <a:off x="4315968" y="20269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202692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horas después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867187" y="204520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4" name="Text 22"/>
          <p:cNvSpPr txBox="1"/>
          <p:nvPr/>
        </p:nvSpPr>
        <p:spPr>
          <a:xfrm>
            <a:off x="10867187" y="204520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315968" y="2301240"/>
            <a:ext cx="7107631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Revisión Privada sigue pendiente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315968" y="2526538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Ayer no pudimos coincidir. Tu sesión ya está pagada y tu lugar con un coach sigue disponible. Elige el horario que mejor te acomode esta semana.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15968" y="3017266"/>
            <a:ext cx="1519916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8" name="Text 26"/>
          <p:cNvSpPr txBox="1"/>
          <p:nvPr/>
        </p:nvSpPr>
        <p:spPr>
          <a:xfrm>
            <a:off x="4315968" y="3017266"/>
            <a:ext cx="1519916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Reagendar mi revisión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3511042"/>
            <a:ext cx="7418527" cy="1258824"/>
          </a:xfrm>
          <a:prstGeom prst="roundRect">
            <a:avLst>
              <a:gd name="adj" fmla="val 7264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0" name="Text 28"/>
          <p:cNvSpPr txBox="1"/>
          <p:nvPr/>
        </p:nvSpPr>
        <p:spPr>
          <a:xfrm>
            <a:off x="4315968" y="362077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90288" y="362077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horas después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675986" y="3639058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3" name="Text 31"/>
          <p:cNvSpPr txBox="1"/>
          <p:nvPr/>
        </p:nvSpPr>
        <p:spPr>
          <a:xfrm>
            <a:off x="10675986" y="3639058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315968" y="3895090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{{nombre}}, último recordatorio sobre tu Revisión Privada. Tu pago no se pierde: cuando quieras retomarla, elige horario desde tu cuenta.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15968" y="4385818"/>
            <a:ext cx="845088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6" name="Text 34"/>
          <p:cNvSpPr txBox="1"/>
          <p:nvPr/>
        </p:nvSpPr>
        <p:spPr>
          <a:xfrm>
            <a:off x="4315968" y="4385818"/>
            <a:ext cx="84508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Reagendar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34208" y="4385818"/>
            <a:ext cx="1047537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8" name="Text 36"/>
          <p:cNvSpPr txBox="1"/>
          <p:nvPr/>
        </p:nvSpPr>
        <p:spPr>
          <a:xfrm>
            <a:off x="5234208" y="4385818"/>
            <a:ext cx="1047537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adelante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Recuperación, 1 de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F: asistió y no compró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920240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coach marca "sin compra"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472182"/>
            <a:ext cx="3200400" cy="42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programa o producto de entrada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024124"/>
            <a:ext cx="3200400" cy="61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coach registra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en una línea, propuesta enviada y objeción principal.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530352"/>
            <a:ext cx="3645256" cy="1846834"/>
          </a:xfrm>
          <a:prstGeom prst="roundRect">
            <a:avLst>
              <a:gd name="adj" fmla="val 495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 txBox="1"/>
          <p:nvPr/>
        </p:nvSpPr>
        <p:spPr>
          <a:xfrm>
            <a:off x="4315968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día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93915" y="65836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 txBox="1"/>
          <p:nvPr/>
        </p:nvSpPr>
        <p:spPr>
          <a:xfrm>
            <a:off x="7093915" y="65836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914400"/>
            <a:ext cx="3334360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vimos hoy en tu Revisión Privada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15968" y="1139698"/>
            <a:ext cx="333436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Resumen: {{resumen_sesion}}. La propuesta para trabajar {{habilidad_critica}} es {{propuesta_programa}}. Firma el coach, que aprueba el texto.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15968" y="2011426"/>
            <a:ext cx="1317468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 txBox="1"/>
          <p:nvPr/>
        </p:nvSpPr>
        <p:spPr>
          <a:xfrm>
            <a:off x="4315968" y="2011426"/>
            <a:ext cx="131746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mi propuesta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33792" y="530352"/>
            <a:ext cx="3645256" cy="1846834"/>
          </a:xfrm>
          <a:prstGeom prst="roundRect">
            <a:avLst>
              <a:gd name="adj" fmla="val 495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0" name="Text 18"/>
          <p:cNvSpPr txBox="1"/>
          <p:nvPr/>
        </p:nvSpPr>
        <p:spPr>
          <a:xfrm>
            <a:off x="8089240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63560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675986" y="658368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3" name="Text 21"/>
          <p:cNvSpPr txBox="1"/>
          <p:nvPr/>
        </p:nvSpPr>
        <p:spPr>
          <a:xfrm>
            <a:off x="10675986" y="658368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089240" y="914400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necesitas para decidir sobre tu propuesta? Si no responde, se usa la objeción que registró el coach.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89240" y="1595628"/>
            <a:ext cx="642640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6" name="Text 24"/>
          <p:cNvSpPr txBox="1"/>
          <p:nvPr/>
        </p:nvSpPr>
        <p:spPr>
          <a:xfrm>
            <a:off x="8089240" y="1595628"/>
            <a:ext cx="64264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05032" y="1595628"/>
            <a:ext cx="1384950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8" name="Text 26"/>
          <p:cNvSpPr txBox="1"/>
          <p:nvPr/>
        </p:nvSpPr>
        <p:spPr>
          <a:xfrm>
            <a:off x="8805032" y="1595628"/>
            <a:ext cx="138495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inversión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263134" y="1595628"/>
            <a:ext cx="1115019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0" name="Text 28"/>
          <p:cNvSpPr txBox="1"/>
          <p:nvPr/>
        </p:nvSpPr>
        <p:spPr>
          <a:xfrm>
            <a:off x="10263134" y="1595628"/>
            <a:ext cx="1115019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mi cuenta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89240" y="1869948"/>
            <a:ext cx="980054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2" name="Text 30"/>
          <p:cNvSpPr txBox="1"/>
          <p:nvPr/>
        </p:nvSpPr>
        <p:spPr>
          <a:xfrm>
            <a:off x="8089240" y="1869948"/>
            <a:ext cx="980054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Consultarlo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60520" y="2505202"/>
            <a:ext cx="7418527" cy="1571181"/>
          </a:xfrm>
          <a:prstGeom prst="roundRect">
            <a:avLst>
              <a:gd name="adj" fmla="val 582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4" name="Text 32"/>
          <p:cNvSpPr txBox="1"/>
          <p:nvPr/>
        </p:nvSpPr>
        <p:spPr>
          <a:xfrm>
            <a:off x="4315968" y="261493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90288" y="261493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elegir botón, o día 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867187" y="263321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7" name="Text 35"/>
          <p:cNvSpPr txBox="1"/>
          <p:nvPr/>
        </p:nvSpPr>
        <p:spPr>
          <a:xfrm>
            <a:off x="10867187" y="263321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315968" y="2889250"/>
            <a:ext cx="7107631" cy="20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</a:t>
            </a: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pide </a:t>
            </a:r>
            <a:r>
              <a:rPr lang="en-US" sz="11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{{tiempo_semanal}}</a:t>
            </a: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 semana y puedes elegir la fecha de inicio.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315968" y="3126677"/>
            <a:ext cx="7107631" cy="20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Inversión: {{precio_programa}}, opciones de pago y crédito de tu perfil y tu Revisión Privada si aplica.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315968" y="3364103"/>
            <a:ext cx="7107631" cy="38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mi cuenta: </a:t>
            </a: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Respetamos la decisión. Revisa tu avance a los 30 días; la propuesta sigue vigente hasta </a:t>
            </a:r>
            <a:r>
              <a:rPr lang="en-US" sz="11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{{vigencia_propuesta}}</a:t>
            </a: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4315968" y="3784092"/>
            <a:ext cx="7107631" cy="20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Consultarlo: </a:t>
            </a:r>
            <a:r>
              <a:rPr lang="en-US" sz="11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una página del programa para compartir con quien necesites.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Recuperación, 2 de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F: asistió y no compró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920240"/>
            <a:ext cx="3200400" cy="61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responde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 mensual con la oferta del producto de entrada.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60520" y="530352"/>
            <a:ext cx="7418527" cy="1465834"/>
          </a:xfrm>
          <a:prstGeom prst="roundRect">
            <a:avLst>
              <a:gd name="adj" fmla="val 623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 txBox="1"/>
          <p:nvPr/>
        </p:nvSpPr>
        <p:spPr>
          <a:xfrm>
            <a:off x="4315968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64008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867187" y="65836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 txBox="1"/>
          <p:nvPr/>
        </p:nvSpPr>
        <p:spPr>
          <a:xfrm>
            <a:off x="10867187" y="65836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914400"/>
            <a:ext cx="7107631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{{testimonio_nombre}}</a:t>
            </a: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estaba en el mismo punto que tú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1139698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También dudó antes de empezar. A los 90 días, su reevaluación mostró </a:t>
            </a:r>
            <a:r>
              <a:rPr lang="en-US" sz="120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{{testimonio_resultado}}</a:t>
            </a: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15968" y="1630426"/>
            <a:ext cx="1317468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6" name="Text 14"/>
          <p:cNvSpPr txBox="1"/>
          <p:nvPr/>
        </p:nvSpPr>
        <p:spPr>
          <a:xfrm>
            <a:off x="4315968" y="1630426"/>
            <a:ext cx="131746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mi propuesta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60520" y="2124202"/>
            <a:ext cx="7418527" cy="1465834"/>
          </a:xfrm>
          <a:prstGeom prst="roundRect">
            <a:avLst>
              <a:gd name="adj" fmla="val 623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 txBox="1"/>
          <p:nvPr/>
        </p:nvSpPr>
        <p:spPr>
          <a:xfrm>
            <a:off x="4315968" y="223393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223393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867187" y="225221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1" name="Text 19"/>
          <p:cNvSpPr txBox="1"/>
          <p:nvPr/>
        </p:nvSpPr>
        <p:spPr>
          <a:xfrm>
            <a:off x="10867187" y="225221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315968" y="2508250"/>
            <a:ext cx="7107631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propuesta vence el </a:t>
            </a:r>
            <a:r>
              <a:rPr lang="en-US" sz="11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{{vigencia_propuesta}}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315968" y="2733548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condiciones que platicaste con </a:t>
            </a:r>
            <a:r>
              <a:rPr lang="en-US" sz="120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{{coach}}</a:t>
            </a: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son válidas hasta esa fecha. Después puedes solicitarla de nuevo, pero pueden cambiar.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15968" y="3224276"/>
            <a:ext cx="1519916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5" name="Text 23"/>
          <p:cNvSpPr txBox="1"/>
          <p:nvPr/>
        </p:nvSpPr>
        <p:spPr>
          <a:xfrm>
            <a:off x="4315968" y="3224276"/>
            <a:ext cx="1519916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mi programa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60520" y="3718052"/>
            <a:ext cx="7418527" cy="1465834"/>
          </a:xfrm>
          <a:prstGeom prst="roundRect">
            <a:avLst>
              <a:gd name="adj" fmla="val 623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7" name="Text 25"/>
          <p:cNvSpPr txBox="1"/>
          <p:nvPr/>
        </p:nvSpPr>
        <p:spPr>
          <a:xfrm>
            <a:off x="4315968" y="38277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3827780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867187" y="384606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0" name="Text 28"/>
          <p:cNvSpPr txBox="1"/>
          <p:nvPr/>
        </p:nvSpPr>
        <p:spPr>
          <a:xfrm>
            <a:off x="10867187" y="384606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315968" y="4102100"/>
            <a:ext cx="7107631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forma más ligera de empezar con {{habilidad_critica}}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315968" y="4327398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{{producto_zona}}: un recurso enfocado solo en tu habilidad más baja, a tu ritmo, por {{precio_producto_zona}}.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15968" y="4818126"/>
            <a:ext cx="1519916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4" name="Text 32"/>
          <p:cNvSpPr txBox="1"/>
          <p:nvPr/>
        </p:nvSpPr>
        <p:spPr>
          <a:xfrm>
            <a:off x="4315968" y="4818126"/>
            <a:ext cx="1519916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el producto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09036" y="4818126"/>
            <a:ext cx="1317468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6" name="Text 34"/>
          <p:cNvSpPr txBox="1"/>
          <p:nvPr/>
        </p:nvSpPr>
        <p:spPr>
          <a:xfrm>
            <a:off x="5909036" y="4818126"/>
            <a:ext cx="131746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Prefiero esperar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837590" cy="256032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 w="9525">
            <a:solidFill>
              <a:srgbClr val="E3F1EA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837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Onboarding, reevaluación y referidos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304288"/>
            <a:ext cx="3200400" cy="61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envía a quien compró el perfil completo sin programa.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3049905"/>
            <a:ext cx="3200400" cy="61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 siguiente nivel" lleva a la oferta de ascenso a ACLC.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530352"/>
            <a:ext cx="3645256" cy="1723644"/>
          </a:xfrm>
          <a:prstGeom prst="roundRect">
            <a:avLst>
              <a:gd name="adj" fmla="val 5305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 txBox="1"/>
          <p:nvPr/>
        </p:nvSpPr>
        <p:spPr>
          <a:xfrm>
            <a:off x="4315968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la compra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75247" y="658368"/>
            <a:ext cx="875081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 txBox="1"/>
          <p:nvPr/>
        </p:nvSpPr>
        <p:spPr>
          <a:xfrm>
            <a:off x="6775247" y="658368"/>
            <a:ext cx="875081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WA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914400"/>
            <a:ext cx="3334360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Bienvenido a tu programa, </a:t>
            </a:r>
            <a:r>
              <a:rPr lang="en-US" sz="11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{{nombre}}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1139698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Empiezas el </a:t>
            </a:r>
            <a:r>
              <a:rPr lang="en-US" sz="120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{{fecha_inicio}}</a:t>
            </a: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Tu punto de partida quedó registrado; en 90 días lo comparamos.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1820926"/>
            <a:ext cx="1587398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7" name="Text 15"/>
          <p:cNvSpPr txBox="1"/>
          <p:nvPr/>
        </p:nvSpPr>
        <p:spPr>
          <a:xfrm>
            <a:off x="4315968" y="1820926"/>
            <a:ext cx="158739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a mi programa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33792" y="530352"/>
            <a:ext cx="3645256" cy="1723644"/>
          </a:xfrm>
          <a:prstGeom prst="roundRect">
            <a:avLst>
              <a:gd name="adj" fmla="val 5305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9" name="Text 17"/>
          <p:cNvSpPr txBox="1"/>
          <p:nvPr/>
        </p:nvSpPr>
        <p:spPr>
          <a:xfrm>
            <a:off x="8089240" y="640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63560" y="64008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675986" y="658368"/>
            <a:ext cx="747613" cy="220370"/>
          </a:xfrm>
          <a:prstGeom prst="roundRect">
            <a:avLst>
              <a:gd name="adj" fmla="val 50000"/>
            </a:avLst>
          </a:prstGeom>
          <a:solidFill>
            <a:srgbClr val="E1F2EF"/>
          </a:solidFill>
          <a:ln w="9525">
            <a:solidFill>
              <a:srgbClr val="E1F2E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2" name="Text 20"/>
          <p:cNvSpPr txBox="1"/>
          <p:nvPr/>
        </p:nvSpPr>
        <p:spPr>
          <a:xfrm>
            <a:off x="10675986" y="658368"/>
            <a:ext cx="74761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089240" y="914400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Llevas una semana en tu programa. ¿Cómo va? Las dos últimas opciones crean tarea para el coach.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89240" y="1595628"/>
            <a:ext cx="777606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5" name="Text 23"/>
          <p:cNvSpPr txBox="1"/>
          <p:nvPr/>
        </p:nvSpPr>
        <p:spPr>
          <a:xfrm>
            <a:off x="8089240" y="1595628"/>
            <a:ext cx="777606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bien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939997" y="1595628"/>
            <a:ext cx="1317468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7" name="Text 25"/>
          <p:cNvSpPr txBox="1"/>
          <p:nvPr/>
        </p:nvSpPr>
        <p:spPr>
          <a:xfrm>
            <a:off x="8939997" y="1595628"/>
            <a:ext cx="131746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está costando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89240" y="1869948"/>
            <a:ext cx="1182502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9" name="Text 27"/>
          <p:cNvSpPr txBox="1"/>
          <p:nvPr/>
        </p:nvSpPr>
        <p:spPr>
          <a:xfrm>
            <a:off x="8089240" y="1869948"/>
            <a:ext cx="1182502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una duda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60520" y="2382012"/>
            <a:ext cx="3645256" cy="1826768"/>
          </a:xfrm>
          <a:prstGeom prst="roundRect">
            <a:avLst>
              <a:gd name="adj" fmla="val 5006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1" name="Text 29"/>
          <p:cNvSpPr txBox="1"/>
          <p:nvPr/>
        </p:nvSpPr>
        <p:spPr>
          <a:xfrm>
            <a:off x="4315968" y="24917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90288" y="249174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93915" y="2510028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4" name="Text 32"/>
          <p:cNvSpPr txBox="1"/>
          <p:nvPr/>
        </p:nvSpPr>
        <p:spPr>
          <a:xfrm>
            <a:off x="7093915" y="2510028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315968" y="2766060"/>
            <a:ext cx="3334360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primer mes en {{habilidad_critica}}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315968" y="2991358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cuando la mayoría siente que no avanza, justo antes de que se note. Revisa tu plan y marca lo logrado.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33792" y="2382012"/>
            <a:ext cx="3645256" cy="1826768"/>
          </a:xfrm>
          <a:prstGeom prst="roundRect">
            <a:avLst>
              <a:gd name="adj" fmla="val 5006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38" name="Text 36"/>
          <p:cNvSpPr txBox="1"/>
          <p:nvPr/>
        </p:nvSpPr>
        <p:spPr>
          <a:xfrm>
            <a:off x="8089240" y="24917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363560" y="2491740"/>
            <a:ext cx="196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90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548518" y="2510028"/>
            <a:ext cx="875081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1" name="Text 39"/>
          <p:cNvSpPr txBox="1"/>
          <p:nvPr/>
        </p:nvSpPr>
        <p:spPr>
          <a:xfrm>
            <a:off x="10548518" y="2510028"/>
            <a:ext cx="875081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WA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8089240" y="2766060"/>
            <a:ext cx="3334360" cy="35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pasado 90 días. ¿Cuánto se movieron tus seis habilidades?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089240" y="3161792"/>
            <a:ext cx="3334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habilidad más baja tenía {{puntaje_inicial}}. Mide de nuevo y ve tu comparativo antes y después.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89240" y="3843020"/>
            <a:ext cx="1654881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5" name="Text 43"/>
          <p:cNvSpPr txBox="1"/>
          <p:nvPr/>
        </p:nvSpPr>
        <p:spPr>
          <a:xfrm>
            <a:off x="8089240" y="3843020"/>
            <a:ext cx="1654881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mi reevaluación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60520" y="4336796"/>
            <a:ext cx="7418527" cy="1465834"/>
          </a:xfrm>
          <a:prstGeom prst="roundRect">
            <a:avLst>
              <a:gd name="adj" fmla="val 6238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47" name="Text 45"/>
          <p:cNvSpPr txBox="1"/>
          <p:nvPr/>
        </p:nvSpPr>
        <p:spPr>
          <a:xfrm>
            <a:off x="4315968" y="444652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4590288" y="4446524"/>
            <a:ext cx="5736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Reevaluación con mejora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867187" y="4464812"/>
            <a:ext cx="556412" cy="220370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0" name="Text 48"/>
          <p:cNvSpPr txBox="1"/>
          <p:nvPr/>
        </p:nvSpPr>
        <p:spPr>
          <a:xfrm>
            <a:off x="10867187" y="4464812"/>
            <a:ext cx="556412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4315968" y="4720844"/>
            <a:ext cx="7107631" cy="18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{{habilidad_critica}} subió {{mejora}} puntos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4315968" y="4946142"/>
            <a:ext cx="7107631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conoces a alguien donde tú estabas hace 90 días, compártele tu enlace: recibe </a:t>
            </a:r>
            <a:r>
              <a:rPr lang="en-US" sz="120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{{beneficio_referido}}</a:t>
            </a: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 tú </a:t>
            </a:r>
            <a:r>
              <a:rPr lang="en-US" sz="1200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{{beneficio_referente}}</a:t>
            </a:r>
            <a:r>
              <a:rPr lang="en-US" sz="12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15968" y="5436870"/>
            <a:ext cx="1317468" cy="23225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4" name="Text 52"/>
          <p:cNvSpPr txBox="1"/>
          <p:nvPr/>
        </p:nvSpPr>
        <p:spPr>
          <a:xfrm>
            <a:off x="4315968" y="5436870"/>
            <a:ext cx="1317468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mi enlace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706588" y="5436870"/>
            <a:ext cx="1519916" cy="2322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6" name="Text 54"/>
          <p:cNvSpPr txBox="1"/>
          <p:nvPr/>
        </p:nvSpPr>
        <p:spPr>
          <a:xfrm>
            <a:off x="5706588" y="5436870"/>
            <a:ext cx="1519916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siguiente nivel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912571" cy="256032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9125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Nutrición mensual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920240"/>
            <a:ext cx="3200400" cy="97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quienes salieron de un flujo sin avanzar. Un correo al mes con una idea práctica sobre una de las seis habilidades y una sola invitación según su etapa.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566928"/>
          <a:ext cx="7415784" cy="17322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8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del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Invitación del 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terminó el mini perfil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Mini Perfil Financiero sigue esperándote.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Hizo el mini perfil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Descubre por qué {{habilidad_critica}} está donde está, con tu Perfil de Salud Financiera.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Tiene su perfil, sin revisión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 tu gráfica con un coach: Revisión Privada por {{precio_sesion}}.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Tuvo revisión, sin compra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Conoce {{producto_zona}}.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E9ECF6"/>
          </a:solidFill>
          <a:ln w="9525">
            <a:solidFill>
              <a:srgbClr val="E9ECF6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4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Frase por habilidad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920240"/>
            <a:ext cx="320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inserta como {{frase_habilidad}} en R1 y B1.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566928"/>
          <a:ext cx="7415784" cy="1915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6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Puedes ganar más y seguir sin nada: si no te sientes con derecho a conservarlo, el dinero encuentra la salida solo.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decisiones caras casi nunca se toman por falta de dinero, sino por falta de preguntas antes de firmar.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Enfocarse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atención está repartida en tantos frentes que ninguno alcanza el punto donde empieza a dar resultados.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tiempo, tu energía y tu dinero ya están invertidos en algo. La pregunta es si eso te está devolviendo algo.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Estás ocupado casi todo el día y aun así cuesta trabajo señalar qué produjiste esta semana.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04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riqueza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entrena sola: es el promedio de las otras cinco y te muestra el resultado de todas juntas.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3986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of Life: funnels y copys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64465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12648" y="530352"/>
            <a:ext cx="1437437" cy="256032"/>
          </a:xfrm>
          <a:prstGeom prst="roundRect">
            <a:avLst>
              <a:gd name="adj" fmla="val 50000"/>
            </a:avLst>
          </a:prstGeom>
          <a:solidFill>
            <a:srgbClr val="F5E6EE"/>
          </a:solidFill>
          <a:ln w="9525">
            <a:solidFill>
              <a:srgbClr val="F5E6EE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 txBox="1"/>
          <p:nvPr/>
        </p:nvSpPr>
        <p:spPr>
          <a:xfrm>
            <a:off x="612648" y="530352"/>
            <a:ext cx="14374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3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activar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941832"/>
            <a:ext cx="3200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por definir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920240"/>
            <a:ext cx="320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flujo se enciende hasta que estos datos sean reales.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566928"/>
          <a:ext cx="7415784" cy="278892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6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{{precio_completo}}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del Perfil de Salud Financiera: $500 (confirmar moneda y precio para EE.UU.)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{{precio_sesion}}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de la Revisión Privada. Sin definir: es la segunda venta del funnel.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{{opcion_pago}}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Métodos y facilidades de pago en el checkout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{{minutos_completo}}, {{total_preguntas}}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del cuestionario completo y preguntas del mini perfil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{{duracion_sesion}}, {{horas_reagendar}}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de la Revisión Privada y política de reagendar sin costo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Enlace de agenda y pago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mismo que va en el CTA del Cuaderno de Trabajo. Uno solo para todo.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{{cupos_semana}}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 real del calendario (D5)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{{caso_*}}, {{testimonio_*}}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caso real por habilidad, con permiso por escrito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{{propuesta_programa}}, {{precio_programa}}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Oferta del programa que propone el coach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10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{{producto_zona}}, {{precio_producto_zona}}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de entrada por habilidad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90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{{beneficio_referido}}, {{beneficio_referente}}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Incentivos de referidos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8696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1656</TotalTime>
  <Words>3825</Words>
  <Application>Microsoft Macintosh PowerPoint</Application>
  <PresentationFormat>Widescreen</PresentationFormat>
  <Paragraphs>556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Zones of Life: funnels y copys</dc:title>
  <dc:subject>PptxGenJS Presentation</dc:subject>
  <dc:creator>PptxGenJS</dc:creator>
  <cp:lastModifiedBy>Erika Fonseca</cp:lastModifiedBy>
  <cp:revision>3</cp:revision>
  <dcterms:created xsi:type="dcterms:W3CDTF">2026-09-16T23:27:18Z</dcterms:created>
  <dcterms:modified xsi:type="dcterms:W3CDTF">2026-09-18T04:17:07Z</dcterms:modified>
</cp:coreProperties>
</file>