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589"/>
  </p:normalViewPr>
  <p:slideViewPr>
    <p:cSldViewPr snapToGrid="0" snapToObjects="1">
      <p:cViewPr varScale="1">
        <p:scale>
          <a:sx n="104" d="100"/>
          <a:sy n="104" d="100"/>
        </p:scale>
        <p:origin x="232" y="5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60363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 decision: if human review is needed before the session, the rule changes. Today the system is automated up to the coach.</a:t>
            </a:r>
          </a:p>
          <a:p>
            <a:r>
              <a:t>Set up the CRM fields in ActiveCampaign before switching the flows 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 dollar pricing: to be confirmed and added to the variables table.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short chart is shown in full on screen. What's held back is the explanation, not the result.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two bonus messages from the previous version were removed. Code B9 is retired and not reused; B10 and B11 keep their codes.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Flow D is now a sale, not an invitation: the Private Review is paid. {{precio_sesion}} still needs to be defined.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7F9"/>
        </a:solidFill>
        <a:effectLst/>
      </p:bgPr>
    </p:bg>
    <p:spTree>
      <p:nvGrpSpPr>
        <p:cNvPr id="1" name=""/>
        <p:cNvGrpSpPr/>
        <p:nvPr/>
      </p:nvGrpSpPr>
      <p:grpSpPr>
        <a:xfrm>
          <a:off x="0" y="0"/>
          <a:ext cx="0" cy="0"/>
          <a:chOff x="0" y="0"/>
          <a:chExt cx="0" cy="0"/>
        </a:xfrm>
      </p:grpSpPr>
      <p:sp>
        <p:nvSpPr>
          <p:cNvPr id="2" name="Text 0"/>
          <p:cNvSpPr txBox="1"/>
          <p:nvPr/>
        </p:nvSpPr>
        <p:spPr>
          <a:xfrm>
            <a:off x="612648" y="6446520"/>
            <a:ext cx="4572000" cy="228600"/>
          </a:xfrm>
          <a:prstGeom prst="rect">
            <a:avLst/>
          </a:prstGeom>
          <a:noFill/>
          <a:ln/>
        </p:spPr>
        <p:txBody>
          <a:bodyPr wrap="square" lIns="0" tIns="0" rIns="0" bIns="0" rtlCol="0" anchor="ctr"/>
          <a:lstStyle/>
          <a:p>
            <a:pPr marL="0" indent="0">
              <a:buNone/>
            </a:pPr>
            <a:r>
              <a:rPr lang="en-US" sz="900" dirty="0">
                <a:solidFill>
                  <a:srgbClr val="5B6475"/>
                </a:solidFill>
                <a:latin typeface="Calibri" pitchFamily="34" charset="0"/>
                <a:ea typeface="Calibri" pitchFamily="34" charset="-122"/>
                <a:cs typeface="Calibri" pitchFamily="34" charset="-120"/>
              </a:rPr>
              <a:t>Zones of Life: funnels and copy</a:t>
            </a:r>
            <a:endParaRPr lang="en-US" sz="900" dirty="0"/>
          </a:p>
        </p:txBody>
      </p:sp>
      <p:sp>
        <p:nvSpPr>
          <p:cNvPr id="3" name="Text 1"/>
          <p:cNvSpPr txBox="1"/>
          <p:nvPr/>
        </p:nvSpPr>
        <p:spPr>
          <a:xfrm>
            <a:off x="10881360" y="6446520"/>
            <a:ext cx="694944" cy="228600"/>
          </a:xfrm>
          <a:prstGeom prst="rect">
            <a:avLst/>
          </a:prstGeom>
          <a:noFill/>
          <a:ln/>
        </p:spPr>
        <p:txBody>
          <a:bodyPr wrap="square" lIns="0" tIns="0" rIns="0" bIns="0" rtlCol="0" anchor="ctr"/>
          <a:lstStyle/>
          <a:p>
            <a:pPr marL="0" indent="0" algn="r">
              <a:buNone/>
            </a:pPr>
            <a:r>
              <a:rPr lang="en-US" sz="900" dirty="0">
                <a:solidFill>
                  <a:srgbClr val="5B6475"/>
                </a:solidFill>
                <a:latin typeface="Calibri" pitchFamily="34" charset="0"/>
                <a:ea typeface="Calibri" pitchFamily="34" charset="-122"/>
                <a:cs typeface="Calibri" pitchFamily="34" charset="-120"/>
              </a:rPr>
              <a:t>1</a:t>
            </a:r>
            <a:endParaRPr lang="en-US" sz="900" dirty="0"/>
          </a:p>
        </p:txBody>
      </p:sp>
      <p:sp>
        <p:nvSpPr>
          <p:cNvPr id="4" name="Shape 2"/>
          <p:cNvSpPr/>
          <p:nvPr/>
        </p:nvSpPr>
        <p:spPr>
          <a:xfrm>
            <a:off x="612648" y="566928"/>
            <a:ext cx="1309969" cy="279806"/>
          </a:xfrm>
          <a:prstGeom prst="roundRect">
            <a:avLst>
              <a:gd name="adj" fmla="val 50000"/>
            </a:avLst>
          </a:prstGeom>
          <a:solidFill>
            <a:srgbClr val="E9ECF6"/>
          </a:solidFill>
          <a:ln w="9525">
            <a:solidFill>
              <a:srgbClr val="E9ECF6"/>
            </a:solidFill>
            <a:prstDash val="solid"/>
          </a:ln>
        </p:spPr>
        <p:txBody>
          <a:bodyPr/>
          <a:lstStyle/>
          <a:p>
            <a:endParaRPr lang="en-MX"/>
          </a:p>
        </p:txBody>
      </p:sp>
      <p:sp>
        <p:nvSpPr>
          <p:cNvPr id="5" name="Text 3"/>
          <p:cNvSpPr txBox="1"/>
          <p:nvPr/>
        </p:nvSpPr>
        <p:spPr>
          <a:xfrm>
            <a:off x="612648" y="566928"/>
            <a:ext cx="1309969" cy="279806"/>
          </a:xfrm>
          <a:prstGeom prst="rect">
            <a:avLst/>
          </a:prstGeom>
          <a:noFill/>
          <a:ln/>
        </p:spPr>
        <p:txBody>
          <a:bodyPr wrap="square" lIns="0" tIns="0" rIns="0" bIns="0" rtlCol="0" anchor="ctr"/>
          <a:lstStyle/>
          <a:p>
            <a:pPr marL="0" indent="0" algn="ctr">
              <a:buNone/>
            </a:pPr>
            <a:r>
              <a:rPr lang="en-US" sz="1100" b="1" dirty="0">
                <a:solidFill>
                  <a:srgbClr val="3D4F86"/>
                </a:solidFill>
                <a:latin typeface="Calibri" pitchFamily="34" charset="0"/>
                <a:ea typeface="Calibri" pitchFamily="34" charset="-122"/>
                <a:cs typeface="Calibri" pitchFamily="34" charset="-120"/>
              </a:rPr>
              <a:t>Zones of Life</a:t>
            </a:r>
            <a:endParaRPr lang="en-US" sz="1100" dirty="0"/>
          </a:p>
        </p:txBody>
      </p:sp>
      <p:sp>
        <p:nvSpPr>
          <p:cNvPr id="6" name="Text 4"/>
          <p:cNvSpPr txBox="1"/>
          <p:nvPr/>
        </p:nvSpPr>
        <p:spPr>
          <a:xfrm>
            <a:off x="612648" y="1097280"/>
            <a:ext cx="7772400" cy="2011680"/>
          </a:xfrm>
          <a:prstGeom prst="rect">
            <a:avLst/>
          </a:prstGeom>
          <a:noFill/>
          <a:ln/>
        </p:spPr>
        <p:txBody>
          <a:bodyPr wrap="square" lIns="0" tIns="0" rIns="0" bIns="0" rtlCol="0" anchor="t"/>
          <a:lstStyle/>
          <a:p>
            <a:pPr marL="0" indent="0">
              <a:buNone/>
            </a:pPr>
            <a:r>
              <a:rPr lang="en-US" sz="5400" dirty="0">
                <a:solidFill>
                  <a:srgbClr val="1B2230"/>
                </a:solidFill>
                <a:latin typeface="Cambria" pitchFamily="34" charset="0"/>
                <a:ea typeface="Cambria" pitchFamily="34" charset="-122"/>
                <a:cs typeface="Cambria" pitchFamily="34" charset="-120"/>
              </a:rPr>
              <a:t>Follow-up funnels and copy</a:t>
            </a:r>
            <a:endParaRPr lang="en-US" sz="5400" dirty="0"/>
          </a:p>
        </p:txBody>
      </p:sp>
      <p:sp>
        <p:nvSpPr>
          <p:cNvPr id="7" name="Text 5"/>
          <p:cNvSpPr txBox="1"/>
          <p:nvPr/>
        </p:nvSpPr>
        <p:spPr>
          <a:xfrm>
            <a:off x="612648" y="3154680"/>
            <a:ext cx="6583680" cy="822960"/>
          </a:xfrm>
          <a:prstGeom prst="rect">
            <a:avLst/>
          </a:prstGeom>
          <a:noFill/>
          <a:ln/>
        </p:spPr>
        <p:txBody>
          <a:bodyPr wrap="square" lIns="0" tIns="0" rIns="0" bIns="0" rtlCol="0" anchor="t"/>
          <a:lstStyle/>
          <a:p>
            <a:pPr marL="0" indent="0">
              <a:buNone/>
            </a:pPr>
            <a:r>
              <a:rPr lang="en-US" sz="1600" dirty="0">
                <a:solidFill>
                  <a:srgbClr val="5B6475"/>
                </a:solidFill>
                <a:latin typeface="Calibri" pitchFamily="34" charset="0"/>
                <a:ea typeface="Calibri" pitchFamily="34" charset="-122"/>
                <a:cs typeface="Calibri" pitchFamily="34" charset="-120"/>
              </a:rPr>
              <a:t>From the Financial Mini Profile to the Private Review with an ACLC coach. Everything is automated up to the session, which is the first human contact.</a:t>
            </a:r>
            <a:endParaRPr lang="en-US" sz="1600" dirty="0"/>
          </a:p>
        </p:txBody>
      </p:sp>
      <p:sp>
        <p:nvSpPr>
          <p:cNvPr id="8" name="Shape 6"/>
          <p:cNvSpPr/>
          <p:nvPr/>
        </p:nvSpPr>
        <p:spPr>
          <a:xfrm>
            <a:off x="612648" y="5532120"/>
            <a:ext cx="2286000" cy="457200"/>
          </a:xfrm>
          <a:prstGeom prst="roundRect">
            <a:avLst>
              <a:gd name="adj" fmla="val 16000"/>
            </a:avLst>
          </a:prstGeom>
          <a:solidFill>
            <a:srgbClr val="E9ECF6"/>
          </a:solidFill>
          <a:ln w="12700">
            <a:solidFill>
              <a:srgbClr val="E9ECF6"/>
            </a:solidFill>
            <a:prstDash val="solid"/>
          </a:ln>
        </p:spPr>
        <p:txBody>
          <a:bodyPr/>
          <a:lstStyle/>
          <a:p>
            <a:endParaRPr lang="en-MX"/>
          </a:p>
        </p:txBody>
      </p:sp>
      <p:sp>
        <p:nvSpPr>
          <p:cNvPr id="9" name="Text 7"/>
          <p:cNvSpPr txBox="1"/>
          <p:nvPr/>
        </p:nvSpPr>
        <p:spPr>
          <a:xfrm>
            <a:off x="612648" y="5532120"/>
            <a:ext cx="2286000" cy="457200"/>
          </a:xfrm>
          <a:prstGeom prst="rect">
            <a:avLst/>
          </a:prstGeom>
          <a:noFill/>
          <a:ln/>
        </p:spPr>
        <p:txBody>
          <a:bodyPr wrap="square" lIns="0" tIns="0" rIns="0" bIns="0" rtlCol="0" anchor="ctr"/>
          <a:lstStyle/>
          <a:p>
            <a:pPr marL="0" indent="0" algn="ctr">
              <a:buNone/>
            </a:pPr>
            <a:r>
              <a:rPr lang="en-US" sz="1300" b="1" dirty="0">
                <a:solidFill>
                  <a:srgbClr val="3D4F86"/>
                </a:solidFill>
                <a:latin typeface="Calibri" pitchFamily="34" charset="0"/>
                <a:ea typeface="Calibri" pitchFamily="34" charset="-122"/>
                <a:cs typeface="Calibri" pitchFamily="34" charset="-120"/>
              </a:rPr>
              <a:t>Financial Mini Profile</a:t>
            </a:r>
            <a:endParaRPr lang="en-US" sz="1300" dirty="0"/>
          </a:p>
        </p:txBody>
      </p:sp>
      <p:sp>
        <p:nvSpPr>
          <p:cNvPr id="10" name="Shape 8"/>
          <p:cNvSpPr/>
          <p:nvPr/>
        </p:nvSpPr>
        <p:spPr>
          <a:xfrm>
            <a:off x="3008376" y="5532120"/>
            <a:ext cx="2286000" cy="457200"/>
          </a:xfrm>
          <a:prstGeom prst="roundRect">
            <a:avLst>
              <a:gd name="adj" fmla="val 16000"/>
            </a:avLst>
          </a:prstGeom>
          <a:solidFill>
            <a:srgbClr val="E3F1EA"/>
          </a:solidFill>
          <a:ln w="12700">
            <a:solidFill>
              <a:srgbClr val="E3F1EA"/>
            </a:solidFill>
            <a:prstDash val="solid"/>
          </a:ln>
        </p:spPr>
        <p:txBody>
          <a:bodyPr/>
          <a:lstStyle/>
          <a:p>
            <a:endParaRPr lang="en-MX"/>
          </a:p>
        </p:txBody>
      </p:sp>
      <p:sp>
        <p:nvSpPr>
          <p:cNvPr id="11" name="Text 9"/>
          <p:cNvSpPr txBox="1"/>
          <p:nvPr/>
        </p:nvSpPr>
        <p:spPr>
          <a:xfrm>
            <a:off x="3008376" y="5532120"/>
            <a:ext cx="2286000" cy="457200"/>
          </a:xfrm>
          <a:prstGeom prst="rect">
            <a:avLst/>
          </a:prstGeom>
          <a:noFill/>
          <a:ln/>
        </p:spPr>
        <p:txBody>
          <a:bodyPr wrap="square" lIns="0" tIns="0" rIns="0" bIns="0" rtlCol="0" anchor="ctr"/>
          <a:lstStyle/>
          <a:p>
            <a:pPr marL="0" indent="0" algn="ctr">
              <a:buNone/>
            </a:pPr>
            <a:r>
              <a:rPr lang="en-US" sz="1300" b="1" dirty="0">
                <a:solidFill>
                  <a:srgbClr val="2E7A57"/>
                </a:solidFill>
                <a:latin typeface="Calibri" pitchFamily="34" charset="0"/>
                <a:ea typeface="Calibri" pitchFamily="34" charset="-122"/>
                <a:cs typeface="Calibri" pitchFamily="34" charset="-120"/>
              </a:rPr>
              <a:t>Financial Health Profile</a:t>
            </a:r>
            <a:endParaRPr lang="en-US" sz="1300" dirty="0"/>
          </a:p>
        </p:txBody>
      </p:sp>
      <p:sp>
        <p:nvSpPr>
          <p:cNvPr id="12" name="Shape 10"/>
          <p:cNvSpPr/>
          <p:nvPr/>
        </p:nvSpPr>
        <p:spPr>
          <a:xfrm>
            <a:off x="5404104" y="5532120"/>
            <a:ext cx="1901952" cy="457200"/>
          </a:xfrm>
          <a:prstGeom prst="roundRect">
            <a:avLst>
              <a:gd name="adj" fmla="val 16000"/>
            </a:avLst>
          </a:prstGeom>
          <a:solidFill>
            <a:srgbClr val="E9ECF6"/>
          </a:solidFill>
          <a:ln w="12700">
            <a:solidFill>
              <a:srgbClr val="E9ECF6"/>
            </a:solidFill>
            <a:prstDash val="solid"/>
          </a:ln>
        </p:spPr>
        <p:txBody>
          <a:bodyPr/>
          <a:lstStyle/>
          <a:p>
            <a:endParaRPr lang="en-MX"/>
          </a:p>
        </p:txBody>
      </p:sp>
      <p:sp>
        <p:nvSpPr>
          <p:cNvPr id="13" name="Text 11"/>
          <p:cNvSpPr txBox="1"/>
          <p:nvPr/>
        </p:nvSpPr>
        <p:spPr>
          <a:xfrm>
            <a:off x="5404104" y="5532120"/>
            <a:ext cx="1901952" cy="457200"/>
          </a:xfrm>
          <a:prstGeom prst="rect">
            <a:avLst/>
          </a:prstGeom>
          <a:noFill/>
          <a:ln/>
        </p:spPr>
        <p:txBody>
          <a:bodyPr wrap="square" lIns="0" tIns="0" rIns="0" bIns="0" rtlCol="0" anchor="ctr"/>
          <a:lstStyle/>
          <a:p>
            <a:pPr marL="0" indent="0" algn="ctr">
              <a:buNone/>
            </a:pPr>
            <a:r>
              <a:rPr lang="en-US" sz="1300" b="1" dirty="0">
                <a:solidFill>
                  <a:srgbClr val="3D4F86"/>
                </a:solidFill>
                <a:latin typeface="Calibri" pitchFamily="34" charset="0"/>
                <a:ea typeface="Calibri" pitchFamily="34" charset="-122"/>
                <a:cs typeface="Calibri" pitchFamily="34" charset="-120"/>
              </a:rPr>
              <a:t>Private Review</a:t>
            </a:r>
            <a:endParaRPr lang="en-US" sz="1300" dirty="0"/>
          </a:p>
        </p:txBody>
      </p:sp>
      <p:sp>
        <p:nvSpPr>
          <p:cNvPr id="14" name="Shape 12"/>
          <p:cNvSpPr/>
          <p:nvPr/>
        </p:nvSpPr>
        <p:spPr>
          <a:xfrm>
            <a:off x="7415784" y="5532120"/>
            <a:ext cx="1133856" cy="457200"/>
          </a:xfrm>
          <a:prstGeom prst="roundRect">
            <a:avLst>
              <a:gd name="adj" fmla="val 16000"/>
            </a:avLst>
          </a:prstGeom>
          <a:solidFill>
            <a:srgbClr val="E3F1EA"/>
          </a:solidFill>
          <a:ln w="12700">
            <a:solidFill>
              <a:srgbClr val="E3F1EA"/>
            </a:solidFill>
            <a:prstDash val="solid"/>
          </a:ln>
        </p:spPr>
        <p:txBody>
          <a:bodyPr/>
          <a:lstStyle/>
          <a:p>
            <a:endParaRPr lang="en-MX"/>
          </a:p>
        </p:txBody>
      </p:sp>
      <p:sp>
        <p:nvSpPr>
          <p:cNvPr id="15" name="Text 13"/>
          <p:cNvSpPr txBox="1"/>
          <p:nvPr/>
        </p:nvSpPr>
        <p:spPr>
          <a:xfrm>
            <a:off x="7415784" y="5532120"/>
            <a:ext cx="1133856" cy="457200"/>
          </a:xfrm>
          <a:prstGeom prst="rect">
            <a:avLst/>
          </a:prstGeom>
          <a:noFill/>
          <a:ln/>
        </p:spPr>
        <p:txBody>
          <a:bodyPr wrap="square" lIns="0" tIns="0" rIns="0" bIns="0" rtlCol="0" anchor="ctr"/>
          <a:lstStyle/>
          <a:p>
            <a:pPr marL="0" indent="0" algn="ctr">
              <a:buNone/>
            </a:pPr>
            <a:r>
              <a:rPr lang="en-US" sz="1300" b="1" dirty="0">
                <a:solidFill>
                  <a:srgbClr val="2E7A57"/>
                </a:solidFill>
                <a:latin typeface="Calibri" pitchFamily="34" charset="0"/>
                <a:ea typeface="Calibri" pitchFamily="34" charset="-122"/>
                <a:cs typeface="Calibri" pitchFamily="34" charset="-120"/>
              </a:rPr>
              <a:t>Program</a:t>
            </a:r>
            <a:endParaRPr lang="en-US" sz="1300" dirty="0"/>
          </a:p>
        </p:txBody>
      </p:sp>
      <p:sp>
        <p:nvSpPr>
          <p:cNvPr id="16" name="Shape 14"/>
          <p:cNvSpPr/>
          <p:nvPr/>
        </p:nvSpPr>
        <p:spPr>
          <a:xfrm>
            <a:off x="8659368" y="5532120"/>
            <a:ext cx="2286000" cy="457200"/>
          </a:xfrm>
          <a:prstGeom prst="roundRect">
            <a:avLst>
              <a:gd name="adj" fmla="val 16000"/>
            </a:avLst>
          </a:prstGeom>
          <a:solidFill>
            <a:srgbClr val="E3F1EA"/>
          </a:solidFill>
          <a:ln w="12700">
            <a:solidFill>
              <a:srgbClr val="E3F1EA"/>
            </a:solidFill>
            <a:prstDash val="solid"/>
          </a:ln>
        </p:spPr>
        <p:txBody>
          <a:bodyPr/>
          <a:lstStyle/>
          <a:p>
            <a:endParaRPr lang="en-MX"/>
          </a:p>
        </p:txBody>
      </p:sp>
      <p:sp>
        <p:nvSpPr>
          <p:cNvPr id="17" name="Text 15"/>
          <p:cNvSpPr txBox="1"/>
          <p:nvPr/>
        </p:nvSpPr>
        <p:spPr>
          <a:xfrm>
            <a:off x="8659368" y="5532120"/>
            <a:ext cx="2286000" cy="457200"/>
          </a:xfrm>
          <a:prstGeom prst="rect">
            <a:avLst/>
          </a:prstGeom>
          <a:noFill/>
          <a:ln/>
        </p:spPr>
        <p:txBody>
          <a:bodyPr wrap="square" lIns="0" tIns="0" rIns="0" bIns="0" rtlCol="0" anchor="ctr"/>
          <a:lstStyle/>
          <a:p>
            <a:pPr marL="0" indent="0" algn="ctr">
              <a:buNone/>
            </a:pPr>
            <a:r>
              <a:rPr lang="en-US" sz="1300" b="1" dirty="0">
                <a:solidFill>
                  <a:srgbClr val="2E7A57"/>
                </a:solidFill>
                <a:latin typeface="Calibri" pitchFamily="34" charset="0"/>
                <a:ea typeface="Calibri" pitchFamily="34" charset="-122"/>
                <a:cs typeface="Calibri" pitchFamily="34" charset="-120"/>
              </a:rPr>
              <a:t>90-day re-assessment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7F9"/>
        </a:solidFill>
        <a:effectLst/>
      </p:bgPr>
    </p:bg>
    <p:spTree>
      <p:nvGrpSpPr>
        <p:cNvPr id="1" name=""/>
        <p:cNvGrpSpPr/>
        <p:nvPr/>
      </p:nvGrpSpPr>
      <p:grpSpPr>
        <a:xfrm>
          <a:off x="0" y="0"/>
          <a:ext cx="0" cy="0"/>
          <a:chOff x="0" y="0"/>
          <a:chExt cx="0" cy="0"/>
        </a:xfrm>
      </p:grpSpPr>
      <p:sp>
        <p:nvSpPr>
          <p:cNvPr id="2" name="Text 0"/>
          <p:cNvSpPr txBox="1"/>
          <p:nvPr/>
        </p:nvSpPr>
        <p:spPr>
          <a:xfrm>
            <a:off x="612648" y="6446520"/>
            <a:ext cx="4572000" cy="228600"/>
          </a:xfrm>
          <a:prstGeom prst="rect">
            <a:avLst/>
          </a:prstGeom>
          <a:noFill/>
          <a:ln/>
        </p:spPr>
        <p:txBody>
          <a:bodyPr wrap="square" lIns="0" tIns="0" rIns="0" bIns="0" rtlCol="0" anchor="ctr"/>
          <a:lstStyle/>
          <a:p>
            <a:pPr marL="0" indent="0">
              <a:buNone/>
            </a:pPr>
            <a:r>
              <a:rPr lang="en-US" sz="900" dirty="0">
                <a:solidFill>
                  <a:srgbClr val="5B6475"/>
                </a:solidFill>
                <a:latin typeface="Calibri" pitchFamily="34" charset="0"/>
                <a:ea typeface="Calibri" pitchFamily="34" charset="-122"/>
                <a:cs typeface="Calibri" pitchFamily="34" charset="-120"/>
              </a:rPr>
              <a:t>Zones of Life: funnels and copy</a:t>
            </a:r>
            <a:endParaRPr lang="en-US" sz="900" dirty="0"/>
          </a:p>
        </p:txBody>
      </p:sp>
      <p:sp>
        <p:nvSpPr>
          <p:cNvPr id="3" name="Text 1"/>
          <p:cNvSpPr txBox="1"/>
          <p:nvPr/>
        </p:nvSpPr>
        <p:spPr>
          <a:xfrm>
            <a:off x="10881360" y="6446520"/>
            <a:ext cx="694944" cy="228600"/>
          </a:xfrm>
          <a:prstGeom prst="rect">
            <a:avLst/>
          </a:prstGeom>
          <a:noFill/>
          <a:ln/>
        </p:spPr>
        <p:txBody>
          <a:bodyPr wrap="square" lIns="0" tIns="0" rIns="0" bIns="0" rtlCol="0" anchor="ctr"/>
          <a:lstStyle/>
          <a:p>
            <a:pPr marL="0" indent="0" algn="r">
              <a:buNone/>
            </a:pPr>
            <a:r>
              <a:rPr lang="en-US" sz="900" dirty="0">
                <a:solidFill>
                  <a:srgbClr val="5B6475"/>
                </a:solidFill>
                <a:latin typeface="Calibri" pitchFamily="34" charset="0"/>
                <a:ea typeface="Calibri" pitchFamily="34" charset="-122"/>
                <a:cs typeface="Calibri" pitchFamily="34" charset="-120"/>
              </a:rPr>
              <a:t>2</a:t>
            </a:r>
            <a:endParaRPr lang="en-US" sz="900" dirty="0"/>
          </a:p>
        </p:txBody>
      </p:sp>
      <p:sp>
        <p:nvSpPr>
          <p:cNvPr id="4" name="Text 2"/>
          <p:cNvSpPr txBox="1"/>
          <p:nvPr/>
        </p:nvSpPr>
        <p:spPr>
          <a:xfrm>
            <a:off x="612648" y="530352"/>
            <a:ext cx="7315200" cy="548640"/>
          </a:xfrm>
          <a:prstGeom prst="rect">
            <a:avLst/>
          </a:prstGeom>
          <a:noFill/>
          <a:ln/>
        </p:spPr>
        <p:txBody>
          <a:bodyPr wrap="square" lIns="0" tIns="0" rIns="0" bIns="0" rtlCol="0" anchor="ctr"/>
          <a:lstStyle/>
          <a:p>
            <a:pPr marL="0" indent="0">
              <a:buNone/>
            </a:pPr>
            <a:r>
              <a:rPr lang="en-US" sz="3200" dirty="0">
                <a:solidFill>
                  <a:srgbClr val="1B2230"/>
                </a:solidFill>
                <a:latin typeface="Cambria" pitchFamily="34" charset="0"/>
                <a:ea typeface="Cambria" pitchFamily="34" charset="-122"/>
                <a:cs typeface="Cambria" pitchFamily="34" charset="-120"/>
              </a:rPr>
              <a:t>System rules</a:t>
            </a:r>
            <a:endParaRPr lang="en-US" sz="3200" dirty="0"/>
          </a:p>
        </p:txBody>
      </p:sp>
      <p:sp>
        <p:nvSpPr>
          <p:cNvPr id="5" name="Text 3"/>
          <p:cNvSpPr txBox="1"/>
          <p:nvPr/>
        </p:nvSpPr>
        <p:spPr>
          <a:xfrm>
            <a:off x="612648" y="1115568"/>
            <a:ext cx="7315200" cy="320040"/>
          </a:xfrm>
          <a:prstGeom prst="rect">
            <a:avLst/>
          </a:prstGeom>
          <a:noFill/>
          <a:ln/>
        </p:spPr>
        <p:txBody>
          <a:bodyPr wrap="square" lIns="0" tIns="0" rIns="0" bIns="0" rtlCol="0" anchor="ctr"/>
          <a:lstStyle/>
          <a:p>
            <a:pPr marL="0" indent="0">
              <a:buNone/>
            </a:pPr>
            <a:r>
              <a:rPr lang="en-US" sz="1500" dirty="0">
                <a:solidFill>
                  <a:srgbClr val="5B6475"/>
                </a:solidFill>
                <a:latin typeface="Calibri" pitchFamily="34" charset="0"/>
                <a:ea typeface="Calibri" pitchFamily="34" charset="-122"/>
                <a:cs typeface="Calibri" pitchFamily="34" charset="-120"/>
              </a:rPr>
              <a:t>Six principles that apply to every flow.</a:t>
            </a:r>
            <a:endParaRPr lang="en-US" sz="1500" dirty="0"/>
          </a:p>
        </p:txBody>
      </p:sp>
      <p:sp>
        <p:nvSpPr>
          <p:cNvPr id="6" name="Shape 4"/>
          <p:cNvSpPr/>
          <p:nvPr/>
        </p:nvSpPr>
        <p:spPr>
          <a:xfrm>
            <a:off x="612648" y="1874520"/>
            <a:ext cx="3566160" cy="1874520"/>
          </a:xfrm>
          <a:prstGeom prst="roundRect">
            <a:avLst>
              <a:gd name="adj" fmla="val 4878"/>
            </a:avLst>
          </a:prstGeom>
          <a:solidFill>
            <a:srgbClr val="FFFFFF"/>
          </a:solidFill>
          <a:ln w="9525">
            <a:solidFill>
              <a:srgbClr val="DDE1E8"/>
            </a:solidFill>
            <a:prstDash val="solid"/>
          </a:ln>
        </p:spPr>
        <p:txBody>
          <a:bodyPr/>
          <a:lstStyle/>
          <a:p>
            <a:endParaRPr lang="en-MX"/>
          </a:p>
        </p:txBody>
      </p:sp>
      <p:sp>
        <p:nvSpPr>
          <p:cNvPr id="7" name="Text 5"/>
          <p:cNvSpPr txBox="1"/>
          <p:nvPr/>
        </p:nvSpPr>
        <p:spPr>
          <a:xfrm>
            <a:off x="841248" y="2103120"/>
            <a:ext cx="3108960" cy="365760"/>
          </a:xfrm>
          <a:prstGeom prst="rect">
            <a:avLst/>
          </a:prstGeom>
          <a:noFill/>
          <a:ln/>
        </p:spPr>
        <p:txBody>
          <a:bodyPr wrap="square" lIns="0" tIns="0" rIns="0" bIns="0" rtlCol="0" anchor="t"/>
          <a:lstStyle/>
          <a:p>
            <a:pPr marL="0" indent="0">
              <a:buNone/>
            </a:pPr>
            <a:r>
              <a:rPr lang="en-US" sz="1500" b="1" dirty="0">
                <a:solidFill>
                  <a:srgbClr val="1B2230"/>
                </a:solidFill>
                <a:latin typeface="Calibri" pitchFamily="34" charset="0"/>
                <a:ea typeface="Calibri" pitchFamily="34" charset="-122"/>
                <a:cs typeface="Calibri" pitchFamily="34" charset="-120"/>
              </a:rPr>
              <a:t>No humans before the coach</a:t>
            </a:r>
            <a:endParaRPr lang="en-US" sz="1500" dirty="0"/>
          </a:p>
        </p:txBody>
      </p:sp>
      <p:sp>
        <p:nvSpPr>
          <p:cNvPr id="8" name="Text 6"/>
          <p:cNvSpPr txBox="1"/>
          <p:nvPr/>
        </p:nvSpPr>
        <p:spPr>
          <a:xfrm>
            <a:off x="841248" y="2532888"/>
            <a:ext cx="3108960" cy="1051560"/>
          </a:xfrm>
          <a:prstGeom prst="rect">
            <a:avLst/>
          </a:prstGeom>
          <a:noFill/>
          <a:ln/>
        </p:spPr>
        <p:txBody>
          <a:bodyPr wrap="square" lIns="0" tIns="0" rIns="0" bIns="0" rtlCol="0" anchor="t"/>
          <a:lstStyle/>
          <a:p>
            <a:pPr marL="0" indent="0">
              <a:buNone/>
            </a:pPr>
            <a:r>
              <a:rPr lang="en-US" sz="1250" dirty="0">
                <a:solidFill>
                  <a:srgbClr val="5B6475"/>
                </a:solidFill>
                <a:latin typeface="Calibri" pitchFamily="34" charset="0"/>
                <a:ea typeface="Calibri" pitchFamily="34" charset="-122"/>
                <a:cs typeface="Calibri" pitchFamily="34" charset="-120"/>
              </a:rPr>
              <a:t>Every message before the session is automated and signed "Zones of Life Team", never with the coach's name.</a:t>
            </a:r>
            <a:endParaRPr lang="en-US" sz="1250" dirty="0"/>
          </a:p>
        </p:txBody>
      </p:sp>
      <p:sp>
        <p:nvSpPr>
          <p:cNvPr id="9" name="Shape 7"/>
          <p:cNvSpPr/>
          <p:nvPr/>
        </p:nvSpPr>
        <p:spPr>
          <a:xfrm>
            <a:off x="4315968" y="1874520"/>
            <a:ext cx="3566160" cy="1874520"/>
          </a:xfrm>
          <a:prstGeom prst="roundRect">
            <a:avLst>
              <a:gd name="adj" fmla="val 4878"/>
            </a:avLst>
          </a:prstGeom>
          <a:solidFill>
            <a:srgbClr val="FFFFFF"/>
          </a:solidFill>
          <a:ln w="9525">
            <a:solidFill>
              <a:srgbClr val="DDE1E8"/>
            </a:solidFill>
            <a:prstDash val="solid"/>
          </a:ln>
        </p:spPr>
        <p:txBody>
          <a:bodyPr/>
          <a:lstStyle/>
          <a:p>
            <a:endParaRPr lang="en-MX"/>
          </a:p>
        </p:txBody>
      </p:sp>
      <p:sp>
        <p:nvSpPr>
          <p:cNvPr id="10" name="Text 8"/>
          <p:cNvSpPr txBox="1"/>
          <p:nvPr/>
        </p:nvSpPr>
        <p:spPr>
          <a:xfrm>
            <a:off x="4544568" y="2103120"/>
            <a:ext cx="3108960" cy="365760"/>
          </a:xfrm>
          <a:prstGeom prst="rect">
            <a:avLst/>
          </a:prstGeom>
          <a:noFill/>
          <a:ln/>
        </p:spPr>
        <p:txBody>
          <a:bodyPr wrap="square" lIns="0" tIns="0" rIns="0" bIns="0" rtlCol="0" anchor="t"/>
          <a:lstStyle/>
          <a:p>
            <a:pPr marL="0" indent="0">
              <a:buNone/>
            </a:pPr>
            <a:r>
              <a:rPr lang="en-US" sz="1500" b="1" dirty="0">
                <a:solidFill>
                  <a:srgbClr val="1B2230"/>
                </a:solidFill>
                <a:latin typeface="Calibri" pitchFamily="34" charset="0"/>
                <a:ea typeface="Calibri" pitchFamily="34" charset="-122"/>
                <a:cs typeface="Calibri" pitchFamily="34" charset="-120"/>
              </a:rPr>
              <a:t>Questions answered by buttons or AI</a:t>
            </a:r>
            <a:endParaRPr lang="en-US" sz="1500" dirty="0"/>
          </a:p>
        </p:txBody>
      </p:sp>
      <p:sp>
        <p:nvSpPr>
          <p:cNvPr id="11" name="Text 9"/>
          <p:cNvSpPr txBox="1"/>
          <p:nvPr/>
        </p:nvSpPr>
        <p:spPr>
          <a:xfrm>
            <a:off x="4544568" y="2532888"/>
            <a:ext cx="3108960" cy="1051560"/>
          </a:xfrm>
          <a:prstGeom prst="rect">
            <a:avLst/>
          </a:prstGeom>
          <a:noFill/>
          <a:ln/>
        </p:spPr>
        <p:txBody>
          <a:bodyPr wrap="square" lIns="0" tIns="0" rIns="0" bIns="0" rtlCol="0" anchor="t"/>
          <a:lstStyle/>
          <a:p>
            <a:pPr marL="0" indent="0">
              <a:buNone/>
            </a:pPr>
            <a:r>
              <a:rPr lang="en-US" sz="1250" dirty="0">
                <a:solidFill>
                  <a:srgbClr val="5B6475"/>
                </a:solidFill>
                <a:latin typeface="Calibri" pitchFamily="34" charset="0"/>
                <a:ea typeface="Calibri" pitchFamily="34" charset="-122"/>
                <a:cs typeface="Calibri" pitchFamily="34" charset="-120"/>
              </a:rPr>
              <a:t>Predefined quick replies, plus an AI assistant identified as such for open questions.</a:t>
            </a:r>
          </a:p>
        </p:txBody>
      </p:sp>
      <p:sp>
        <p:nvSpPr>
          <p:cNvPr id="12" name="Shape 10"/>
          <p:cNvSpPr/>
          <p:nvPr/>
        </p:nvSpPr>
        <p:spPr>
          <a:xfrm>
            <a:off x="8019288" y="1874520"/>
            <a:ext cx="3566160" cy="1874520"/>
          </a:xfrm>
          <a:prstGeom prst="roundRect">
            <a:avLst>
              <a:gd name="adj" fmla="val 4878"/>
            </a:avLst>
          </a:prstGeom>
          <a:solidFill>
            <a:srgbClr val="FFFFFF"/>
          </a:solidFill>
          <a:ln w="9525">
            <a:solidFill>
              <a:srgbClr val="DDE1E8"/>
            </a:solidFill>
            <a:prstDash val="solid"/>
          </a:ln>
        </p:spPr>
        <p:txBody>
          <a:bodyPr/>
          <a:lstStyle/>
          <a:p>
            <a:endParaRPr lang="en-MX"/>
          </a:p>
        </p:txBody>
      </p:sp>
      <p:sp>
        <p:nvSpPr>
          <p:cNvPr id="13" name="Text 11"/>
          <p:cNvSpPr txBox="1"/>
          <p:nvPr/>
        </p:nvSpPr>
        <p:spPr>
          <a:xfrm>
            <a:off x="8247888" y="2103120"/>
            <a:ext cx="3108960" cy="365760"/>
          </a:xfrm>
          <a:prstGeom prst="rect">
            <a:avLst/>
          </a:prstGeom>
          <a:noFill/>
          <a:ln/>
        </p:spPr>
        <p:txBody>
          <a:bodyPr wrap="square" lIns="0" tIns="0" rIns="0" bIns="0" rtlCol="0" anchor="t"/>
          <a:lstStyle/>
          <a:p>
            <a:pPr marL="0" indent="0">
              <a:buNone/>
            </a:pPr>
            <a:r>
              <a:rPr lang="en-US" sz="1500" b="1" dirty="0">
                <a:solidFill>
                  <a:srgbClr val="1B2230"/>
                </a:solidFill>
                <a:latin typeface="Calibri" pitchFamily="34" charset="0"/>
                <a:ea typeface="Calibri" pitchFamily="34" charset="-122"/>
                <a:cs typeface="Calibri" pitchFamily="34" charset="-120"/>
              </a:rPr>
              <a:t>Scoring changes the sequence</a:t>
            </a:r>
            <a:endParaRPr lang="en-US" sz="1500" dirty="0"/>
          </a:p>
        </p:txBody>
      </p:sp>
      <p:sp>
        <p:nvSpPr>
          <p:cNvPr id="14" name="Text 12"/>
          <p:cNvSpPr txBox="1"/>
          <p:nvPr/>
        </p:nvSpPr>
        <p:spPr>
          <a:xfrm>
            <a:off x="8247888" y="2532888"/>
            <a:ext cx="3108960" cy="1051560"/>
          </a:xfrm>
          <a:prstGeom prst="rect">
            <a:avLst/>
          </a:prstGeom>
          <a:noFill/>
          <a:ln/>
        </p:spPr>
        <p:txBody>
          <a:bodyPr wrap="square" lIns="0" tIns="0" rIns="0" bIns="0" rtlCol="0" anchor="t"/>
          <a:lstStyle/>
          <a:p>
            <a:pPr marL="0" indent="0">
              <a:buNone/>
            </a:pPr>
            <a:r>
              <a:rPr lang="en-US" sz="1250" dirty="0">
                <a:solidFill>
                  <a:srgbClr val="5B6475"/>
                </a:solidFill>
                <a:latin typeface="Calibri" pitchFamily="34" charset="0"/>
                <a:ea typeface="Calibri" pitchFamily="34" charset="-122"/>
                <a:cs typeface="Calibri" pitchFamily="34" charset="-120"/>
              </a:rPr>
              <a:t>A high-intent lead moves into an accelerated version of the flow. The channel stays the same.</a:t>
            </a:r>
            <a:endParaRPr lang="en-US" sz="1250" dirty="0"/>
          </a:p>
        </p:txBody>
      </p:sp>
      <p:sp>
        <p:nvSpPr>
          <p:cNvPr id="15" name="Shape 13"/>
          <p:cNvSpPr/>
          <p:nvPr/>
        </p:nvSpPr>
        <p:spPr>
          <a:xfrm>
            <a:off x="612648" y="3977640"/>
            <a:ext cx="3566160" cy="1874520"/>
          </a:xfrm>
          <a:prstGeom prst="roundRect">
            <a:avLst>
              <a:gd name="adj" fmla="val 4878"/>
            </a:avLst>
          </a:prstGeom>
          <a:solidFill>
            <a:srgbClr val="FFFFFF"/>
          </a:solidFill>
          <a:ln w="9525">
            <a:solidFill>
              <a:srgbClr val="DDE1E8"/>
            </a:solidFill>
            <a:prstDash val="solid"/>
          </a:ln>
        </p:spPr>
        <p:txBody>
          <a:bodyPr/>
          <a:lstStyle/>
          <a:p>
            <a:endParaRPr lang="en-MX"/>
          </a:p>
        </p:txBody>
      </p:sp>
      <p:sp>
        <p:nvSpPr>
          <p:cNvPr id="16" name="Text 14"/>
          <p:cNvSpPr txBox="1"/>
          <p:nvPr/>
        </p:nvSpPr>
        <p:spPr>
          <a:xfrm>
            <a:off x="841248" y="4206240"/>
            <a:ext cx="3108960" cy="365760"/>
          </a:xfrm>
          <a:prstGeom prst="rect">
            <a:avLst/>
          </a:prstGeom>
          <a:noFill/>
          <a:ln/>
        </p:spPr>
        <p:txBody>
          <a:bodyPr wrap="square" lIns="0" tIns="0" rIns="0" bIns="0" rtlCol="0" anchor="t"/>
          <a:lstStyle/>
          <a:p>
            <a:pPr marL="0" indent="0">
              <a:buNone/>
            </a:pPr>
            <a:r>
              <a:rPr lang="en-US" sz="1500" b="1" dirty="0">
                <a:solidFill>
                  <a:srgbClr val="1B2230"/>
                </a:solidFill>
                <a:latin typeface="Calibri" pitchFamily="34" charset="0"/>
                <a:ea typeface="Calibri" pitchFamily="34" charset="-122"/>
                <a:cs typeface="Calibri" pitchFamily="34" charset="-120"/>
              </a:rPr>
              <a:t>How leads exit a flow</a:t>
            </a:r>
            <a:endParaRPr lang="en-US" sz="1500" dirty="0"/>
          </a:p>
        </p:txBody>
      </p:sp>
      <p:sp>
        <p:nvSpPr>
          <p:cNvPr id="17" name="Text 15"/>
          <p:cNvSpPr txBox="1"/>
          <p:nvPr/>
        </p:nvSpPr>
        <p:spPr>
          <a:xfrm>
            <a:off x="841248" y="4636008"/>
            <a:ext cx="3108960" cy="1051560"/>
          </a:xfrm>
          <a:prstGeom prst="rect">
            <a:avLst/>
          </a:prstGeom>
          <a:noFill/>
          <a:ln/>
        </p:spPr>
        <p:txBody>
          <a:bodyPr wrap="square" lIns="0" tIns="0" rIns="0" bIns="0" rtlCol="0" anchor="t"/>
          <a:lstStyle/>
          <a:p>
            <a:pPr marL="0" indent="0">
              <a:buNone/>
            </a:pPr>
            <a:r>
              <a:rPr lang="en-US" sz="1250" dirty="0">
                <a:solidFill>
                  <a:srgbClr val="5B6475"/>
                </a:solidFill>
                <a:latin typeface="Calibri" pitchFamily="34" charset="0"/>
                <a:ea typeface="Calibri" pitchFamily="34" charset="-122"/>
                <a:cs typeface="Calibri" pitchFamily="34" charset="-120"/>
              </a:rPr>
              <a:t>If they move forward, they go to the next step. If they reach the last message without replying, they go to monthly nurture.</a:t>
            </a:r>
            <a:endParaRPr lang="en-US" sz="1250" dirty="0"/>
          </a:p>
        </p:txBody>
      </p:sp>
      <p:sp>
        <p:nvSpPr>
          <p:cNvPr id="18" name="Shape 16"/>
          <p:cNvSpPr/>
          <p:nvPr/>
        </p:nvSpPr>
        <p:spPr>
          <a:xfrm>
            <a:off x="4315968" y="3977640"/>
            <a:ext cx="3566160" cy="1874520"/>
          </a:xfrm>
          <a:prstGeom prst="roundRect">
            <a:avLst>
              <a:gd name="adj" fmla="val 4878"/>
            </a:avLst>
          </a:prstGeom>
          <a:solidFill>
            <a:srgbClr val="FFFFFF"/>
          </a:solidFill>
          <a:ln w="9525">
            <a:solidFill>
              <a:srgbClr val="DDE1E8"/>
            </a:solidFill>
            <a:prstDash val="solid"/>
          </a:ln>
        </p:spPr>
        <p:txBody>
          <a:bodyPr/>
          <a:lstStyle/>
          <a:p>
            <a:endParaRPr lang="en-MX"/>
          </a:p>
        </p:txBody>
      </p:sp>
      <p:sp>
        <p:nvSpPr>
          <p:cNvPr id="19" name="Text 17"/>
          <p:cNvSpPr txBox="1"/>
          <p:nvPr/>
        </p:nvSpPr>
        <p:spPr>
          <a:xfrm>
            <a:off x="4544568" y="4206240"/>
            <a:ext cx="3108960" cy="365760"/>
          </a:xfrm>
          <a:prstGeom prst="rect">
            <a:avLst/>
          </a:prstGeom>
          <a:noFill/>
          <a:ln/>
        </p:spPr>
        <p:txBody>
          <a:bodyPr wrap="square" lIns="0" tIns="0" rIns="0" bIns="0" rtlCol="0" anchor="t"/>
          <a:lstStyle/>
          <a:p>
            <a:pPr marL="0" indent="0">
              <a:buNone/>
            </a:pPr>
            <a:r>
              <a:rPr lang="en-US" sz="1500" b="1" dirty="0">
                <a:solidFill>
                  <a:srgbClr val="1B2230"/>
                </a:solidFill>
                <a:latin typeface="Calibri" pitchFamily="34" charset="0"/>
                <a:ea typeface="Calibri" pitchFamily="34" charset="-122"/>
                <a:cs typeface="Calibri" pitchFamily="34" charset="-120"/>
              </a:rPr>
              <a:t>WhatsApp with templates</a:t>
            </a:r>
            <a:endParaRPr lang="en-US" sz="1500" dirty="0"/>
          </a:p>
        </p:txBody>
      </p:sp>
      <p:sp>
        <p:nvSpPr>
          <p:cNvPr id="20" name="Text 18"/>
          <p:cNvSpPr txBox="1"/>
          <p:nvPr/>
        </p:nvSpPr>
        <p:spPr>
          <a:xfrm>
            <a:off x="4544568" y="4636008"/>
            <a:ext cx="3108960" cy="1051560"/>
          </a:xfrm>
          <a:prstGeom prst="rect">
            <a:avLst/>
          </a:prstGeom>
          <a:noFill/>
          <a:ln/>
        </p:spPr>
        <p:txBody>
          <a:bodyPr wrap="square" lIns="0" tIns="0" rIns="0" bIns="0" rtlCol="0" anchor="t"/>
          <a:lstStyle/>
          <a:p>
            <a:pPr marL="0" indent="0">
              <a:buNone/>
            </a:pPr>
            <a:r>
              <a:rPr lang="en-US" sz="1250" dirty="0">
                <a:solidFill>
                  <a:srgbClr val="5B6475"/>
                </a:solidFill>
                <a:latin typeface="Calibri" pitchFamily="34" charset="0"/>
                <a:ea typeface="Calibri" pitchFamily="34" charset="-122"/>
                <a:cs typeface="Calibri" pitchFamily="34" charset="-120"/>
              </a:rPr>
              <a:t>Outside the 24-hour window, only Meta-approved templates, with explicit opt-in on the form.</a:t>
            </a:r>
            <a:endParaRPr lang="en-US" sz="1250" dirty="0"/>
          </a:p>
        </p:txBody>
      </p:sp>
      <p:sp>
        <p:nvSpPr>
          <p:cNvPr id="21" name="Shape 19"/>
          <p:cNvSpPr/>
          <p:nvPr/>
        </p:nvSpPr>
        <p:spPr>
          <a:xfrm>
            <a:off x="8019288" y="3977640"/>
            <a:ext cx="3566160" cy="1874520"/>
          </a:xfrm>
          <a:prstGeom prst="roundRect">
            <a:avLst>
              <a:gd name="adj" fmla="val 4878"/>
            </a:avLst>
          </a:prstGeom>
          <a:solidFill>
            <a:srgbClr val="FFFFFF"/>
          </a:solidFill>
          <a:ln w="9525">
            <a:solidFill>
              <a:srgbClr val="DDE1E8"/>
            </a:solidFill>
            <a:prstDash val="solid"/>
          </a:ln>
        </p:spPr>
        <p:txBody>
          <a:bodyPr/>
          <a:lstStyle/>
          <a:p>
            <a:endParaRPr lang="en-MX"/>
          </a:p>
        </p:txBody>
      </p:sp>
      <p:sp>
        <p:nvSpPr>
          <p:cNvPr id="22" name="Text 20"/>
          <p:cNvSpPr txBox="1"/>
          <p:nvPr/>
        </p:nvSpPr>
        <p:spPr>
          <a:xfrm>
            <a:off x="8247888" y="4206240"/>
            <a:ext cx="3108960" cy="365760"/>
          </a:xfrm>
          <a:prstGeom prst="rect">
            <a:avLst/>
          </a:prstGeom>
          <a:noFill/>
          <a:ln/>
        </p:spPr>
        <p:txBody>
          <a:bodyPr wrap="square" lIns="0" tIns="0" rIns="0" bIns="0" rtlCol="0" anchor="t"/>
          <a:lstStyle/>
          <a:p>
            <a:pPr marL="0" indent="0">
              <a:buNone/>
            </a:pPr>
            <a:r>
              <a:rPr lang="en-US" sz="1500" b="1" dirty="0">
                <a:solidFill>
                  <a:srgbClr val="1B2230"/>
                </a:solidFill>
                <a:latin typeface="Calibri" pitchFamily="34" charset="0"/>
                <a:ea typeface="Calibri" pitchFamily="34" charset="-122"/>
                <a:cs typeface="Calibri" pitchFamily="34" charset="-120"/>
              </a:rPr>
              <a:t>Tagging from minute one</a:t>
            </a:r>
            <a:endParaRPr lang="en-US" sz="1500" dirty="0"/>
          </a:p>
        </p:txBody>
      </p:sp>
      <p:sp>
        <p:nvSpPr>
          <p:cNvPr id="23" name="Text 21"/>
          <p:cNvSpPr txBox="1"/>
          <p:nvPr/>
        </p:nvSpPr>
        <p:spPr>
          <a:xfrm>
            <a:off x="8247888" y="4636008"/>
            <a:ext cx="3108960" cy="1051560"/>
          </a:xfrm>
          <a:prstGeom prst="rect">
            <a:avLst/>
          </a:prstGeom>
          <a:noFill/>
          <a:ln/>
        </p:spPr>
        <p:txBody>
          <a:bodyPr wrap="square" lIns="0" tIns="0" rIns="0" bIns="0" rtlCol="0" anchor="t"/>
          <a:lstStyle/>
          <a:p>
            <a:pPr marL="0" indent="0">
              <a:buNone/>
            </a:pPr>
            <a:r>
              <a:rPr lang="en-US" sz="1250" dirty="0">
                <a:solidFill>
                  <a:srgbClr val="5B6475"/>
                </a:solidFill>
                <a:latin typeface="Calibri" pitchFamily="34" charset="0"/>
                <a:ea typeface="Calibri" pitchFamily="34" charset="-122"/>
                <a:cs typeface="Calibri" pitchFamily="34" charset="-120"/>
              </a:rPr>
              <a:t>Lowest ability, profile and stage are written to the CRM as soon as the mini profile is finished.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7F9"/>
        </a:solidFill>
        <a:effectLst/>
      </p:bgPr>
    </p:bg>
    <p:spTree>
      <p:nvGrpSpPr>
        <p:cNvPr id="1" name=""/>
        <p:cNvGrpSpPr/>
        <p:nvPr/>
      </p:nvGrpSpPr>
      <p:grpSpPr>
        <a:xfrm>
          <a:off x="0" y="0"/>
          <a:ext cx="0" cy="0"/>
          <a:chOff x="0" y="0"/>
          <a:chExt cx="0" cy="0"/>
        </a:xfrm>
      </p:grpSpPr>
      <p:sp>
        <p:nvSpPr>
          <p:cNvPr id="2" name="Text 0"/>
          <p:cNvSpPr txBox="1"/>
          <p:nvPr/>
        </p:nvSpPr>
        <p:spPr>
          <a:xfrm>
            <a:off x="612648" y="6446520"/>
            <a:ext cx="4572000" cy="228600"/>
          </a:xfrm>
          <a:prstGeom prst="rect">
            <a:avLst/>
          </a:prstGeom>
          <a:noFill/>
          <a:ln/>
        </p:spPr>
        <p:txBody>
          <a:bodyPr wrap="square" lIns="0" tIns="0" rIns="0" bIns="0" rtlCol="0" anchor="ctr"/>
          <a:lstStyle/>
          <a:p>
            <a:pPr marL="0" indent="0">
              <a:buNone/>
            </a:pPr>
            <a:r>
              <a:rPr lang="en-US" sz="900" dirty="0">
                <a:solidFill>
                  <a:srgbClr val="5B6475"/>
                </a:solidFill>
                <a:latin typeface="Calibri" pitchFamily="34" charset="0"/>
                <a:ea typeface="Calibri" pitchFamily="34" charset="-122"/>
                <a:cs typeface="Calibri" pitchFamily="34" charset="-120"/>
              </a:rPr>
              <a:t>Zones of Life: funnels and copy</a:t>
            </a:r>
            <a:endParaRPr lang="en-US" sz="900" dirty="0"/>
          </a:p>
        </p:txBody>
      </p:sp>
      <p:sp>
        <p:nvSpPr>
          <p:cNvPr id="3" name="Text 1"/>
          <p:cNvSpPr txBox="1"/>
          <p:nvPr/>
        </p:nvSpPr>
        <p:spPr>
          <a:xfrm>
            <a:off x="10881360" y="6446520"/>
            <a:ext cx="694944" cy="228600"/>
          </a:xfrm>
          <a:prstGeom prst="rect">
            <a:avLst/>
          </a:prstGeom>
          <a:noFill/>
          <a:ln/>
        </p:spPr>
        <p:txBody>
          <a:bodyPr wrap="square" lIns="0" tIns="0" rIns="0" bIns="0" rtlCol="0" anchor="ctr"/>
          <a:lstStyle/>
          <a:p>
            <a:pPr marL="0" indent="0" algn="r">
              <a:buNone/>
            </a:pPr>
            <a:r>
              <a:rPr lang="en-US" sz="900" dirty="0">
                <a:solidFill>
                  <a:srgbClr val="5B6475"/>
                </a:solidFill>
                <a:latin typeface="Calibri" pitchFamily="34" charset="0"/>
                <a:ea typeface="Calibri" pitchFamily="34" charset="-122"/>
                <a:cs typeface="Calibri" pitchFamily="34" charset="-120"/>
              </a:rPr>
              <a:t>3</a:t>
            </a:r>
            <a:endParaRPr lang="en-US" sz="900" dirty="0"/>
          </a:p>
        </p:txBody>
      </p:sp>
      <p:sp>
        <p:nvSpPr>
          <p:cNvPr id="4" name="Text 2"/>
          <p:cNvSpPr txBox="1"/>
          <p:nvPr/>
        </p:nvSpPr>
        <p:spPr>
          <a:xfrm>
            <a:off x="612648" y="530352"/>
            <a:ext cx="3200400" cy="429768"/>
          </a:xfrm>
          <a:prstGeom prst="rect">
            <a:avLst/>
          </a:prstGeom>
          <a:noFill/>
          <a:ln/>
        </p:spPr>
        <p:txBody>
          <a:bodyPr wrap="square" lIns="0" tIns="0" rIns="0" bIns="0" rtlCol="0" anchor="t"/>
          <a:lstStyle/>
          <a:p>
            <a:pPr marL="0" indent="0">
              <a:lnSpc>
                <a:spcPct val="95000"/>
              </a:lnSpc>
              <a:buNone/>
            </a:pPr>
            <a:r>
              <a:rPr lang="en-US" sz="2800" dirty="0">
                <a:solidFill>
                  <a:srgbClr val="1B2230"/>
                </a:solidFill>
                <a:latin typeface="Cambria" pitchFamily="34" charset="0"/>
                <a:ea typeface="Cambria" pitchFamily="34" charset="-122"/>
                <a:cs typeface="Cambria" pitchFamily="34" charset="-120"/>
              </a:rPr>
              <a:t>Flow map</a:t>
            </a:r>
            <a:endParaRPr lang="en-US" sz="2800" dirty="0"/>
          </a:p>
        </p:txBody>
      </p:sp>
      <p:sp>
        <p:nvSpPr>
          <p:cNvPr id="5" name="Text 3"/>
          <p:cNvSpPr txBox="1"/>
          <p:nvPr/>
        </p:nvSpPr>
        <p:spPr>
          <a:xfrm>
            <a:off x="612648" y="1124712"/>
            <a:ext cx="3200400" cy="739140"/>
          </a:xfrm>
          <a:prstGeom prst="rect">
            <a:avLst/>
          </a:prstGeom>
          <a:noFill/>
          <a:ln/>
        </p:spPr>
        <p:txBody>
          <a:bodyPr wrap="square" lIns="0" tIns="0" rIns="0" bIns="0" rtlCol="0" anchor="t"/>
          <a:lstStyle/>
          <a:p>
            <a:pPr marL="0" indent="0">
              <a:lnSpc>
                <a:spcPct val="110000"/>
              </a:lnSpc>
              <a:buNone/>
            </a:pPr>
            <a:r>
              <a:rPr lang="en-US" sz="1400" dirty="0">
                <a:solidFill>
                  <a:srgbClr val="5B6475"/>
                </a:solidFill>
                <a:latin typeface="Calibri" pitchFamily="34" charset="0"/>
                <a:ea typeface="Calibri" pitchFamily="34" charset="-122"/>
                <a:cs typeface="Calibri" pitchFamily="34" charset="-120"/>
              </a:rPr>
              <a:t>On the left, the lead's path. On the right, the flow that fires if they stop at that point.</a:t>
            </a:r>
            <a:endParaRPr lang="en-US" sz="1400" dirty="0"/>
          </a:p>
        </p:txBody>
      </p:sp>
      <p:sp>
        <p:nvSpPr>
          <p:cNvPr id="6" name="Shape 4"/>
          <p:cNvSpPr/>
          <p:nvPr/>
        </p:nvSpPr>
        <p:spPr>
          <a:xfrm>
            <a:off x="612648" y="5888736"/>
            <a:ext cx="128016" cy="128016"/>
          </a:xfrm>
          <a:prstGeom prst="roundRect">
            <a:avLst>
              <a:gd name="adj" fmla="val 21429"/>
            </a:avLst>
          </a:prstGeom>
          <a:solidFill>
            <a:srgbClr val="3D4F86"/>
          </a:solidFill>
          <a:ln w="12700">
            <a:solidFill>
              <a:srgbClr val="3D4F86"/>
            </a:solidFill>
            <a:prstDash val="solid"/>
          </a:ln>
        </p:spPr>
        <p:txBody>
          <a:bodyPr/>
          <a:lstStyle/>
          <a:p>
            <a:endParaRPr lang="en-MX"/>
          </a:p>
        </p:txBody>
      </p:sp>
      <p:sp>
        <p:nvSpPr>
          <p:cNvPr id="7" name="Text 5"/>
          <p:cNvSpPr txBox="1"/>
          <p:nvPr/>
        </p:nvSpPr>
        <p:spPr>
          <a:xfrm>
            <a:off x="795528" y="5833872"/>
            <a:ext cx="1188720" cy="237744"/>
          </a:xfrm>
          <a:prstGeom prst="rect">
            <a:avLst/>
          </a:prstGeom>
          <a:noFill/>
          <a:ln/>
        </p:spPr>
        <p:txBody>
          <a:bodyPr wrap="square" lIns="0" tIns="0" rIns="0" bIns="0" rtlCol="0" anchor="ctr"/>
          <a:lstStyle/>
          <a:p>
            <a:pPr marL="0" indent="0">
              <a:buNone/>
            </a:pPr>
            <a:r>
              <a:rPr lang="en-US" sz="1100" dirty="0">
                <a:solidFill>
                  <a:srgbClr val="5B6475"/>
                </a:solidFill>
                <a:latin typeface="Calibri" pitchFamily="34" charset="0"/>
                <a:ea typeface="Calibri" pitchFamily="34" charset="-122"/>
                <a:cs typeface="Calibri" pitchFamily="34" charset="-120"/>
              </a:rPr>
              <a:t>Stage</a:t>
            </a:r>
            <a:endParaRPr lang="en-US" sz="1100" dirty="0"/>
          </a:p>
        </p:txBody>
      </p:sp>
      <p:sp>
        <p:nvSpPr>
          <p:cNvPr id="8" name="Shape 6"/>
          <p:cNvSpPr/>
          <p:nvPr/>
        </p:nvSpPr>
        <p:spPr>
          <a:xfrm>
            <a:off x="1504188" y="5888736"/>
            <a:ext cx="128016" cy="128016"/>
          </a:xfrm>
          <a:prstGeom prst="roundRect">
            <a:avLst>
              <a:gd name="adj" fmla="val 21429"/>
            </a:avLst>
          </a:prstGeom>
          <a:solidFill>
            <a:srgbClr val="2E7A57"/>
          </a:solidFill>
          <a:ln w="12700">
            <a:solidFill>
              <a:srgbClr val="2E7A57"/>
            </a:solidFill>
            <a:prstDash val="solid"/>
          </a:ln>
        </p:spPr>
        <p:txBody>
          <a:bodyPr/>
          <a:lstStyle/>
          <a:p>
            <a:endParaRPr lang="en-MX"/>
          </a:p>
        </p:txBody>
      </p:sp>
      <p:sp>
        <p:nvSpPr>
          <p:cNvPr id="9" name="Text 7"/>
          <p:cNvSpPr txBox="1"/>
          <p:nvPr/>
        </p:nvSpPr>
        <p:spPr>
          <a:xfrm>
            <a:off x="1687068" y="5833872"/>
            <a:ext cx="1188720" cy="237744"/>
          </a:xfrm>
          <a:prstGeom prst="rect">
            <a:avLst/>
          </a:prstGeom>
          <a:noFill/>
          <a:ln/>
        </p:spPr>
        <p:txBody>
          <a:bodyPr wrap="square" lIns="0" tIns="0" rIns="0" bIns="0" rtlCol="0" anchor="ctr"/>
          <a:lstStyle/>
          <a:p>
            <a:pPr marL="0" indent="0">
              <a:buNone/>
            </a:pPr>
            <a:r>
              <a:rPr lang="en-US" sz="1100" dirty="0">
                <a:solidFill>
                  <a:srgbClr val="5B6475"/>
                </a:solidFill>
                <a:latin typeface="Calibri" pitchFamily="34" charset="0"/>
                <a:ea typeface="Calibri" pitchFamily="34" charset="-122"/>
                <a:cs typeface="Calibri" pitchFamily="34" charset="-120"/>
              </a:rPr>
              <a:t>Purchase</a:t>
            </a:r>
            <a:endParaRPr lang="en-US" sz="1100" dirty="0"/>
          </a:p>
        </p:txBody>
      </p:sp>
      <p:sp>
        <p:nvSpPr>
          <p:cNvPr id="10" name="Shape 8"/>
          <p:cNvSpPr/>
          <p:nvPr/>
        </p:nvSpPr>
        <p:spPr>
          <a:xfrm>
            <a:off x="2473452" y="5888736"/>
            <a:ext cx="128016" cy="128016"/>
          </a:xfrm>
          <a:prstGeom prst="roundRect">
            <a:avLst>
              <a:gd name="adj" fmla="val 21429"/>
            </a:avLst>
          </a:prstGeom>
          <a:solidFill>
            <a:srgbClr val="9A3D6A"/>
          </a:solidFill>
          <a:ln w="12700">
            <a:solidFill>
              <a:srgbClr val="9A3D6A"/>
            </a:solidFill>
            <a:prstDash val="solid"/>
          </a:ln>
        </p:spPr>
        <p:txBody>
          <a:bodyPr/>
          <a:lstStyle/>
          <a:p>
            <a:endParaRPr lang="en-MX"/>
          </a:p>
        </p:txBody>
      </p:sp>
      <p:sp>
        <p:nvSpPr>
          <p:cNvPr id="11" name="Text 9"/>
          <p:cNvSpPr txBox="1"/>
          <p:nvPr/>
        </p:nvSpPr>
        <p:spPr>
          <a:xfrm>
            <a:off x="2656332" y="5833872"/>
            <a:ext cx="1188720" cy="237744"/>
          </a:xfrm>
          <a:prstGeom prst="rect">
            <a:avLst/>
          </a:prstGeom>
          <a:noFill/>
          <a:ln/>
        </p:spPr>
        <p:txBody>
          <a:bodyPr wrap="square" lIns="0" tIns="0" rIns="0" bIns="0" rtlCol="0" anchor="ctr"/>
          <a:lstStyle/>
          <a:p>
            <a:pPr marL="0" indent="0">
              <a:buNone/>
            </a:pPr>
            <a:r>
              <a:rPr lang="en-US" sz="1100" dirty="0">
                <a:solidFill>
                  <a:srgbClr val="5B6475"/>
                </a:solidFill>
                <a:latin typeface="Calibri" pitchFamily="34" charset="0"/>
                <a:ea typeface="Calibri" pitchFamily="34" charset="-122"/>
                <a:cs typeface="Calibri" pitchFamily="34" charset="-120"/>
              </a:rPr>
              <a:t>Recovery</a:t>
            </a:r>
            <a:endParaRPr lang="en-US" sz="1100" dirty="0"/>
          </a:p>
        </p:txBody>
      </p:sp>
      <p:sp>
        <p:nvSpPr>
          <p:cNvPr id="12" name="Shape 10"/>
          <p:cNvSpPr/>
          <p:nvPr/>
        </p:nvSpPr>
        <p:spPr>
          <a:xfrm>
            <a:off x="4160520" y="548640"/>
            <a:ext cx="3931920" cy="493776"/>
          </a:xfrm>
          <a:prstGeom prst="roundRect">
            <a:avLst>
              <a:gd name="adj" fmla="val 14815"/>
            </a:avLst>
          </a:prstGeom>
          <a:solidFill>
            <a:srgbClr val="FFFFFF"/>
          </a:solidFill>
          <a:ln w="9525">
            <a:solidFill>
              <a:srgbClr val="DDE1E8"/>
            </a:solidFill>
            <a:prstDash val="solid"/>
          </a:ln>
        </p:spPr>
        <p:txBody>
          <a:bodyPr/>
          <a:lstStyle/>
          <a:p>
            <a:endParaRPr lang="en-MX"/>
          </a:p>
        </p:txBody>
      </p:sp>
      <p:sp>
        <p:nvSpPr>
          <p:cNvPr id="13" name="Text 11"/>
          <p:cNvSpPr txBox="1"/>
          <p:nvPr/>
        </p:nvSpPr>
        <p:spPr>
          <a:xfrm>
            <a:off x="4297680" y="548640"/>
            <a:ext cx="3657600" cy="493776"/>
          </a:xfrm>
          <a:prstGeom prst="rect">
            <a:avLst/>
          </a:prstGeom>
          <a:noFill/>
          <a:ln/>
        </p:spPr>
        <p:txBody>
          <a:bodyPr wrap="square" lIns="0" tIns="0" rIns="0" bIns="0" rtlCol="0" anchor="ctr"/>
          <a:lstStyle/>
          <a:p>
            <a:pPr marL="0" indent="0">
              <a:buNone/>
            </a:pPr>
            <a:r>
              <a:rPr lang="en-US" sz="1250" b="1" dirty="0">
                <a:solidFill>
                  <a:srgbClr val="1B2230"/>
                </a:solidFill>
                <a:latin typeface="Calibri" pitchFamily="34" charset="0"/>
                <a:ea typeface="Calibri" pitchFamily="34" charset="-122"/>
                <a:cs typeface="Calibri" pitchFamily="34" charset="-120"/>
              </a:rPr>
              <a:t>Visits the site</a:t>
            </a:r>
            <a:endParaRPr lang="en-US" sz="1250" dirty="0"/>
          </a:p>
          <a:p>
            <a:pPr marL="0" indent="0">
              <a:buNone/>
            </a:pPr>
            <a:r>
              <a:rPr lang="en-US" sz="1050" dirty="0">
                <a:solidFill>
                  <a:srgbClr val="5B6475"/>
                </a:solidFill>
                <a:latin typeface="Calibri" pitchFamily="34" charset="0"/>
                <a:ea typeface="Calibri" pitchFamily="34" charset="-122"/>
                <a:cs typeface="Calibri" pitchFamily="34" charset="-120"/>
              </a:rPr>
              <a:t>Organic, paid, referrals</a:t>
            </a:r>
            <a:endParaRPr lang="en-US" sz="1250" dirty="0"/>
          </a:p>
        </p:txBody>
      </p:sp>
      <p:sp>
        <p:nvSpPr>
          <p:cNvPr id="14" name="Shape 12"/>
          <p:cNvSpPr/>
          <p:nvPr/>
        </p:nvSpPr>
        <p:spPr>
          <a:xfrm>
            <a:off x="4160520" y="1161288"/>
            <a:ext cx="3931920" cy="493776"/>
          </a:xfrm>
          <a:prstGeom prst="roundRect">
            <a:avLst>
              <a:gd name="adj" fmla="val 14815"/>
            </a:avLst>
          </a:prstGeom>
          <a:solidFill>
            <a:srgbClr val="E9ECF6"/>
          </a:solidFill>
          <a:ln w="9525">
            <a:solidFill>
              <a:srgbClr val="E9ECF6"/>
            </a:solidFill>
            <a:prstDash val="solid"/>
          </a:ln>
        </p:spPr>
        <p:txBody>
          <a:bodyPr/>
          <a:lstStyle/>
          <a:p>
            <a:endParaRPr lang="en-MX"/>
          </a:p>
        </p:txBody>
      </p:sp>
      <p:sp>
        <p:nvSpPr>
          <p:cNvPr id="15" name="Text 13"/>
          <p:cNvSpPr txBox="1"/>
          <p:nvPr/>
        </p:nvSpPr>
        <p:spPr>
          <a:xfrm>
            <a:off x="4297680" y="1161288"/>
            <a:ext cx="3657600" cy="493776"/>
          </a:xfrm>
          <a:prstGeom prst="rect">
            <a:avLst/>
          </a:prstGeom>
          <a:noFill/>
          <a:ln/>
        </p:spPr>
        <p:txBody>
          <a:bodyPr wrap="square" lIns="0" tIns="0" rIns="0" bIns="0" rtlCol="0" anchor="ctr"/>
          <a:lstStyle/>
          <a:p>
            <a:pPr marL="0" indent="0">
              <a:buNone/>
            </a:pPr>
            <a:r>
              <a:rPr lang="en-US" sz="1250" b="1" dirty="0">
                <a:solidFill>
                  <a:srgbClr val="3D4F86"/>
                </a:solidFill>
                <a:latin typeface="Calibri" pitchFamily="34" charset="0"/>
                <a:ea typeface="Calibri" pitchFamily="34" charset="-122"/>
                <a:cs typeface="Calibri" pitchFamily="34" charset="-120"/>
              </a:rPr>
              <a:t>Starts the Financial Mini Profile</a:t>
            </a:r>
            <a:endParaRPr lang="en-US" sz="1250" dirty="0"/>
          </a:p>
          <a:p>
            <a:pPr marL="0" indent="0">
              <a:buNone/>
            </a:pPr>
            <a:r>
              <a:rPr lang="en-US" sz="1050" dirty="0">
                <a:solidFill>
                  <a:srgbClr val="5B6475"/>
                </a:solidFill>
                <a:latin typeface="Calibri" pitchFamily="34" charset="0"/>
                <a:ea typeface="Calibri" pitchFamily="34" charset="-122"/>
                <a:cs typeface="Calibri" pitchFamily="34" charset="-120"/>
              </a:rPr>
              <a:t>Leaves contact details and WhatsApp</a:t>
            </a:r>
            <a:endParaRPr lang="en-US" sz="1250" dirty="0"/>
          </a:p>
        </p:txBody>
      </p:sp>
      <p:sp>
        <p:nvSpPr>
          <p:cNvPr id="16" name="Shape 14"/>
          <p:cNvSpPr/>
          <p:nvPr/>
        </p:nvSpPr>
        <p:spPr>
          <a:xfrm>
            <a:off x="8092440" y="1408176"/>
            <a:ext cx="256032" cy="0"/>
          </a:xfrm>
          <a:prstGeom prst="line">
            <a:avLst/>
          </a:prstGeom>
          <a:noFill/>
          <a:ln w="9525">
            <a:solidFill>
              <a:srgbClr val="A0A7B4"/>
            </a:solidFill>
            <a:prstDash val="solid"/>
          </a:ln>
        </p:spPr>
        <p:txBody>
          <a:bodyPr/>
          <a:lstStyle/>
          <a:p>
            <a:endParaRPr lang="en-MX"/>
          </a:p>
        </p:txBody>
      </p:sp>
      <p:sp>
        <p:nvSpPr>
          <p:cNvPr id="17" name="Shape 15"/>
          <p:cNvSpPr/>
          <p:nvPr/>
        </p:nvSpPr>
        <p:spPr>
          <a:xfrm>
            <a:off x="8348472" y="1161288"/>
            <a:ext cx="3230575" cy="493776"/>
          </a:xfrm>
          <a:prstGeom prst="roundRect">
            <a:avLst>
              <a:gd name="adj" fmla="val 14815"/>
            </a:avLst>
          </a:prstGeom>
          <a:solidFill>
            <a:srgbClr val="F5E6EE"/>
          </a:solidFill>
          <a:ln w="9525">
            <a:solidFill>
              <a:srgbClr val="F5E6EE"/>
            </a:solidFill>
            <a:prstDash val="solid"/>
          </a:ln>
        </p:spPr>
        <p:txBody>
          <a:bodyPr/>
          <a:lstStyle/>
          <a:p>
            <a:endParaRPr lang="en-MX"/>
          </a:p>
        </p:txBody>
      </p:sp>
      <p:sp>
        <p:nvSpPr>
          <p:cNvPr id="18" name="Text 16"/>
          <p:cNvSpPr txBox="1"/>
          <p:nvPr/>
        </p:nvSpPr>
        <p:spPr>
          <a:xfrm>
            <a:off x="8485632" y="1161288"/>
            <a:ext cx="2956255" cy="493776"/>
          </a:xfrm>
          <a:prstGeom prst="rect">
            <a:avLst/>
          </a:prstGeom>
          <a:noFill/>
          <a:ln/>
        </p:spPr>
        <p:txBody>
          <a:bodyPr wrap="square" lIns="0" tIns="0" rIns="0" bIns="0" rtlCol="0" anchor="ctr"/>
          <a:lstStyle/>
          <a:p>
            <a:pPr marL="0" indent="0">
              <a:buNone/>
            </a:pPr>
            <a:r>
              <a:rPr lang="en-US" sz="1250" b="1" dirty="0">
                <a:solidFill>
                  <a:srgbClr val="9A3D6A"/>
                </a:solidFill>
                <a:latin typeface="Calibri" pitchFamily="34" charset="0"/>
                <a:ea typeface="Calibri" pitchFamily="34" charset="-122"/>
                <a:cs typeface="Calibri" pitchFamily="34" charset="-120"/>
              </a:rPr>
              <a:t>Flow A</a:t>
            </a:r>
            <a:endParaRPr lang="en-US" sz="1250" dirty="0"/>
          </a:p>
          <a:p>
            <a:pPr marL="0" indent="0">
              <a:buNone/>
            </a:pPr>
            <a:r>
              <a:rPr lang="en-US" sz="1050" dirty="0">
                <a:solidFill>
                  <a:srgbClr val="5B6475"/>
                </a:solidFill>
                <a:latin typeface="Calibri" pitchFamily="34" charset="0"/>
                <a:ea typeface="Calibri" pitchFamily="34" charset="-122"/>
                <a:cs typeface="Calibri" pitchFamily="34" charset="-120"/>
              </a:rPr>
              <a:t>Dropped off halfway</a:t>
            </a:r>
            <a:endParaRPr lang="en-US" sz="1250" dirty="0"/>
          </a:p>
        </p:txBody>
      </p:sp>
      <p:sp>
        <p:nvSpPr>
          <p:cNvPr id="19" name="Shape 17"/>
          <p:cNvSpPr/>
          <p:nvPr/>
        </p:nvSpPr>
        <p:spPr>
          <a:xfrm>
            <a:off x="4160520" y="1773936"/>
            <a:ext cx="3931920" cy="493776"/>
          </a:xfrm>
          <a:prstGeom prst="roundRect">
            <a:avLst>
              <a:gd name="adj" fmla="val 14815"/>
            </a:avLst>
          </a:prstGeom>
          <a:solidFill>
            <a:srgbClr val="E9ECF6"/>
          </a:solidFill>
          <a:ln w="9525">
            <a:solidFill>
              <a:srgbClr val="E9ECF6"/>
            </a:solidFill>
            <a:prstDash val="solid"/>
          </a:ln>
        </p:spPr>
        <p:txBody>
          <a:bodyPr/>
          <a:lstStyle/>
          <a:p>
            <a:endParaRPr lang="en-MX"/>
          </a:p>
        </p:txBody>
      </p:sp>
      <p:sp>
        <p:nvSpPr>
          <p:cNvPr id="20" name="Text 18"/>
          <p:cNvSpPr txBox="1"/>
          <p:nvPr/>
        </p:nvSpPr>
        <p:spPr>
          <a:xfrm>
            <a:off x="4297680" y="1773936"/>
            <a:ext cx="3657600" cy="493776"/>
          </a:xfrm>
          <a:prstGeom prst="rect">
            <a:avLst/>
          </a:prstGeom>
          <a:noFill/>
          <a:ln/>
        </p:spPr>
        <p:txBody>
          <a:bodyPr wrap="square" lIns="0" tIns="0" rIns="0" bIns="0" rtlCol="0" anchor="ctr"/>
          <a:lstStyle/>
          <a:p>
            <a:pPr marL="0" indent="0">
              <a:buNone/>
            </a:pPr>
            <a:r>
              <a:rPr lang="en-US" sz="1250" b="1" dirty="0">
                <a:solidFill>
                  <a:srgbClr val="3D4F86"/>
                </a:solidFill>
                <a:latin typeface="Calibri" pitchFamily="34" charset="0"/>
                <a:ea typeface="Calibri" pitchFamily="34" charset="-122"/>
                <a:cs typeface="Calibri" pitchFamily="34" charset="-120"/>
              </a:rPr>
              <a:t>Sees the free result</a:t>
            </a:r>
            <a:endParaRPr lang="en-US" sz="1250" dirty="0"/>
          </a:p>
          <a:p>
            <a:pPr marL="0" indent="0">
              <a:buNone/>
            </a:pPr>
            <a:r>
              <a:rPr lang="en-US" sz="1050" dirty="0">
                <a:solidFill>
                  <a:srgbClr val="5B6475"/>
                </a:solidFill>
                <a:latin typeface="Calibri" pitchFamily="34" charset="0"/>
                <a:ea typeface="Calibri" pitchFamily="34" charset="-122"/>
                <a:cs typeface="Calibri" pitchFamily="34" charset="-120"/>
              </a:rPr>
              <a:t>Lowest ability and offer</a:t>
            </a:r>
            <a:endParaRPr lang="en-US" sz="1250" dirty="0"/>
          </a:p>
        </p:txBody>
      </p:sp>
      <p:sp>
        <p:nvSpPr>
          <p:cNvPr id="21" name="Shape 19"/>
          <p:cNvSpPr/>
          <p:nvPr/>
        </p:nvSpPr>
        <p:spPr>
          <a:xfrm>
            <a:off x="8092440" y="2020824"/>
            <a:ext cx="256032" cy="0"/>
          </a:xfrm>
          <a:prstGeom prst="line">
            <a:avLst/>
          </a:prstGeom>
          <a:noFill/>
          <a:ln w="9525">
            <a:solidFill>
              <a:srgbClr val="A0A7B4"/>
            </a:solidFill>
            <a:prstDash val="solid"/>
          </a:ln>
        </p:spPr>
        <p:txBody>
          <a:bodyPr/>
          <a:lstStyle/>
          <a:p>
            <a:endParaRPr lang="en-MX"/>
          </a:p>
        </p:txBody>
      </p:sp>
      <p:sp>
        <p:nvSpPr>
          <p:cNvPr id="22" name="Shape 20"/>
          <p:cNvSpPr/>
          <p:nvPr/>
        </p:nvSpPr>
        <p:spPr>
          <a:xfrm>
            <a:off x="8348472" y="1773936"/>
            <a:ext cx="3230575" cy="493776"/>
          </a:xfrm>
          <a:prstGeom prst="roundRect">
            <a:avLst>
              <a:gd name="adj" fmla="val 14815"/>
            </a:avLst>
          </a:prstGeom>
          <a:solidFill>
            <a:srgbClr val="F5E6EE"/>
          </a:solidFill>
          <a:ln w="9525">
            <a:solidFill>
              <a:srgbClr val="F5E6EE"/>
            </a:solidFill>
            <a:prstDash val="solid"/>
          </a:ln>
        </p:spPr>
        <p:txBody>
          <a:bodyPr/>
          <a:lstStyle/>
          <a:p>
            <a:endParaRPr lang="en-MX"/>
          </a:p>
        </p:txBody>
      </p:sp>
      <p:sp>
        <p:nvSpPr>
          <p:cNvPr id="23" name="Text 21"/>
          <p:cNvSpPr txBox="1"/>
          <p:nvPr/>
        </p:nvSpPr>
        <p:spPr>
          <a:xfrm>
            <a:off x="8485632" y="1773936"/>
            <a:ext cx="2956255" cy="493776"/>
          </a:xfrm>
          <a:prstGeom prst="rect">
            <a:avLst/>
          </a:prstGeom>
          <a:noFill/>
          <a:ln/>
        </p:spPr>
        <p:txBody>
          <a:bodyPr wrap="square" lIns="0" tIns="0" rIns="0" bIns="0" rtlCol="0" anchor="ctr"/>
          <a:lstStyle/>
          <a:p>
            <a:pPr marL="0" indent="0">
              <a:buNone/>
            </a:pPr>
            <a:r>
              <a:rPr lang="en-US" sz="1250" b="1" dirty="0">
                <a:solidFill>
                  <a:srgbClr val="9A3D6A"/>
                </a:solidFill>
                <a:latin typeface="Calibri" pitchFamily="34" charset="0"/>
                <a:ea typeface="Calibri" pitchFamily="34" charset="-122"/>
                <a:cs typeface="Calibri" pitchFamily="34" charset="-120"/>
              </a:rPr>
              <a:t>Flow B</a:t>
            </a:r>
            <a:endParaRPr lang="en-US" sz="1250" dirty="0"/>
          </a:p>
          <a:p>
            <a:pPr marL="0" indent="0">
              <a:buNone/>
            </a:pPr>
            <a:r>
              <a:rPr lang="en-US" sz="1050" dirty="0">
                <a:solidFill>
                  <a:srgbClr val="5B6475"/>
                </a:solidFill>
                <a:latin typeface="Calibri" pitchFamily="34" charset="0"/>
                <a:ea typeface="Calibri" pitchFamily="34" charset="-122"/>
                <a:cs typeface="Calibri" pitchFamily="34" charset="-120"/>
              </a:rPr>
              <a:t>Doesn't buy the full profile</a:t>
            </a:r>
            <a:endParaRPr lang="en-US" sz="1250" dirty="0"/>
          </a:p>
        </p:txBody>
      </p:sp>
      <p:sp>
        <p:nvSpPr>
          <p:cNvPr id="24" name="Shape 22"/>
          <p:cNvSpPr/>
          <p:nvPr/>
        </p:nvSpPr>
        <p:spPr>
          <a:xfrm>
            <a:off x="4160520" y="2386584"/>
            <a:ext cx="3931920" cy="493776"/>
          </a:xfrm>
          <a:prstGeom prst="roundRect">
            <a:avLst>
              <a:gd name="adj" fmla="val 14815"/>
            </a:avLst>
          </a:prstGeom>
          <a:solidFill>
            <a:srgbClr val="E3F1EA"/>
          </a:solidFill>
          <a:ln w="9525">
            <a:solidFill>
              <a:srgbClr val="E3F1EA"/>
            </a:solidFill>
            <a:prstDash val="solid"/>
          </a:ln>
        </p:spPr>
        <p:txBody>
          <a:bodyPr/>
          <a:lstStyle/>
          <a:p>
            <a:endParaRPr lang="en-MX"/>
          </a:p>
        </p:txBody>
      </p:sp>
      <p:sp>
        <p:nvSpPr>
          <p:cNvPr id="25" name="Text 23"/>
          <p:cNvSpPr txBox="1"/>
          <p:nvPr/>
        </p:nvSpPr>
        <p:spPr>
          <a:xfrm>
            <a:off x="4297680" y="2386584"/>
            <a:ext cx="3657600" cy="493776"/>
          </a:xfrm>
          <a:prstGeom prst="rect">
            <a:avLst/>
          </a:prstGeom>
          <a:noFill/>
          <a:ln/>
        </p:spPr>
        <p:txBody>
          <a:bodyPr wrap="square" lIns="0" tIns="0" rIns="0" bIns="0" rtlCol="0" anchor="ctr"/>
          <a:lstStyle/>
          <a:p>
            <a:pPr marL="0" indent="0">
              <a:buNone/>
            </a:pPr>
            <a:r>
              <a:rPr lang="en-US" sz="1250" b="1" dirty="0">
                <a:solidFill>
                  <a:srgbClr val="2E7A57"/>
                </a:solidFill>
                <a:latin typeface="Calibri" pitchFamily="34" charset="0"/>
                <a:ea typeface="Calibri" pitchFamily="34" charset="-122"/>
                <a:cs typeface="Calibri" pitchFamily="34" charset="-120"/>
              </a:rPr>
              <a:t>Buys the Financial Health Profile</a:t>
            </a:r>
            <a:endParaRPr lang="en-US" sz="1250" dirty="0"/>
          </a:p>
          <a:p>
            <a:pPr marL="0" indent="0">
              <a:buNone/>
            </a:pPr>
            <a:r>
              <a:rPr lang="en-US" sz="1050" dirty="0">
                <a:solidFill>
                  <a:srgbClr val="5B6475"/>
                </a:solidFill>
                <a:latin typeface="Calibri" pitchFamily="34" charset="0"/>
                <a:ea typeface="Calibri" pitchFamily="34" charset="-122"/>
                <a:cs typeface="Calibri" pitchFamily="34" charset="-120"/>
              </a:rPr>
              <a:t>$500, first sale</a:t>
            </a:r>
            <a:endParaRPr lang="en-US" sz="1250" dirty="0"/>
          </a:p>
        </p:txBody>
      </p:sp>
      <p:sp>
        <p:nvSpPr>
          <p:cNvPr id="26" name="Shape 24"/>
          <p:cNvSpPr/>
          <p:nvPr/>
        </p:nvSpPr>
        <p:spPr>
          <a:xfrm>
            <a:off x="8092440" y="2633472"/>
            <a:ext cx="256032" cy="0"/>
          </a:xfrm>
          <a:prstGeom prst="line">
            <a:avLst/>
          </a:prstGeom>
          <a:noFill/>
          <a:ln w="9525">
            <a:solidFill>
              <a:srgbClr val="A0A7B4"/>
            </a:solidFill>
            <a:prstDash val="solid"/>
          </a:ln>
        </p:spPr>
        <p:txBody>
          <a:bodyPr/>
          <a:lstStyle/>
          <a:p>
            <a:endParaRPr lang="en-MX"/>
          </a:p>
        </p:txBody>
      </p:sp>
      <p:sp>
        <p:nvSpPr>
          <p:cNvPr id="27" name="Shape 25"/>
          <p:cNvSpPr/>
          <p:nvPr/>
        </p:nvSpPr>
        <p:spPr>
          <a:xfrm>
            <a:off x="8348472" y="2386584"/>
            <a:ext cx="3230575" cy="493776"/>
          </a:xfrm>
          <a:prstGeom prst="roundRect">
            <a:avLst>
              <a:gd name="adj" fmla="val 14815"/>
            </a:avLst>
          </a:prstGeom>
          <a:solidFill>
            <a:srgbClr val="F5E6EE"/>
          </a:solidFill>
          <a:ln w="9525">
            <a:solidFill>
              <a:srgbClr val="F5E6EE"/>
            </a:solidFill>
            <a:prstDash val="solid"/>
          </a:ln>
        </p:spPr>
        <p:txBody>
          <a:bodyPr/>
          <a:lstStyle/>
          <a:p>
            <a:endParaRPr lang="en-MX"/>
          </a:p>
        </p:txBody>
      </p:sp>
      <p:sp>
        <p:nvSpPr>
          <p:cNvPr id="28" name="Text 26"/>
          <p:cNvSpPr txBox="1"/>
          <p:nvPr/>
        </p:nvSpPr>
        <p:spPr>
          <a:xfrm>
            <a:off x="8485632" y="2386584"/>
            <a:ext cx="2956255" cy="493776"/>
          </a:xfrm>
          <a:prstGeom prst="rect">
            <a:avLst/>
          </a:prstGeom>
          <a:noFill/>
          <a:ln/>
        </p:spPr>
        <p:txBody>
          <a:bodyPr wrap="square" lIns="0" tIns="0" rIns="0" bIns="0" rtlCol="0" anchor="ctr"/>
          <a:lstStyle/>
          <a:p>
            <a:pPr marL="0" indent="0">
              <a:buNone/>
            </a:pPr>
            <a:r>
              <a:rPr lang="en-US" sz="1250" b="1" dirty="0">
                <a:solidFill>
                  <a:srgbClr val="9A3D6A"/>
                </a:solidFill>
                <a:latin typeface="Calibri" pitchFamily="34" charset="0"/>
                <a:ea typeface="Calibri" pitchFamily="34" charset="-122"/>
                <a:cs typeface="Calibri" pitchFamily="34" charset="-120"/>
              </a:rPr>
              <a:t>Flow C</a:t>
            </a:r>
            <a:endParaRPr lang="en-US" sz="1250" dirty="0"/>
          </a:p>
          <a:p>
            <a:pPr marL="0" indent="0">
              <a:buNone/>
            </a:pPr>
            <a:r>
              <a:rPr lang="en-US" sz="1050" dirty="0">
                <a:solidFill>
                  <a:srgbClr val="5B6475"/>
                </a:solidFill>
                <a:latin typeface="Calibri" pitchFamily="34" charset="0"/>
                <a:ea typeface="Calibri" pitchFamily="34" charset="-122"/>
                <a:cs typeface="Calibri" pitchFamily="34" charset="-120"/>
              </a:rPr>
              <a:t>Paid, hasn't finished</a:t>
            </a:r>
            <a:endParaRPr lang="en-US" sz="1250" dirty="0"/>
          </a:p>
        </p:txBody>
      </p:sp>
      <p:sp>
        <p:nvSpPr>
          <p:cNvPr id="29" name="Shape 27"/>
          <p:cNvSpPr/>
          <p:nvPr/>
        </p:nvSpPr>
        <p:spPr>
          <a:xfrm>
            <a:off x="4160520" y="2999232"/>
            <a:ext cx="3931920" cy="493776"/>
          </a:xfrm>
          <a:prstGeom prst="roundRect">
            <a:avLst>
              <a:gd name="adj" fmla="val 14815"/>
            </a:avLst>
          </a:prstGeom>
          <a:solidFill>
            <a:srgbClr val="E9ECF6"/>
          </a:solidFill>
          <a:ln w="9525">
            <a:solidFill>
              <a:srgbClr val="E9ECF6"/>
            </a:solidFill>
            <a:prstDash val="solid"/>
          </a:ln>
        </p:spPr>
        <p:txBody>
          <a:bodyPr/>
          <a:lstStyle/>
          <a:p>
            <a:endParaRPr lang="en-MX"/>
          </a:p>
        </p:txBody>
      </p:sp>
      <p:sp>
        <p:nvSpPr>
          <p:cNvPr id="30" name="Text 28"/>
          <p:cNvSpPr txBox="1"/>
          <p:nvPr/>
        </p:nvSpPr>
        <p:spPr>
          <a:xfrm>
            <a:off x="4297680" y="2999232"/>
            <a:ext cx="3657600" cy="493776"/>
          </a:xfrm>
          <a:prstGeom prst="rect">
            <a:avLst/>
          </a:prstGeom>
          <a:noFill/>
          <a:ln/>
        </p:spPr>
        <p:txBody>
          <a:bodyPr wrap="square" lIns="0" tIns="0" rIns="0" bIns="0" rtlCol="0" anchor="ctr"/>
          <a:lstStyle/>
          <a:p>
            <a:pPr marL="0" indent="0">
              <a:buNone/>
            </a:pPr>
            <a:r>
              <a:rPr lang="en-US" sz="1250" b="1" dirty="0">
                <a:solidFill>
                  <a:srgbClr val="3D4F86"/>
                </a:solidFill>
                <a:latin typeface="Calibri" pitchFamily="34" charset="0"/>
                <a:ea typeface="Calibri" pitchFamily="34" charset="-122"/>
                <a:cs typeface="Calibri" pitchFamily="34" charset="-120"/>
              </a:rPr>
              <a:t>Gets chart, report and workbook</a:t>
            </a:r>
            <a:endParaRPr lang="en-US" sz="1250" dirty="0"/>
          </a:p>
          <a:p>
            <a:pPr marL="0" indent="0">
              <a:buNone/>
            </a:pPr>
            <a:r>
              <a:rPr lang="en-US" sz="1050" dirty="0">
                <a:solidFill>
                  <a:srgbClr val="5B6475"/>
                </a:solidFill>
                <a:latin typeface="Calibri" pitchFamily="34" charset="0"/>
                <a:ea typeface="Calibri" pitchFamily="34" charset="-122"/>
                <a:cs typeface="Calibri" pitchFamily="34" charset="-120"/>
              </a:rPr>
              <a:t>Results generated automatically</a:t>
            </a:r>
            <a:endParaRPr lang="en-US" sz="1250" dirty="0"/>
          </a:p>
        </p:txBody>
      </p:sp>
      <p:sp>
        <p:nvSpPr>
          <p:cNvPr id="31" name="Shape 29"/>
          <p:cNvSpPr/>
          <p:nvPr/>
        </p:nvSpPr>
        <p:spPr>
          <a:xfrm>
            <a:off x="8092440" y="3246120"/>
            <a:ext cx="256032" cy="0"/>
          </a:xfrm>
          <a:prstGeom prst="line">
            <a:avLst/>
          </a:prstGeom>
          <a:noFill/>
          <a:ln w="9525">
            <a:solidFill>
              <a:srgbClr val="A0A7B4"/>
            </a:solidFill>
            <a:prstDash val="solid"/>
          </a:ln>
        </p:spPr>
        <p:txBody>
          <a:bodyPr/>
          <a:lstStyle/>
          <a:p>
            <a:endParaRPr lang="en-MX"/>
          </a:p>
        </p:txBody>
      </p:sp>
      <p:sp>
        <p:nvSpPr>
          <p:cNvPr id="32" name="Shape 30"/>
          <p:cNvSpPr/>
          <p:nvPr/>
        </p:nvSpPr>
        <p:spPr>
          <a:xfrm>
            <a:off x="8348472" y="2999232"/>
            <a:ext cx="3230575" cy="493776"/>
          </a:xfrm>
          <a:prstGeom prst="roundRect">
            <a:avLst>
              <a:gd name="adj" fmla="val 14815"/>
            </a:avLst>
          </a:prstGeom>
          <a:solidFill>
            <a:srgbClr val="F5E6EE"/>
          </a:solidFill>
          <a:ln w="9525">
            <a:solidFill>
              <a:srgbClr val="F5E6EE"/>
            </a:solidFill>
            <a:prstDash val="solid"/>
          </a:ln>
        </p:spPr>
        <p:txBody>
          <a:bodyPr/>
          <a:lstStyle/>
          <a:p>
            <a:endParaRPr lang="en-MX"/>
          </a:p>
        </p:txBody>
      </p:sp>
      <p:sp>
        <p:nvSpPr>
          <p:cNvPr id="33" name="Text 31"/>
          <p:cNvSpPr txBox="1"/>
          <p:nvPr/>
        </p:nvSpPr>
        <p:spPr>
          <a:xfrm>
            <a:off x="8485632" y="2999232"/>
            <a:ext cx="2956255" cy="493776"/>
          </a:xfrm>
          <a:prstGeom prst="rect">
            <a:avLst/>
          </a:prstGeom>
          <a:noFill/>
          <a:ln/>
        </p:spPr>
        <p:txBody>
          <a:bodyPr wrap="square" lIns="0" tIns="0" rIns="0" bIns="0" rtlCol="0" anchor="ctr"/>
          <a:lstStyle/>
          <a:p>
            <a:pPr marL="0" indent="0">
              <a:buNone/>
            </a:pPr>
            <a:r>
              <a:rPr lang="en-US" sz="1250" b="1" dirty="0">
                <a:solidFill>
                  <a:srgbClr val="9A3D6A"/>
                </a:solidFill>
                <a:latin typeface="Calibri" pitchFamily="34" charset="0"/>
                <a:ea typeface="Calibri" pitchFamily="34" charset="-122"/>
                <a:cs typeface="Calibri" pitchFamily="34" charset="-120"/>
              </a:rPr>
              <a:t>Flow D</a:t>
            </a:r>
            <a:endParaRPr lang="en-US" sz="1250" dirty="0"/>
          </a:p>
          <a:p>
            <a:pPr marL="0" indent="0">
              <a:buNone/>
            </a:pPr>
            <a:r>
              <a:rPr lang="en-US" sz="1050" dirty="0">
                <a:solidFill>
                  <a:srgbClr val="5B6475"/>
                </a:solidFill>
                <a:latin typeface="Calibri" pitchFamily="34" charset="0"/>
                <a:ea typeface="Calibri" pitchFamily="34" charset="-122"/>
                <a:cs typeface="Calibri" pitchFamily="34" charset="-120"/>
              </a:rPr>
              <a:t>Doesn't book the review</a:t>
            </a:r>
            <a:endParaRPr lang="en-US" sz="1250" dirty="0"/>
          </a:p>
        </p:txBody>
      </p:sp>
      <p:sp>
        <p:nvSpPr>
          <p:cNvPr id="34" name="Shape 32"/>
          <p:cNvSpPr/>
          <p:nvPr/>
        </p:nvSpPr>
        <p:spPr>
          <a:xfrm>
            <a:off x="4160520" y="3611880"/>
            <a:ext cx="3931920" cy="493776"/>
          </a:xfrm>
          <a:prstGeom prst="roundRect">
            <a:avLst>
              <a:gd name="adj" fmla="val 14815"/>
            </a:avLst>
          </a:prstGeom>
          <a:solidFill>
            <a:srgbClr val="E3F1EA"/>
          </a:solidFill>
          <a:ln w="9525">
            <a:solidFill>
              <a:srgbClr val="E3F1EA"/>
            </a:solidFill>
            <a:prstDash val="solid"/>
          </a:ln>
        </p:spPr>
        <p:txBody>
          <a:bodyPr/>
          <a:lstStyle/>
          <a:p>
            <a:endParaRPr lang="en-MX"/>
          </a:p>
        </p:txBody>
      </p:sp>
      <p:sp>
        <p:nvSpPr>
          <p:cNvPr id="35" name="Text 33"/>
          <p:cNvSpPr txBox="1"/>
          <p:nvPr/>
        </p:nvSpPr>
        <p:spPr>
          <a:xfrm>
            <a:off x="4297680" y="3611880"/>
            <a:ext cx="3657600" cy="493776"/>
          </a:xfrm>
          <a:prstGeom prst="rect">
            <a:avLst/>
          </a:prstGeom>
          <a:noFill/>
          <a:ln/>
        </p:spPr>
        <p:txBody>
          <a:bodyPr wrap="square" lIns="0" tIns="0" rIns="0" bIns="0" rtlCol="0" anchor="ctr"/>
          <a:lstStyle/>
          <a:p>
            <a:pPr marL="0" indent="0">
              <a:buNone/>
            </a:pPr>
            <a:r>
              <a:rPr lang="en-US" sz="1250" b="1" dirty="0">
                <a:solidFill>
                  <a:srgbClr val="2E7A57"/>
                </a:solidFill>
                <a:latin typeface="Calibri" pitchFamily="34" charset="0"/>
                <a:ea typeface="Calibri" pitchFamily="34" charset="-122"/>
                <a:cs typeface="Calibri" pitchFamily="34" charset="-120"/>
              </a:rPr>
              <a:t>Buys and books the Private Review</a:t>
            </a:r>
            <a:endParaRPr lang="en-US" sz="1250" dirty="0"/>
          </a:p>
          <a:p>
            <a:pPr marL="0" indent="0">
              <a:buNone/>
            </a:pPr>
            <a:r>
              <a:rPr lang="en-US" sz="1050" dirty="0">
                <a:solidFill>
                  <a:srgbClr val="5B6475"/>
                </a:solidFill>
                <a:latin typeface="Calibri" pitchFamily="34" charset="0"/>
                <a:ea typeface="Calibri" pitchFamily="34" charset="-122"/>
                <a:cs typeface="Calibri" pitchFamily="34" charset="-120"/>
              </a:rPr>
              <a:t>Second sale: {{precio_sesion}}</a:t>
            </a:r>
            <a:endParaRPr lang="en-US" sz="1250" dirty="0"/>
          </a:p>
        </p:txBody>
      </p:sp>
      <p:sp>
        <p:nvSpPr>
          <p:cNvPr id="36" name="Shape 34"/>
          <p:cNvSpPr/>
          <p:nvPr/>
        </p:nvSpPr>
        <p:spPr>
          <a:xfrm>
            <a:off x="8092440" y="3858768"/>
            <a:ext cx="256032" cy="0"/>
          </a:xfrm>
          <a:prstGeom prst="line">
            <a:avLst/>
          </a:prstGeom>
          <a:noFill/>
          <a:ln w="9525">
            <a:solidFill>
              <a:srgbClr val="A0A7B4"/>
            </a:solidFill>
            <a:prstDash val="solid"/>
          </a:ln>
        </p:spPr>
        <p:txBody>
          <a:bodyPr/>
          <a:lstStyle/>
          <a:p>
            <a:endParaRPr lang="en-MX"/>
          </a:p>
        </p:txBody>
      </p:sp>
      <p:sp>
        <p:nvSpPr>
          <p:cNvPr id="37" name="Shape 35"/>
          <p:cNvSpPr/>
          <p:nvPr/>
        </p:nvSpPr>
        <p:spPr>
          <a:xfrm>
            <a:off x="8348472" y="3611880"/>
            <a:ext cx="3230575" cy="493776"/>
          </a:xfrm>
          <a:prstGeom prst="roundRect">
            <a:avLst>
              <a:gd name="adj" fmla="val 14815"/>
            </a:avLst>
          </a:prstGeom>
          <a:solidFill>
            <a:srgbClr val="F5E6EE"/>
          </a:solidFill>
          <a:ln w="9525">
            <a:solidFill>
              <a:srgbClr val="F5E6EE"/>
            </a:solidFill>
            <a:prstDash val="solid"/>
          </a:ln>
        </p:spPr>
        <p:txBody>
          <a:bodyPr/>
          <a:lstStyle/>
          <a:p>
            <a:endParaRPr lang="en-MX"/>
          </a:p>
        </p:txBody>
      </p:sp>
      <p:sp>
        <p:nvSpPr>
          <p:cNvPr id="38" name="Text 36"/>
          <p:cNvSpPr txBox="1"/>
          <p:nvPr/>
        </p:nvSpPr>
        <p:spPr>
          <a:xfrm>
            <a:off x="8485632" y="3611880"/>
            <a:ext cx="2956255" cy="493776"/>
          </a:xfrm>
          <a:prstGeom prst="rect">
            <a:avLst/>
          </a:prstGeom>
          <a:noFill/>
          <a:ln/>
        </p:spPr>
        <p:txBody>
          <a:bodyPr wrap="square" lIns="0" tIns="0" rIns="0" bIns="0" rtlCol="0" anchor="ctr"/>
          <a:lstStyle/>
          <a:p>
            <a:pPr marL="0" indent="0">
              <a:buNone/>
            </a:pPr>
            <a:r>
              <a:rPr lang="en-US" sz="1250" b="1" dirty="0">
                <a:solidFill>
                  <a:srgbClr val="9A3D6A"/>
                </a:solidFill>
                <a:latin typeface="Calibri" pitchFamily="34" charset="0"/>
                <a:ea typeface="Calibri" pitchFamily="34" charset="-122"/>
                <a:cs typeface="Calibri" pitchFamily="34" charset="-120"/>
              </a:rPr>
              <a:t>Flow E</a:t>
            </a:r>
            <a:endParaRPr lang="en-US" sz="1250" dirty="0"/>
          </a:p>
          <a:p>
            <a:pPr marL="0" indent="0">
              <a:buNone/>
            </a:pPr>
            <a:r>
              <a:rPr lang="en-US" sz="1050" dirty="0">
                <a:solidFill>
                  <a:srgbClr val="5B6475"/>
                </a:solidFill>
                <a:latin typeface="Calibri" pitchFamily="34" charset="0"/>
                <a:ea typeface="Calibri" pitchFamily="34" charset="-122"/>
                <a:cs typeface="Calibri" pitchFamily="34" charset="-120"/>
              </a:rPr>
              <a:t>No-show</a:t>
            </a:r>
            <a:endParaRPr lang="en-US" sz="1250" dirty="0"/>
          </a:p>
        </p:txBody>
      </p:sp>
      <p:sp>
        <p:nvSpPr>
          <p:cNvPr id="39" name="Shape 37"/>
          <p:cNvSpPr/>
          <p:nvPr/>
        </p:nvSpPr>
        <p:spPr>
          <a:xfrm>
            <a:off x="4160520" y="4261104"/>
            <a:ext cx="7418527" cy="329184"/>
          </a:xfrm>
          <a:prstGeom prst="roundRect">
            <a:avLst>
              <a:gd name="adj" fmla="val 16667"/>
            </a:avLst>
          </a:prstGeom>
          <a:solidFill>
            <a:srgbClr val="E3F1EA"/>
          </a:solidFill>
          <a:ln w="12700">
            <a:solidFill>
              <a:srgbClr val="E3F1EA"/>
            </a:solidFill>
            <a:prstDash val="solid"/>
          </a:ln>
        </p:spPr>
        <p:txBody>
          <a:bodyPr/>
          <a:lstStyle/>
          <a:p>
            <a:endParaRPr lang="en-MX"/>
          </a:p>
        </p:txBody>
      </p:sp>
      <p:sp>
        <p:nvSpPr>
          <p:cNvPr id="40" name="Text 38"/>
          <p:cNvSpPr txBox="1"/>
          <p:nvPr/>
        </p:nvSpPr>
        <p:spPr>
          <a:xfrm>
            <a:off x="4297680" y="4261104"/>
            <a:ext cx="5486400" cy="329184"/>
          </a:xfrm>
          <a:prstGeom prst="rect">
            <a:avLst/>
          </a:prstGeom>
          <a:noFill/>
          <a:ln/>
        </p:spPr>
        <p:txBody>
          <a:bodyPr wrap="square" lIns="0" tIns="0" rIns="0" bIns="0" rtlCol="0" anchor="ctr"/>
          <a:lstStyle/>
          <a:p>
            <a:pPr marL="0" indent="0">
              <a:buNone/>
            </a:pPr>
            <a:r>
              <a:rPr lang="en-US" sz="1200" b="1" dirty="0">
                <a:solidFill>
                  <a:srgbClr val="2E7A57"/>
                </a:solidFill>
                <a:latin typeface="Calibri" pitchFamily="34" charset="0"/>
                <a:ea typeface="Calibri" pitchFamily="34" charset="-122"/>
                <a:cs typeface="Calibri" pitchFamily="34" charset="-120"/>
              </a:rPr>
              <a:t>First human contact: the Private Review with an ACLC coach</a:t>
            </a:r>
            <a:endParaRPr lang="en-US" sz="1200" dirty="0"/>
          </a:p>
        </p:txBody>
      </p:sp>
      <p:sp>
        <p:nvSpPr>
          <p:cNvPr id="41" name="Shape 39"/>
          <p:cNvSpPr/>
          <p:nvPr/>
        </p:nvSpPr>
        <p:spPr>
          <a:xfrm>
            <a:off x="4160520" y="4663440"/>
            <a:ext cx="3931920" cy="493776"/>
          </a:xfrm>
          <a:prstGeom prst="roundRect">
            <a:avLst>
              <a:gd name="adj" fmla="val 14815"/>
            </a:avLst>
          </a:prstGeom>
          <a:solidFill>
            <a:srgbClr val="E9ECF6"/>
          </a:solidFill>
          <a:ln w="9525">
            <a:solidFill>
              <a:srgbClr val="E9ECF6"/>
            </a:solidFill>
            <a:prstDash val="solid"/>
          </a:ln>
        </p:spPr>
        <p:txBody>
          <a:bodyPr/>
          <a:lstStyle/>
          <a:p>
            <a:endParaRPr lang="en-MX"/>
          </a:p>
        </p:txBody>
      </p:sp>
      <p:sp>
        <p:nvSpPr>
          <p:cNvPr id="42" name="Text 40"/>
          <p:cNvSpPr txBox="1"/>
          <p:nvPr/>
        </p:nvSpPr>
        <p:spPr>
          <a:xfrm>
            <a:off x="4297680" y="4663440"/>
            <a:ext cx="3657600" cy="493776"/>
          </a:xfrm>
          <a:prstGeom prst="rect">
            <a:avLst/>
          </a:prstGeom>
          <a:noFill/>
          <a:ln/>
        </p:spPr>
        <p:txBody>
          <a:bodyPr wrap="square" lIns="0" tIns="0" rIns="0" bIns="0" rtlCol="0" anchor="ctr"/>
          <a:lstStyle/>
          <a:p>
            <a:pPr marL="0" indent="0">
              <a:buNone/>
            </a:pPr>
            <a:r>
              <a:rPr lang="en-US" sz="1250" b="1" dirty="0">
                <a:solidFill>
                  <a:srgbClr val="3D4F86"/>
                </a:solidFill>
                <a:latin typeface="Calibri" pitchFamily="34" charset="0"/>
                <a:ea typeface="Calibri" pitchFamily="34" charset="-122"/>
                <a:cs typeface="Calibri" pitchFamily="34" charset="-120"/>
              </a:rPr>
              <a:t>Attends the Private Review</a:t>
            </a:r>
            <a:endParaRPr lang="en-US" sz="1250" dirty="0"/>
          </a:p>
          <a:p>
            <a:pPr marL="0" indent="0">
              <a:buNone/>
            </a:pPr>
            <a:r>
              <a:rPr lang="en-US" sz="1050" dirty="0">
                <a:solidFill>
                  <a:srgbClr val="5B6475"/>
                </a:solidFill>
                <a:latin typeface="Calibri" pitchFamily="34" charset="0"/>
                <a:ea typeface="Calibri" pitchFamily="34" charset="-122"/>
                <a:cs typeface="Calibri" pitchFamily="34" charset="-120"/>
              </a:rPr>
              <a:t>Gets a proposal</a:t>
            </a:r>
            <a:endParaRPr lang="en-US" sz="1250" dirty="0"/>
          </a:p>
        </p:txBody>
      </p:sp>
      <p:sp>
        <p:nvSpPr>
          <p:cNvPr id="43" name="Shape 41"/>
          <p:cNvSpPr/>
          <p:nvPr/>
        </p:nvSpPr>
        <p:spPr>
          <a:xfrm>
            <a:off x="8092440" y="4910328"/>
            <a:ext cx="256032" cy="0"/>
          </a:xfrm>
          <a:prstGeom prst="line">
            <a:avLst/>
          </a:prstGeom>
          <a:noFill/>
          <a:ln w="9525">
            <a:solidFill>
              <a:srgbClr val="A0A7B4"/>
            </a:solidFill>
            <a:prstDash val="solid"/>
          </a:ln>
        </p:spPr>
        <p:txBody>
          <a:bodyPr/>
          <a:lstStyle/>
          <a:p>
            <a:endParaRPr lang="en-MX"/>
          </a:p>
        </p:txBody>
      </p:sp>
      <p:sp>
        <p:nvSpPr>
          <p:cNvPr id="44" name="Shape 42"/>
          <p:cNvSpPr/>
          <p:nvPr/>
        </p:nvSpPr>
        <p:spPr>
          <a:xfrm>
            <a:off x="8348472" y="4663440"/>
            <a:ext cx="3230575" cy="493776"/>
          </a:xfrm>
          <a:prstGeom prst="roundRect">
            <a:avLst>
              <a:gd name="adj" fmla="val 14815"/>
            </a:avLst>
          </a:prstGeom>
          <a:solidFill>
            <a:srgbClr val="F5E6EE"/>
          </a:solidFill>
          <a:ln w="9525">
            <a:solidFill>
              <a:srgbClr val="F5E6EE"/>
            </a:solidFill>
            <a:prstDash val="solid"/>
          </a:ln>
        </p:spPr>
        <p:txBody>
          <a:bodyPr/>
          <a:lstStyle/>
          <a:p>
            <a:endParaRPr lang="en-MX"/>
          </a:p>
        </p:txBody>
      </p:sp>
      <p:sp>
        <p:nvSpPr>
          <p:cNvPr id="45" name="Text 43"/>
          <p:cNvSpPr txBox="1"/>
          <p:nvPr/>
        </p:nvSpPr>
        <p:spPr>
          <a:xfrm>
            <a:off x="8485632" y="4663440"/>
            <a:ext cx="2956255" cy="493776"/>
          </a:xfrm>
          <a:prstGeom prst="rect">
            <a:avLst/>
          </a:prstGeom>
          <a:noFill/>
          <a:ln/>
        </p:spPr>
        <p:txBody>
          <a:bodyPr wrap="square" lIns="0" tIns="0" rIns="0" bIns="0" rtlCol="0" anchor="ctr"/>
          <a:lstStyle/>
          <a:p>
            <a:pPr marL="0" indent="0">
              <a:buNone/>
            </a:pPr>
            <a:r>
              <a:rPr lang="en-US" sz="1250" b="1" dirty="0" err="1">
                <a:solidFill>
                  <a:srgbClr val="9A3D6A"/>
                </a:solidFill>
                <a:latin typeface="Calibri" pitchFamily="34" charset="0"/>
                <a:ea typeface="Calibri" pitchFamily="34" charset="-122"/>
                <a:cs typeface="Calibri" pitchFamily="34" charset="-120"/>
              </a:rPr>
              <a:t>Flow F</a:t>
            </a:r>
          </a:p>
          <a:p>
            <a:pPr marL="0" indent="0">
              <a:buNone/>
            </a:pPr>
            <a:r>
              <a:rPr lang="en-US" sz="1050" dirty="0">
                <a:solidFill>
                  <a:srgbClr val="5B6475"/>
                </a:solidFill>
                <a:latin typeface="Calibri" pitchFamily="34" charset="0"/>
                <a:ea typeface="Calibri" pitchFamily="34" charset="-122"/>
                <a:cs typeface="Calibri" pitchFamily="34" charset="-120"/>
              </a:rPr>
              <a:t>Attended, didn't buy: program or re-assessment</a:t>
            </a:r>
          </a:p>
        </p:txBody>
      </p:sp>
      <p:sp>
        <p:nvSpPr>
          <p:cNvPr id="46" name="Shape 44"/>
          <p:cNvSpPr/>
          <p:nvPr/>
        </p:nvSpPr>
        <p:spPr>
          <a:xfrm>
            <a:off x="4160520" y="5276088"/>
            <a:ext cx="3931920" cy="493776"/>
          </a:xfrm>
          <a:prstGeom prst="roundRect">
            <a:avLst>
              <a:gd name="adj" fmla="val 14815"/>
            </a:avLst>
          </a:prstGeom>
          <a:solidFill>
            <a:srgbClr val="E3F1EA"/>
          </a:solidFill>
          <a:ln w="9525">
            <a:solidFill>
              <a:srgbClr val="E3F1EA"/>
            </a:solidFill>
            <a:prstDash val="solid"/>
          </a:ln>
        </p:spPr>
        <p:txBody>
          <a:bodyPr/>
          <a:lstStyle/>
          <a:p>
            <a:endParaRPr lang="en-MX"/>
          </a:p>
        </p:txBody>
      </p:sp>
      <p:sp>
        <p:nvSpPr>
          <p:cNvPr id="47" name="Text 45"/>
          <p:cNvSpPr txBox="1"/>
          <p:nvPr/>
        </p:nvSpPr>
        <p:spPr>
          <a:xfrm>
            <a:off x="4297680" y="5276088"/>
            <a:ext cx="3657600" cy="493776"/>
          </a:xfrm>
          <a:prstGeom prst="rect">
            <a:avLst/>
          </a:prstGeom>
          <a:noFill/>
          <a:ln/>
        </p:spPr>
        <p:txBody>
          <a:bodyPr wrap="square" lIns="0" tIns="0" rIns="0" bIns="0" rtlCol="0" anchor="ctr"/>
          <a:lstStyle/>
          <a:p>
            <a:pPr marL="0" indent="0">
              <a:buNone/>
            </a:pPr>
            <a:r>
              <a:rPr lang="en-US" sz="1250" b="1" dirty="0">
                <a:solidFill>
                  <a:srgbClr val="2E7A57"/>
                </a:solidFill>
                <a:latin typeface="Calibri" pitchFamily="34" charset="0"/>
                <a:ea typeface="Calibri" pitchFamily="34" charset="-122"/>
                <a:cs typeface="Calibri" pitchFamily="34" charset="-120"/>
              </a:rPr>
              <a:t>Buys the program and the 90-day re-assessment</a:t>
            </a:r>
            <a:endParaRPr lang="en-US" sz="1250" dirty="0"/>
          </a:p>
          <a:p>
            <a:pPr marL="0" indent="0">
              <a:buNone/>
            </a:pPr>
            <a:r>
              <a:rPr lang="en-US" sz="1050" dirty="0">
                <a:solidFill>
                  <a:srgbClr val="5B6475"/>
                </a:solidFill>
                <a:latin typeface="Calibri" pitchFamily="34" charset="0"/>
                <a:ea typeface="Calibri" pitchFamily="34" charset="-122"/>
                <a:cs typeface="Calibri" pitchFamily="34" charset="-120"/>
              </a:rPr>
              <a:t>Onboarding, referrals, step up to ACLC</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7F9"/>
        </a:solidFill>
        <a:effectLst/>
      </p:bgPr>
    </p:bg>
    <p:spTree>
      <p:nvGrpSpPr>
        <p:cNvPr id="1" name=""/>
        <p:cNvGrpSpPr/>
        <p:nvPr/>
      </p:nvGrpSpPr>
      <p:grpSpPr>
        <a:xfrm>
          <a:off x="0" y="0"/>
          <a:ext cx="0" cy="0"/>
          <a:chOff x="0" y="0"/>
          <a:chExt cx="0" cy="0"/>
        </a:xfrm>
      </p:grpSpPr>
      <p:sp>
        <p:nvSpPr>
          <p:cNvPr id="2" name="Text 0"/>
          <p:cNvSpPr txBox="1"/>
          <p:nvPr/>
        </p:nvSpPr>
        <p:spPr>
          <a:xfrm>
            <a:off x="612648" y="6446520"/>
            <a:ext cx="4572000" cy="228600"/>
          </a:xfrm>
          <a:prstGeom prst="rect">
            <a:avLst/>
          </a:prstGeom>
          <a:noFill/>
          <a:ln/>
        </p:spPr>
        <p:txBody>
          <a:bodyPr wrap="square" lIns="0" tIns="0" rIns="0" bIns="0" rtlCol="0" anchor="ctr"/>
          <a:lstStyle/>
          <a:p>
            <a:pPr marL="0" indent="0">
              <a:buNone/>
            </a:pPr>
            <a:r>
              <a:rPr lang="en-US" sz="900" dirty="0">
                <a:solidFill>
                  <a:srgbClr val="5B6475"/>
                </a:solidFill>
                <a:latin typeface="Calibri" pitchFamily="34" charset="0"/>
                <a:ea typeface="Calibri" pitchFamily="34" charset="-122"/>
                <a:cs typeface="Calibri" pitchFamily="34" charset="-120"/>
              </a:rPr>
              <a:t>Zones of Life: funnels and copy</a:t>
            </a:r>
            <a:endParaRPr lang="en-US" sz="900" dirty="0"/>
          </a:p>
        </p:txBody>
      </p:sp>
      <p:sp>
        <p:nvSpPr>
          <p:cNvPr id="3" name="Text 1"/>
          <p:cNvSpPr txBox="1"/>
          <p:nvPr/>
        </p:nvSpPr>
        <p:spPr>
          <a:xfrm>
            <a:off x="10881360" y="6446520"/>
            <a:ext cx="694944" cy="228600"/>
          </a:xfrm>
          <a:prstGeom prst="rect">
            <a:avLst/>
          </a:prstGeom>
          <a:noFill/>
          <a:ln/>
        </p:spPr>
        <p:txBody>
          <a:bodyPr wrap="square" lIns="0" tIns="0" rIns="0" bIns="0" rtlCol="0" anchor="ctr"/>
          <a:lstStyle/>
          <a:p>
            <a:pPr marL="0" indent="0" algn="r">
              <a:buNone/>
            </a:pPr>
            <a:r>
              <a:rPr lang="en-US" sz="900" dirty="0">
                <a:solidFill>
                  <a:srgbClr val="5B6475"/>
                </a:solidFill>
                <a:latin typeface="Calibri" pitchFamily="34" charset="0"/>
                <a:ea typeface="Calibri" pitchFamily="34" charset="-122"/>
                <a:cs typeface="Calibri" pitchFamily="34" charset="-120"/>
              </a:rPr>
              <a:t>4</a:t>
            </a:r>
            <a:endParaRPr lang="en-US" sz="900" dirty="0"/>
          </a:p>
        </p:txBody>
      </p:sp>
      <p:sp>
        <p:nvSpPr>
          <p:cNvPr id="4" name="Shape 2"/>
          <p:cNvSpPr/>
          <p:nvPr/>
        </p:nvSpPr>
        <p:spPr>
          <a:xfrm>
            <a:off x="612648" y="530352"/>
            <a:ext cx="837590" cy="256032"/>
          </a:xfrm>
          <a:prstGeom prst="roundRect">
            <a:avLst>
              <a:gd name="adj" fmla="val 50000"/>
            </a:avLst>
          </a:prstGeom>
          <a:solidFill>
            <a:srgbClr val="E9ECF6"/>
          </a:solidFill>
          <a:ln w="9525">
            <a:solidFill>
              <a:srgbClr val="E9ECF6"/>
            </a:solidFill>
            <a:prstDash val="solid"/>
          </a:ln>
        </p:spPr>
        <p:txBody>
          <a:bodyPr/>
          <a:lstStyle/>
          <a:p>
            <a:endParaRPr lang="en-MX"/>
          </a:p>
        </p:txBody>
      </p:sp>
      <p:sp>
        <p:nvSpPr>
          <p:cNvPr id="5" name="Text 3"/>
          <p:cNvSpPr txBox="1"/>
          <p:nvPr/>
        </p:nvSpPr>
        <p:spPr>
          <a:xfrm>
            <a:off x="612648" y="530352"/>
            <a:ext cx="837590" cy="256032"/>
          </a:xfrm>
          <a:prstGeom prst="rect">
            <a:avLst/>
          </a:prstGeom>
          <a:noFill/>
          <a:ln/>
        </p:spPr>
        <p:txBody>
          <a:bodyPr wrap="square" lIns="0" tIns="0" rIns="0" bIns="0" rtlCol="0" anchor="ctr"/>
          <a:lstStyle/>
          <a:p>
            <a:pPr marL="0" indent="0" algn="ctr">
              <a:buNone/>
            </a:pPr>
            <a:r>
              <a:rPr lang="en-US" sz="1000" b="1" dirty="0">
                <a:solidFill>
                  <a:srgbClr val="3D4F86"/>
                </a:solidFill>
                <a:latin typeface="Calibri" pitchFamily="34" charset="0"/>
                <a:ea typeface="Calibri" pitchFamily="34" charset="-122"/>
                <a:cs typeface="Calibri" pitchFamily="34" charset="-120"/>
              </a:rPr>
              <a:t>Screen</a:t>
            </a:r>
            <a:endParaRPr lang="en-US" sz="1000" dirty="0"/>
          </a:p>
        </p:txBody>
      </p:sp>
      <p:sp>
        <p:nvSpPr>
          <p:cNvPr id="6" name="Text 4"/>
          <p:cNvSpPr txBox="1"/>
          <p:nvPr/>
        </p:nvSpPr>
        <p:spPr>
          <a:xfrm>
            <a:off x="612648" y="941832"/>
            <a:ext cx="3200400" cy="813816"/>
          </a:xfrm>
          <a:prstGeom prst="rect">
            <a:avLst/>
          </a:prstGeom>
          <a:noFill/>
          <a:ln/>
        </p:spPr>
        <p:txBody>
          <a:bodyPr wrap="square" lIns="0" tIns="0" rIns="0" bIns="0" rtlCol="0" anchor="t"/>
          <a:lstStyle/>
          <a:p>
            <a:pPr marL="0" indent="0">
              <a:lnSpc>
                <a:spcPct val="95000"/>
              </a:lnSpc>
              <a:buNone/>
            </a:pPr>
            <a:r>
              <a:rPr lang="en-US" sz="2800" dirty="0">
                <a:solidFill>
                  <a:srgbClr val="1B2230"/>
                </a:solidFill>
                <a:latin typeface="Cambria" pitchFamily="34" charset="0"/>
                <a:ea typeface="Cambria" pitchFamily="34" charset="-122"/>
                <a:cs typeface="Cambria" pitchFamily="34" charset="-120"/>
              </a:rPr>
              <a:t>Mini Profile result</a:t>
            </a:r>
            <a:endParaRPr lang="en-US" sz="2800" dirty="0"/>
          </a:p>
        </p:txBody>
      </p:sp>
      <p:sp>
        <p:nvSpPr>
          <p:cNvPr id="7" name="Text 5"/>
          <p:cNvSpPr txBox="1"/>
          <p:nvPr/>
        </p:nvSpPr>
        <p:spPr>
          <a:xfrm>
            <a:off x="612648" y="1920240"/>
            <a:ext cx="3200400" cy="508000"/>
          </a:xfrm>
          <a:prstGeom prst="rect">
            <a:avLst/>
          </a:prstGeom>
          <a:noFill/>
          <a:ln/>
        </p:spPr>
        <p:txBody>
          <a:bodyPr wrap="square" lIns="0" tIns="0" rIns="0" bIns="0" rtlCol="0" anchor="t"/>
          <a:lstStyle/>
          <a:p>
            <a:pPr marL="0" indent="0">
              <a:lnSpc>
                <a:spcPct val="110000"/>
              </a:lnSpc>
              <a:buNone/>
            </a:pPr>
            <a:r>
              <a:rPr lang="en-US" sz="1400" dirty="0">
                <a:solidFill>
                  <a:srgbClr val="5B6475"/>
                </a:solidFill>
                <a:latin typeface="Calibri" pitchFamily="34" charset="0"/>
                <a:ea typeface="Calibri" pitchFamily="34" charset="-122"/>
                <a:cs typeface="Calibri" pitchFamily="34" charset="-120"/>
              </a:rPr>
              <a:t>The first offer happens here, on the same page, without waiting for email.</a:t>
            </a:r>
            <a:endParaRPr lang="en-US" sz="1400" dirty="0"/>
          </a:p>
        </p:txBody>
      </p:sp>
      <p:sp>
        <p:nvSpPr>
          <p:cNvPr id="8" name="Text 6"/>
          <p:cNvSpPr txBox="1"/>
          <p:nvPr/>
        </p:nvSpPr>
        <p:spPr>
          <a:xfrm>
            <a:off x="612648" y="2611120"/>
            <a:ext cx="3200400" cy="617601"/>
          </a:xfrm>
          <a:prstGeom prst="rect">
            <a:avLst/>
          </a:prstGeom>
          <a:noFill/>
          <a:ln/>
        </p:spPr>
        <p:txBody>
          <a:bodyPr wrap="square" lIns="0" tIns="0" rIns="0" bIns="0" rtlCol="0" anchor="t"/>
          <a:lstStyle/>
          <a:p>
            <a:pPr marL="0" indent="0">
              <a:buNone/>
            </a:pPr>
            <a:r>
              <a:rPr lang="en-US" sz="1250" b="1" dirty="0">
                <a:solidFill>
                  <a:srgbClr val="1B2230"/>
                </a:solidFill>
                <a:latin typeface="Calibri" pitchFamily="34" charset="0"/>
                <a:ea typeface="Calibri" pitchFamily="34" charset="-122"/>
                <a:cs typeface="Calibri" pitchFamily="34" charset="-120"/>
              </a:rPr>
              <a:t>Shows</a:t>
            </a:r>
            <a:endParaRPr lang="en-US" sz="1250" dirty="0"/>
          </a:p>
          <a:p>
            <a:pPr marL="0" indent="0">
              <a:buNone/>
            </a:pPr>
            <a:r>
              <a:rPr lang="en-US" sz="1250" dirty="0">
                <a:solidFill>
                  <a:srgbClr val="5B6475"/>
                </a:solidFill>
                <a:latin typeface="Calibri" pitchFamily="34" charset="0"/>
                <a:ea typeface="Calibri" pitchFamily="34" charset="-122"/>
                <a:cs typeface="Calibri" pitchFamily="34" charset="-120"/>
              </a:rPr>
              <a:t>The six abilities and which one is lowest.</a:t>
            </a:r>
            <a:endParaRPr lang="en-US" sz="1250" dirty="0"/>
          </a:p>
        </p:txBody>
      </p:sp>
      <p:sp>
        <p:nvSpPr>
          <p:cNvPr id="9" name="Text 7"/>
          <p:cNvSpPr txBox="1"/>
          <p:nvPr/>
        </p:nvSpPr>
        <p:spPr>
          <a:xfrm>
            <a:off x="612648" y="3356737"/>
            <a:ext cx="3200400" cy="617601"/>
          </a:xfrm>
          <a:prstGeom prst="rect">
            <a:avLst/>
          </a:prstGeom>
          <a:noFill/>
          <a:ln/>
        </p:spPr>
        <p:txBody>
          <a:bodyPr wrap="square" lIns="0" tIns="0" rIns="0" bIns="0" rtlCol="0" anchor="t"/>
          <a:lstStyle/>
          <a:p>
            <a:pPr marL="0" indent="0">
              <a:buNone/>
            </a:pPr>
            <a:r>
              <a:rPr lang="en-US" sz="1250" b="1" dirty="0">
                <a:solidFill>
                  <a:srgbClr val="1B2230"/>
                </a:solidFill>
                <a:latin typeface="Calibri" pitchFamily="34" charset="0"/>
                <a:ea typeface="Calibri" pitchFamily="34" charset="-122"/>
                <a:cs typeface="Calibri" pitchFamily="34" charset="-120"/>
              </a:rPr>
              <a:t>Holds back</a:t>
            </a:r>
            <a:endParaRPr lang="en-US" sz="1250" dirty="0"/>
          </a:p>
          <a:p>
            <a:pPr marL="0" indent="0">
              <a:buNone/>
            </a:pPr>
            <a:r>
              <a:rPr lang="en-US" sz="1250" dirty="0">
                <a:solidFill>
                  <a:srgbClr val="5B6475"/>
                </a:solidFill>
                <a:latin typeface="Calibri" pitchFamily="34" charset="0"/>
                <a:ea typeface="Calibri" pitchFamily="34" charset="-122"/>
                <a:cs typeface="Calibri" pitchFamily="34" charset="-120"/>
              </a:rPr>
              <a:t>The why, how they drag on each other, and the 90-day plan.</a:t>
            </a:r>
            <a:endParaRPr lang="en-US" sz="1250" dirty="0"/>
          </a:p>
        </p:txBody>
      </p:sp>
      <p:sp>
        <p:nvSpPr>
          <p:cNvPr id="10" name="Shape 8"/>
          <p:cNvSpPr/>
          <p:nvPr/>
        </p:nvSpPr>
        <p:spPr>
          <a:xfrm>
            <a:off x="4160520" y="530352"/>
            <a:ext cx="7415784" cy="4846320"/>
          </a:xfrm>
          <a:prstGeom prst="roundRect">
            <a:avLst>
              <a:gd name="adj" fmla="val 1887"/>
            </a:avLst>
          </a:prstGeom>
          <a:solidFill>
            <a:srgbClr val="FFFFFF"/>
          </a:solidFill>
          <a:ln w="9525">
            <a:solidFill>
              <a:srgbClr val="DDE1E8"/>
            </a:solidFill>
            <a:prstDash val="solid"/>
          </a:ln>
        </p:spPr>
        <p:txBody>
          <a:bodyPr/>
          <a:lstStyle/>
          <a:p>
            <a:endParaRPr lang="en-MX"/>
          </a:p>
        </p:txBody>
      </p:sp>
      <p:sp>
        <p:nvSpPr>
          <p:cNvPr id="11" name="Text 9"/>
          <p:cNvSpPr txBox="1"/>
          <p:nvPr/>
        </p:nvSpPr>
        <p:spPr>
          <a:xfrm>
            <a:off x="4480560" y="804672"/>
            <a:ext cx="457200" cy="237744"/>
          </a:xfrm>
          <a:prstGeom prst="rect">
            <a:avLst/>
          </a:prstGeom>
          <a:noFill/>
          <a:ln/>
        </p:spPr>
        <p:txBody>
          <a:bodyPr wrap="square" lIns="0" tIns="0" rIns="0" bIns="0" rtlCol="0" anchor="ctr"/>
          <a:lstStyle/>
          <a:p>
            <a:pPr marL="0" indent="0">
              <a:buNone/>
            </a:pPr>
            <a:r>
              <a:rPr lang="en-US" sz="1200" b="1" dirty="0">
                <a:solidFill>
                  <a:srgbClr val="1B2230"/>
                </a:solidFill>
                <a:latin typeface="Calibri" pitchFamily="34" charset="0"/>
                <a:ea typeface="Calibri" pitchFamily="34" charset="-122"/>
                <a:cs typeface="Calibri" pitchFamily="34" charset="-120"/>
              </a:rPr>
              <a:t>R1</a:t>
            </a:r>
            <a:endParaRPr lang="en-US" sz="1200" dirty="0"/>
          </a:p>
        </p:txBody>
      </p:sp>
      <p:sp>
        <p:nvSpPr>
          <p:cNvPr id="12" name="Text 10"/>
          <p:cNvSpPr txBox="1"/>
          <p:nvPr/>
        </p:nvSpPr>
        <p:spPr>
          <a:xfrm>
            <a:off x="4846320" y="804672"/>
            <a:ext cx="2743200" cy="237744"/>
          </a:xfrm>
          <a:prstGeom prst="rect">
            <a:avLst/>
          </a:prstGeom>
          <a:noFill/>
          <a:ln/>
        </p:spPr>
        <p:txBody>
          <a:bodyPr wrap="square" lIns="0" tIns="0" rIns="0" bIns="0" rtlCol="0" anchor="ctr"/>
          <a:lstStyle/>
          <a:p>
            <a:pPr marL="0" indent="0">
              <a:buNone/>
            </a:pPr>
            <a:r>
              <a:rPr lang="en-US" sz="1000" dirty="0">
                <a:solidFill>
                  <a:srgbClr val="5B6475"/>
                </a:solidFill>
                <a:latin typeface="Calibri" pitchFamily="34" charset="0"/>
                <a:ea typeface="Calibri" pitchFamily="34" charset="-122"/>
                <a:cs typeface="Calibri" pitchFamily="34" charset="-120"/>
              </a:rPr>
              <a:t>When the mini profile ends</a:t>
            </a:r>
            <a:endParaRPr lang="en-US" sz="1000" dirty="0"/>
          </a:p>
        </p:txBody>
      </p:sp>
      <p:sp>
        <p:nvSpPr>
          <p:cNvPr id="13" name="Shape 11"/>
          <p:cNvSpPr/>
          <p:nvPr/>
        </p:nvSpPr>
        <p:spPr>
          <a:xfrm>
            <a:off x="10570464" y="813816"/>
            <a:ext cx="620146" cy="220370"/>
          </a:xfrm>
          <a:prstGeom prst="roundRect">
            <a:avLst>
              <a:gd name="adj" fmla="val 50000"/>
            </a:avLst>
          </a:prstGeom>
          <a:solidFill>
            <a:srgbClr val="E3F1EA"/>
          </a:solidFill>
          <a:ln w="9525">
            <a:solidFill>
              <a:srgbClr val="E3F1EA"/>
            </a:solidFill>
            <a:prstDash val="solid"/>
          </a:ln>
        </p:spPr>
        <p:txBody>
          <a:bodyPr/>
          <a:lstStyle/>
          <a:p>
            <a:endParaRPr lang="en-MX"/>
          </a:p>
        </p:txBody>
      </p:sp>
      <p:sp>
        <p:nvSpPr>
          <p:cNvPr id="14" name="Text 12"/>
          <p:cNvSpPr txBox="1"/>
          <p:nvPr/>
        </p:nvSpPr>
        <p:spPr>
          <a:xfrm>
            <a:off x="10570464" y="813816"/>
            <a:ext cx="620146" cy="220370"/>
          </a:xfrm>
          <a:prstGeom prst="rect">
            <a:avLst/>
          </a:prstGeom>
          <a:noFill/>
          <a:ln/>
        </p:spPr>
        <p:txBody>
          <a:bodyPr wrap="square" lIns="0" tIns="0" rIns="0" bIns="0" rtlCol="0" anchor="ctr"/>
          <a:lstStyle/>
          <a:p>
            <a:pPr marL="0" indent="0" algn="ctr">
              <a:buNone/>
            </a:pPr>
            <a:r>
              <a:rPr lang="en-US" sz="850" dirty="0">
                <a:solidFill>
                  <a:srgbClr val="2E7A57"/>
                </a:solidFill>
                <a:latin typeface="Calibri" pitchFamily="34" charset="0"/>
                <a:ea typeface="Calibri" pitchFamily="34" charset="-122"/>
                <a:cs typeface="Calibri" pitchFamily="34" charset="-120"/>
              </a:rPr>
              <a:t>Page</a:t>
            </a:r>
            <a:endParaRPr lang="en-US" sz="850" dirty="0"/>
          </a:p>
        </p:txBody>
      </p:sp>
      <p:sp>
        <p:nvSpPr>
          <p:cNvPr id="15" name="Text 13"/>
          <p:cNvSpPr txBox="1"/>
          <p:nvPr/>
        </p:nvSpPr>
        <p:spPr>
          <a:xfrm>
            <a:off x="4480560" y="1261872"/>
            <a:ext cx="6775704" cy="457200"/>
          </a:xfrm>
          <a:prstGeom prst="rect">
            <a:avLst/>
          </a:prstGeom>
          <a:noFill/>
          <a:ln/>
        </p:spPr>
        <p:txBody>
          <a:bodyPr wrap="square" lIns="0" tIns="0" rIns="0" bIns="0" rtlCol="0" anchor="ctr"/>
          <a:lstStyle/>
          <a:p>
            <a:r>
              <a:rPr lang="en-US" sz="2200" dirty="0">
                <a:solidFill>
                  <a:srgbClr val="3D4F86"/>
                </a:solidFill>
                <a:latin typeface="Calibri" pitchFamily="34" charset="0"/>
                <a:ea typeface="Calibri" pitchFamily="34" charset="-122"/>
                <a:cs typeface="Calibri" pitchFamily="34" charset="-120"/>
              </a:rPr>
              <a:t>{{nombre}}, your lowest ability is {{habilidad_critica}}</a:t>
            </a:r>
            <a:endParaRPr lang="en-US" sz="2200" dirty="0"/>
          </a:p>
        </p:txBody>
      </p:sp>
      <p:sp>
        <p:nvSpPr>
          <p:cNvPr id="16" name="Text 14"/>
          <p:cNvSpPr txBox="1"/>
          <p:nvPr/>
        </p:nvSpPr>
        <p:spPr>
          <a:xfrm>
            <a:off x="4480560" y="1901952"/>
            <a:ext cx="6775704" cy="495300"/>
          </a:xfrm>
          <a:prstGeom prst="rect">
            <a:avLst/>
          </a:prstGeom>
          <a:noFill/>
          <a:ln/>
        </p:spPr>
        <p:txBody>
          <a:bodyPr wrap="square" lIns="0" tIns="0" rIns="0" bIns="0" rtlCol="0" anchor="t"/>
          <a:lstStyle/>
          <a:p>
            <a:pPr marL="0" indent="0">
              <a:buNone/>
            </a:pPr>
            <a:r>
              <a:rPr lang="en-US" sz="1500" i="1" dirty="0" err="1">
                <a:solidFill>
                  <a:srgbClr val="1B2230"/>
                </a:solidFill>
                <a:latin typeface="Cambria" pitchFamily="34" charset="0"/>
                <a:ea typeface="Cambria" pitchFamily="34" charset="-122"/>
                <a:cs typeface="Cambria" pitchFamily="34" charset="-120"/>
              </a:rPr>
              <a:t>{{frase_habilidad}}</a:t>
            </a:r>
            <a:endParaRPr lang="en-US" sz="1500" dirty="0"/>
          </a:p>
        </p:txBody>
      </p:sp>
      <p:sp>
        <p:nvSpPr>
          <p:cNvPr id="17" name="Text 15"/>
          <p:cNvSpPr txBox="1"/>
          <p:nvPr/>
        </p:nvSpPr>
        <p:spPr>
          <a:xfrm>
            <a:off x="4480560" y="2580132"/>
            <a:ext cx="6775704" cy="990600"/>
          </a:xfrm>
          <a:prstGeom prst="rect">
            <a:avLst/>
          </a:prstGeom>
          <a:noFill/>
          <a:ln/>
        </p:spPr>
        <p:txBody>
          <a:bodyPr wrap="square" lIns="0" tIns="0" rIns="0" bIns="0" rtlCol="0" anchor="t"/>
          <a:lstStyle/>
          <a:p>
            <a:pPr marL="0" indent="0">
              <a:buNone/>
            </a:pPr>
            <a:r>
              <a:rPr lang="en-US" sz="1500" dirty="0">
                <a:solidFill>
                  <a:schemeClr val="bg1">
                    <a:lumMod val="65000"/>
                  </a:schemeClr>
                </a:solidFill>
                <a:latin typeface="Cambria" pitchFamily="34" charset="0"/>
                <a:ea typeface="Cambria" pitchFamily="34" charset="-122"/>
                <a:cs typeface="Cambria" pitchFamily="34" charset="-120"/>
              </a:rPr>
              <a:t>What this result still doesn't tell you: why {{habilidad_critica}} sits where it does, which of the other five is dragging it down, and which first move has the most impact. That's in your Financial Health Profile: 100 questions, your full chart, the report on all six abilities, the Financial Fitness Workbook and Alan C. Walter's audio lesson.</a:t>
            </a:r>
            <a:endParaRPr lang="en-US" sz="1500" dirty="0">
              <a:solidFill>
                <a:schemeClr val="bg1">
                  <a:lumMod val="65000"/>
                </a:schemeClr>
              </a:solidFill>
            </a:endParaRPr>
          </a:p>
        </p:txBody>
      </p:sp>
      <p:sp>
        <p:nvSpPr>
          <p:cNvPr id="18" name="Text 16"/>
          <p:cNvSpPr txBox="1"/>
          <p:nvPr/>
        </p:nvSpPr>
        <p:spPr>
          <a:xfrm>
            <a:off x="4480560" y="3753612"/>
            <a:ext cx="6775704" cy="247650"/>
          </a:xfrm>
          <a:prstGeom prst="rect">
            <a:avLst/>
          </a:prstGeom>
          <a:noFill/>
          <a:ln/>
        </p:spPr>
        <p:txBody>
          <a:bodyPr wrap="square" lIns="0" tIns="0" rIns="0" bIns="0" rtlCol="0" anchor="t"/>
          <a:lstStyle/>
          <a:p>
            <a:pPr marL="0" indent="0">
              <a:buNone/>
            </a:pPr>
            <a:r>
              <a:rPr lang="en-US" sz="1500" dirty="0" err="1">
                <a:solidFill>
                  <a:srgbClr val="1B2230"/>
                </a:solidFill>
                <a:latin typeface="Cambria" pitchFamily="34" charset="0"/>
                <a:ea typeface="Cambria" pitchFamily="34" charset="-122"/>
                <a:cs typeface="Cambria" pitchFamily="34" charset="-120"/>
              </a:rPr>
              <a:t>Financial Health Profile: $500, one-time payment</a:t>
            </a:r>
            <a:endParaRPr lang="en-US" sz="1500" dirty="0"/>
          </a:p>
        </p:txBody>
      </p:sp>
      <p:sp>
        <p:nvSpPr>
          <p:cNvPr id="19" name="Shape 17"/>
          <p:cNvSpPr/>
          <p:nvPr/>
        </p:nvSpPr>
        <p:spPr>
          <a:xfrm>
            <a:off x="4480560" y="4275582"/>
            <a:ext cx="2794589" cy="279806"/>
          </a:xfrm>
          <a:prstGeom prst="roundRect">
            <a:avLst>
              <a:gd name="adj" fmla="val 50000"/>
            </a:avLst>
          </a:prstGeom>
          <a:solidFill>
            <a:srgbClr val="1B2230"/>
          </a:solidFill>
          <a:ln w="9525">
            <a:solidFill>
              <a:srgbClr val="1B2230"/>
            </a:solidFill>
            <a:prstDash val="solid"/>
          </a:ln>
        </p:spPr>
        <p:txBody>
          <a:bodyPr/>
          <a:lstStyle/>
          <a:p>
            <a:endParaRPr lang="en-MX"/>
          </a:p>
        </p:txBody>
      </p:sp>
      <p:sp>
        <p:nvSpPr>
          <p:cNvPr id="20" name="Text 18"/>
          <p:cNvSpPr txBox="1"/>
          <p:nvPr/>
        </p:nvSpPr>
        <p:spPr>
          <a:xfrm>
            <a:off x="4480560" y="4275582"/>
            <a:ext cx="2794589" cy="279806"/>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Get my Financial Health Profile</a:t>
            </a:r>
            <a:endParaRPr lang="en-US" sz="1100" dirty="0"/>
          </a:p>
        </p:txBody>
      </p:sp>
      <p:sp>
        <p:nvSpPr>
          <p:cNvPr id="21" name="Shape 19"/>
          <p:cNvSpPr/>
          <p:nvPr/>
        </p:nvSpPr>
        <p:spPr>
          <a:xfrm>
            <a:off x="7384877" y="4275582"/>
            <a:ext cx="2382195" cy="279806"/>
          </a:xfrm>
          <a:prstGeom prst="roundRect">
            <a:avLst>
              <a:gd name="adj" fmla="val 50000"/>
            </a:avLst>
          </a:prstGeom>
          <a:solidFill>
            <a:srgbClr val="FFFFFF"/>
          </a:solidFill>
          <a:ln w="9525">
            <a:solidFill>
              <a:srgbClr val="DDE1E8"/>
            </a:solidFill>
            <a:prstDash val="solid"/>
          </a:ln>
        </p:spPr>
        <p:txBody>
          <a:bodyPr/>
          <a:lstStyle/>
          <a:p>
            <a:endParaRPr lang="en-MX"/>
          </a:p>
        </p:txBody>
      </p:sp>
      <p:sp>
        <p:nvSpPr>
          <p:cNvPr id="22" name="Text 20"/>
          <p:cNvSpPr txBox="1"/>
          <p:nvPr/>
        </p:nvSpPr>
        <p:spPr>
          <a:xfrm>
            <a:off x="7384877" y="4275582"/>
            <a:ext cx="2382195" cy="279806"/>
          </a:xfrm>
          <a:prstGeom prst="rect">
            <a:avLst/>
          </a:prstGeom>
          <a:noFill/>
          <a:ln/>
        </p:spPr>
        <p:txBody>
          <a:bodyPr wrap="square" lIns="0" tIns="0" rIns="0" bIns="0" rtlCol="0" anchor="ctr"/>
          <a:lstStyle/>
          <a:p>
            <a:pPr marL="0" indent="0" algn="ctr">
              <a:buNone/>
            </a:pPr>
            <a:r>
              <a:rPr lang="en-US" sz="1100" dirty="0">
                <a:solidFill>
                  <a:srgbClr val="1B2230"/>
                </a:solidFill>
                <a:latin typeface="Calibri" pitchFamily="34" charset="0"/>
                <a:ea typeface="Calibri" pitchFamily="34" charset="-122"/>
                <a:cs typeface="Calibri" pitchFamily="34" charset="-120"/>
              </a:rPr>
              <a:t>Email me my mini profile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7F9"/>
        </a:solidFill>
        <a:effectLst/>
      </p:bgPr>
    </p:bg>
    <p:spTree>
      <p:nvGrpSpPr>
        <p:cNvPr id="1" name=""/>
        <p:cNvGrpSpPr/>
        <p:nvPr/>
      </p:nvGrpSpPr>
      <p:grpSpPr>
        <a:xfrm>
          <a:off x="0" y="0"/>
          <a:ext cx="0" cy="0"/>
          <a:chOff x="0" y="0"/>
          <a:chExt cx="0" cy="0"/>
        </a:xfrm>
      </p:grpSpPr>
      <p:sp>
        <p:nvSpPr>
          <p:cNvPr id="2" name="Text 0"/>
          <p:cNvSpPr txBox="1"/>
          <p:nvPr/>
        </p:nvSpPr>
        <p:spPr>
          <a:xfrm>
            <a:off x="612648" y="6446520"/>
            <a:ext cx="4572000" cy="228600"/>
          </a:xfrm>
          <a:prstGeom prst="rect">
            <a:avLst/>
          </a:prstGeom>
          <a:noFill/>
          <a:ln/>
        </p:spPr>
        <p:txBody>
          <a:bodyPr wrap="square" lIns="0" tIns="0" rIns="0" bIns="0" rtlCol="0" anchor="ctr"/>
          <a:lstStyle/>
          <a:p>
            <a:pPr marL="0" indent="0">
              <a:buNone/>
            </a:pPr>
            <a:r>
              <a:rPr lang="en-US" sz="900" dirty="0">
                <a:solidFill>
                  <a:srgbClr val="5B6475"/>
                </a:solidFill>
                <a:latin typeface="Calibri" pitchFamily="34" charset="0"/>
                <a:ea typeface="Calibri" pitchFamily="34" charset="-122"/>
                <a:cs typeface="Calibri" pitchFamily="34" charset="-120"/>
              </a:rPr>
              <a:t>Zones of Life: funnels and copy</a:t>
            </a:r>
            <a:endParaRPr lang="en-US" sz="900" dirty="0"/>
          </a:p>
        </p:txBody>
      </p:sp>
      <p:sp>
        <p:nvSpPr>
          <p:cNvPr id="3" name="Text 1"/>
          <p:cNvSpPr txBox="1"/>
          <p:nvPr/>
        </p:nvSpPr>
        <p:spPr>
          <a:xfrm>
            <a:off x="10881360" y="6446520"/>
            <a:ext cx="694944" cy="228600"/>
          </a:xfrm>
          <a:prstGeom prst="rect">
            <a:avLst/>
          </a:prstGeom>
          <a:noFill/>
          <a:ln/>
        </p:spPr>
        <p:txBody>
          <a:bodyPr wrap="square" lIns="0" tIns="0" rIns="0" bIns="0" rtlCol="0" anchor="ctr"/>
          <a:lstStyle/>
          <a:p>
            <a:pPr marL="0" indent="0" algn="r">
              <a:buNone/>
            </a:pPr>
            <a:r>
              <a:rPr lang="en-US" sz="900" dirty="0">
                <a:solidFill>
                  <a:srgbClr val="5B6475"/>
                </a:solidFill>
                <a:latin typeface="Calibri" pitchFamily="34" charset="0"/>
                <a:ea typeface="Calibri" pitchFamily="34" charset="-122"/>
                <a:cs typeface="Calibri" pitchFamily="34" charset="-120"/>
              </a:rPr>
              <a:t>5</a:t>
            </a:r>
            <a:endParaRPr lang="en-US" sz="900" dirty="0"/>
          </a:p>
        </p:txBody>
      </p:sp>
      <p:sp>
        <p:nvSpPr>
          <p:cNvPr id="4" name="Shape 2"/>
          <p:cNvSpPr/>
          <p:nvPr/>
        </p:nvSpPr>
        <p:spPr>
          <a:xfrm>
            <a:off x="612648" y="530352"/>
            <a:ext cx="1137514" cy="256032"/>
          </a:xfrm>
          <a:prstGeom prst="roundRect">
            <a:avLst>
              <a:gd name="adj" fmla="val 50000"/>
            </a:avLst>
          </a:prstGeom>
          <a:solidFill>
            <a:srgbClr val="F5E6EE"/>
          </a:solidFill>
          <a:ln w="9525">
            <a:solidFill>
              <a:srgbClr val="F5E6EE"/>
            </a:solidFill>
            <a:prstDash val="solid"/>
          </a:ln>
        </p:spPr>
        <p:txBody>
          <a:bodyPr/>
          <a:lstStyle/>
          <a:p>
            <a:endParaRPr lang="en-MX"/>
          </a:p>
        </p:txBody>
      </p:sp>
      <p:sp>
        <p:nvSpPr>
          <p:cNvPr id="5" name="Text 3"/>
          <p:cNvSpPr txBox="1"/>
          <p:nvPr/>
        </p:nvSpPr>
        <p:spPr>
          <a:xfrm>
            <a:off x="612648" y="530352"/>
            <a:ext cx="1137514" cy="256032"/>
          </a:xfrm>
          <a:prstGeom prst="rect">
            <a:avLst/>
          </a:prstGeom>
          <a:noFill/>
          <a:ln/>
        </p:spPr>
        <p:txBody>
          <a:bodyPr wrap="square" lIns="0" tIns="0" rIns="0" bIns="0" rtlCol="0" anchor="ctr"/>
          <a:lstStyle/>
          <a:p>
            <a:pPr marL="0" indent="0" algn="ctr">
              <a:buNone/>
            </a:pPr>
            <a:r>
              <a:rPr lang="en-US" sz="1000" b="1" dirty="0">
                <a:solidFill>
                  <a:srgbClr val="9A3D6A"/>
                </a:solidFill>
                <a:latin typeface="Calibri" pitchFamily="34" charset="0"/>
                <a:ea typeface="Calibri" pitchFamily="34" charset="-122"/>
                <a:cs typeface="Calibri" pitchFamily="34" charset="-120"/>
              </a:rPr>
              <a:t>Recovery</a:t>
            </a:r>
            <a:endParaRPr lang="en-US" sz="1000" dirty="0"/>
          </a:p>
        </p:txBody>
      </p:sp>
      <p:sp>
        <p:nvSpPr>
          <p:cNvPr id="6" name="Text 4"/>
          <p:cNvSpPr txBox="1"/>
          <p:nvPr/>
        </p:nvSpPr>
        <p:spPr>
          <a:xfrm>
            <a:off x="612648" y="941832"/>
            <a:ext cx="3200400" cy="1197864"/>
          </a:xfrm>
          <a:prstGeom prst="rect">
            <a:avLst/>
          </a:prstGeom>
          <a:noFill/>
          <a:ln/>
        </p:spPr>
        <p:txBody>
          <a:bodyPr wrap="square" lIns="0" tIns="0" rIns="0" bIns="0" rtlCol="0" anchor="t"/>
          <a:lstStyle/>
          <a:p>
            <a:pPr marL="0" indent="0">
              <a:lnSpc>
                <a:spcPct val="95000"/>
              </a:lnSpc>
              <a:buNone/>
            </a:pPr>
            <a:r>
              <a:rPr lang="en-US" sz="2800" dirty="0">
                <a:solidFill>
                  <a:srgbClr val="1B2230"/>
                </a:solidFill>
                <a:latin typeface="Cambria" pitchFamily="34" charset="0"/>
                <a:ea typeface="Cambria" pitchFamily="34" charset="-122"/>
                <a:cs typeface="Cambria" pitchFamily="34" charset="-120"/>
              </a:rPr>
              <a:t>Flow A: abandoned mini profile</a:t>
            </a:r>
            <a:endParaRPr lang="en-US" sz="2800" dirty="0"/>
          </a:p>
        </p:txBody>
      </p:sp>
      <p:sp>
        <p:nvSpPr>
          <p:cNvPr id="7" name="Text 5"/>
          <p:cNvSpPr txBox="1"/>
          <p:nvPr/>
        </p:nvSpPr>
        <p:spPr>
          <a:xfrm>
            <a:off x="612648" y="2304288"/>
            <a:ext cx="3200400" cy="423926"/>
          </a:xfrm>
          <a:prstGeom prst="rect">
            <a:avLst/>
          </a:prstGeom>
          <a:noFill/>
          <a:ln/>
        </p:spPr>
        <p:txBody>
          <a:bodyPr wrap="square" lIns="0" tIns="0" rIns="0" bIns="0" rtlCol="0" anchor="t"/>
          <a:lstStyle/>
          <a:p>
            <a:pPr marL="0" indent="0">
              <a:buNone/>
            </a:pPr>
            <a:r>
              <a:rPr lang="en-US" sz="1250" b="1" dirty="0">
                <a:solidFill>
                  <a:srgbClr val="1B2230"/>
                </a:solidFill>
                <a:latin typeface="Calibri" pitchFamily="34" charset="0"/>
                <a:ea typeface="Calibri" pitchFamily="34" charset="-122"/>
                <a:cs typeface="Calibri" pitchFamily="34" charset="-120"/>
              </a:rPr>
              <a:t>Enters</a:t>
            </a:r>
            <a:endParaRPr lang="en-US" sz="1250" dirty="0"/>
          </a:p>
          <a:p>
            <a:pPr marL="0" indent="0">
              <a:buNone/>
            </a:pPr>
            <a:r>
              <a:rPr lang="en-US" sz="1250" dirty="0">
                <a:solidFill>
                  <a:srgbClr val="5B6475"/>
                </a:solidFill>
                <a:latin typeface="Calibri" pitchFamily="34" charset="0"/>
                <a:ea typeface="Calibri" pitchFamily="34" charset="-122"/>
                <a:cs typeface="Calibri" pitchFamily="34" charset="-120"/>
              </a:rPr>
              <a:t>Left details, didn't finish</a:t>
            </a:r>
            <a:endParaRPr lang="en-US" sz="1250" dirty="0"/>
          </a:p>
        </p:txBody>
      </p:sp>
      <p:sp>
        <p:nvSpPr>
          <p:cNvPr id="8" name="Text 6"/>
          <p:cNvSpPr txBox="1"/>
          <p:nvPr/>
        </p:nvSpPr>
        <p:spPr>
          <a:xfrm>
            <a:off x="612648" y="2856230"/>
            <a:ext cx="3200400" cy="423926"/>
          </a:xfrm>
          <a:prstGeom prst="rect">
            <a:avLst/>
          </a:prstGeom>
          <a:noFill/>
          <a:ln/>
        </p:spPr>
        <p:txBody>
          <a:bodyPr wrap="square" lIns="0" tIns="0" rIns="0" bIns="0" rtlCol="0" anchor="t"/>
          <a:lstStyle/>
          <a:p>
            <a:pPr marL="0" indent="0">
              <a:buNone/>
            </a:pPr>
            <a:r>
              <a:rPr lang="en-US" sz="1250" b="1" dirty="0">
                <a:solidFill>
                  <a:srgbClr val="1B2230"/>
                </a:solidFill>
                <a:latin typeface="Calibri" pitchFamily="34" charset="0"/>
                <a:ea typeface="Calibri" pitchFamily="34" charset="-122"/>
                <a:cs typeface="Calibri" pitchFamily="34" charset="-120"/>
              </a:rPr>
              <a:t>Exits</a:t>
            </a:r>
            <a:endParaRPr lang="en-US" sz="1250" dirty="0"/>
          </a:p>
          <a:p>
            <a:pPr marL="0" indent="0">
              <a:buNone/>
            </a:pPr>
            <a:r>
              <a:rPr lang="en-US" sz="1250" dirty="0">
                <a:solidFill>
                  <a:srgbClr val="5B6475"/>
                </a:solidFill>
                <a:latin typeface="Calibri" pitchFamily="34" charset="0"/>
                <a:ea typeface="Calibri" pitchFamily="34" charset="-122"/>
                <a:cs typeface="Calibri" pitchFamily="34" charset="-120"/>
              </a:rPr>
              <a:t>Completes the mini profile</a:t>
            </a:r>
            <a:endParaRPr lang="en-US" sz="1250" dirty="0"/>
          </a:p>
        </p:txBody>
      </p:sp>
      <p:sp>
        <p:nvSpPr>
          <p:cNvPr id="9" name="Text 7"/>
          <p:cNvSpPr txBox="1"/>
          <p:nvPr/>
        </p:nvSpPr>
        <p:spPr>
          <a:xfrm>
            <a:off x="612648" y="3408172"/>
            <a:ext cx="3200400" cy="423926"/>
          </a:xfrm>
          <a:prstGeom prst="rect">
            <a:avLst/>
          </a:prstGeom>
          <a:noFill/>
          <a:ln/>
        </p:spPr>
        <p:txBody>
          <a:bodyPr wrap="square" lIns="0" tIns="0" rIns="0" bIns="0" rtlCol="0" anchor="t"/>
          <a:lstStyle/>
          <a:p>
            <a:pPr marL="0" indent="0">
              <a:buNone/>
            </a:pPr>
            <a:r>
              <a:rPr lang="en-US" sz="1250" b="1" dirty="0">
                <a:solidFill>
                  <a:srgbClr val="1B2230"/>
                </a:solidFill>
                <a:latin typeface="Calibri" pitchFamily="34" charset="0"/>
                <a:ea typeface="Calibri" pitchFamily="34" charset="-122"/>
                <a:cs typeface="Calibri" pitchFamily="34" charset="-120"/>
              </a:rPr>
              <a:t>If no reply</a:t>
            </a:r>
            <a:endParaRPr lang="en-US" sz="1250" dirty="0"/>
          </a:p>
          <a:p>
            <a:pPr marL="0" indent="0">
              <a:buNone/>
            </a:pPr>
            <a:r>
              <a:rPr lang="en-US" sz="1250" dirty="0">
                <a:solidFill>
                  <a:srgbClr val="5B6475"/>
                </a:solidFill>
                <a:latin typeface="Calibri" pitchFamily="34" charset="0"/>
                <a:ea typeface="Calibri" pitchFamily="34" charset="-122"/>
                <a:cs typeface="Calibri" pitchFamily="34" charset="-120"/>
              </a:rPr>
              <a:t>Monthly nurture</a:t>
            </a:r>
            <a:endParaRPr lang="en-US" sz="1250" dirty="0"/>
          </a:p>
        </p:txBody>
      </p:sp>
      <p:sp>
        <p:nvSpPr>
          <p:cNvPr id="10" name="Shape 8"/>
          <p:cNvSpPr/>
          <p:nvPr/>
        </p:nvSpPr>
        <p:spPr>
          <a:xfrm>
            <a:off x="4160520" y="530352"/>
            <a:ext cx="7418527" cy="1656334"/>
          </a:xfrm>
          <a:prstGeom prst="roundRect">
            <a:avLst>
              <a:gd name="adj" fmla="val 5521"/>
            </a:avLst>
          </a:prstGeom>
          <a:solidFill>
            <a:srgbClr val="FFFFFF"/>
          </a:solidFill>
          <a:ln w="9525">
            <a:solidFill>
              <a:srgbClr val="DDE1E8"/>
            </a:solidFill>
            <a:prstDash val="solid"/>
          </a:ln>
        </p:spPr>
        <p:txBody>
          <a:bodyPr/>
          <a:lstStyle/>
          <a:p>
            <a:endParaRPr lang="en-MX"/>
          </a:p>
        </p:txBody>
      </p:sp>
      <p:sp>
        <p:nvSpPr>
          <p:cNvPr id="11" name="Text 9"/>
          <p:cNvSpPr txBox="1"/>
          <p:nvPr/>
        </p:nvSpPr>
        <p:spPr>
          <a:xfrm>
            <a:off x="4315968" y="640080"/>
            <a:ext cx="457200" cy="219456"/>
          </a:xfrm>
          <a:prstGeom prst="rect">
            <a:avLst/>
          </a:prstGeom>
          <a:noFill/>
          <a:ln/>
        </p:spPr>
        <p:txBody>
          <a:bodyPr wrap="square" lIns="0" tIns="0" rIns="0" bIns="0" rtlCol="0" anchor="ctr"/>
          <a:lstStyle/>
          <a:p>
            <a:pPr marL="0" indent="0">
              <a:buNone/>
            </a:pPr>
            <a:r>
              <a:rPr lang="en-US" sz="1200" b="1" dirty="0">
                <a:solidFill>
                  <a:srgbClr val="1B2230"/>
                </a:solidFill>
                <a:latin typeface="Calibri" pitchFamily="34" charset="0"/>
                <a:ea typeface="Calibri" pitchFamily="34" charset="-122"/>
                <a:cs typeface="Calibri" pitchFamily="34" charset="-120"/>
              </a:rPr>
              <a:t>A1</a:t>
            </a:r>
            <a:endParaRPr lang="en-US" sz="1200" dirty="0"/>
          </a:p>
        </p:txBody>
      </p:sp>
      <p:sp>
        <p:nvSpPr>
          <p:cNvPr id="12" name="Text 10"/>
          <p:cNvSpPr txBox="1"/>
          <p:nvPr/>
        </p:nvSpPr>
        <p:spPr>
          <a:xfrm>
            <a:off x="4590288" y="640080"/>
            <a:ext cx="5736031" cy="219456"/>
          </a:xfrm>
          <a:prstGeom prst="rect">
            <a:avLst/>
          </a:prstGeom>
          <a:noFill/>
          <a:ln/>
        </p:spPr>
        <p:txBody>
          <a:bodyPr wrap="square" lIns="0" tIns="0" rIns="0" bIns="0" rtlCol="0" anchor="ctr"/>
          <a:lstStyle/>
          <a:p>
            <a:pPr marL="0" indent="0">
              <a:buNone/>
            </a:pPr>
            <a:r>
              <a:rPr lang="en-US" sz="950" dirty="0">
                <a:solidFill>
                  <a:srgbClr val="5B6475"/>
                </a:solidFill>
                <a:latin typeface="Calibri" pitchFamily="34" charset="0"/>
                <a:ea typeface="Calibri" pitchFamily="34" charset="-122"/>
                <a:cs typeface="Calibri" pitchFamily="34" charset="-120"/>
              </a:rPr>
              <a:t>1 hour later</a:t>
            </a:r>
            <a:endParaRPr lang="en-US" sz="950" dirty="0"/>
          </a:p>
        </p:txBody>
      </p:sp>
      <p:sp>
        <p:nvSpPr>
          <p:cNvPr id="13" name="Shape 11"/>
          <p:cNvSpPr/>
          <p:nvPr/>
        </p:nvSpPr>
        <p:spPr>
          <a:xfrm>
            <a:off x="10867187" y="658368"/>
            <a:ext cx="556412" cy="220370"/>
          </a:xfrm>
          <a:prstGeom prst="roundRect">
            <a:avLst>
              <a:gd name="adj" fmla="val 50000"/>
            </a:avLst>
          </a:prstGeom>
          <a:solidFill>
            <a:srgbClr val="E9ECF6"/>
          </a:solidFill>
          <a:ln w="9525">
            <a:solidFill>
              <a:srgbClr val="E9ECF6"/>
            </a:solidFill>
            <a:prstDash val="solid"/>
          </a:ln>
        </p:spPr>
        <p:txBody>
          <a:bodyPr/>
          <a:lstStyle/>
          <a:p>
            <a:endParaRPr lang="en-MX"/>
          </a:p>
        </p:txBody>
      </p:sp>
      <p:sp>
        <p:nvSpPr>
          <p:cNvPr id="14" name="Text 12"/>
          <p:cNvSpPr txBox="1"/>
          <p:nvPr/>
        </p:nvSpPr>
        <p:spPr>
          <a:xfrm>
            <a:off x="10867187" y="658368"/>
            <a:ext cx="556412" cy="220370"/>
          </a:xfrm>
          <a:prstGeom prst="rect">
            <a:avLst/>
          </a:prstGeom>
          <a:noFill/>
          <a:ln/>
        </p:spPr>
        <p:txBody>
          <a:bodyPr wrap="square" lIns="0" tIns="0" rIns="0" bIns="0" rtlCol="0" anchor="ctr"/>
          <a:lstStyle/>
          <a:p>
            <a:pPr marL="0" indent="0" algn="ctr">
              <a:buNone/>
            </a:pPr>
            <a:r>
              <a:rPr lang="en-US" sz="850" dirty="0">
                <a:solidFill>
                  <a:srgbClr val="3D4F86"/>
                </a:solidFill>
                <a:latin typeface="Calibri" pitchFamily="34" charset="0"/>
                <a:ea typeface="Calibri" pitchFamily="34" charset="-122"/>
                <a:cs typeface="Calibri" pitchFamily="34" charset="-120"/>
              </a:rPr>
              <a:t>Email</a:t>
            </a:r>
            <a:endParaRPr lang="en-US" sz="850" dirty="0"/>
          </a:p>
        </p:txBody>
      </p:sp>
      <p:sp>
        <p:nvSpPr>
          <p:cNvPr id="15" name="Text 13"/>
          <p:cNvSpPr txBox="1"/>
          <p:nvPr/>
        </p:nvSpPr>
        <p:spPr>
          <a:xfrm>
            <a:off x="4315968" y="914400"/>
            <a:ext cx="7107631" cy="188722"/>
          </a:xfrm>
          <a:prstGeom prst="rect">
            <a:avLst/>
          </a:prstGeom>
          <a:noFill/>
          <a:ln/>
        </p:spPr>
        <p:txBody>
          <a:bodyPr wrap="square" lIns="0" tIns="0" rIns="0" bIns="0" rtlCol="0" anchor="t"/>
          <a:lstStyle/>
          <a:p>
            <a:pPr marL="0" indent="0">
              <a:buNone/>
            </a:pPr>
            <a:r>
              <a:rPr lang="en-US" sz="1100" b="1" dirty="0">
                <a:solidFill>
                  <a:srgbClr val="1B2230"/>
                </a:solidFill>
                <a:latin typeface="Calibri" pitchFamily="34" charset="0"/>
                <a:ea typeface="Calibri" pitchFamily="34" charset="-122"/>
                <a:cs typeface="Calibri" pitchFamily="34" charset="-120"/>
              </a:rPr>
              <a:t>You were {{preguntas_restantes}} questions away</a:t>
            </a:r>
            <a:endParaRPr lang="en-US" sz="1100" dirty="0"/>
          </a:p>
        </p:txBody>
      </p:sp>
      <p:sp>
        <p:nvSpPr>
          <p:cNvPr id="16" name="Text 14"/>
          <p:cNvSpPr txBox="1"/>
          <p:nvPr/>
        </p:nvSpPr>
        <p:spPr>
          <a:xfrm>
            <a:off x="4315968" y="1139698"/>
            <a:ext cx="7107631" cy="589788"/>
          </a:xfrm>
          <a:prstGeom prst="rect">
            <a:avLst/>
          </a:prstGeom>
          <a:noFill/>
          <a:ln/>
        </p:spPr>
        <p:txBody>
          <a:bodyPr wrap="square" lIns="0" tIns="0" rIns="0" bIns="0" rtlCol="0" anchor="t"/>
          <a:lstStyle/>
          <a:p>
            <a:pPr marL="0" indent="0">
              <a:lnSpc>
                <a:spcPct val="105000"/>
              </a:lnSpc>
              <a:buNone/>
            </a:pPr>
            <a:r>
              <a:rPr lang="en-US" sz="1200" dirty="0">
                <a:solidFill>
                  <a:srgbClr val="1B2230"/>
                </a:solidFill>
                <a:latin typeface="Cambria" pitchFamily="34" charset="0"/>
                <a:ea typeface="Cambria" pitchFamily="34" charset="-122"/>
                <a:cs typeface="Cambria" pitchFamily="34" charset="-120"/>
              </a:rPr>
              <a:t>You stopped at question {{pregunta_actual}} of {{total_preguntas}}. Your answers are saved: you're a few minutes away from seeing your six financial abilities and which one is holding you back today.</a:t>
            </a:r>
            <a:endParaRPr lang="en-US" sz="1200" dirty="0"/>
          </a:p>
        </p:txBody>
      </p:sp>
      <p:sp>
        <p:nvSpPr>
          <p:cNvPr id="17" name="Shape 15"/>
          <p:cNvSpPr/>
          <p:nvPr/>
        </p:nvSpPr>
        <p:spPr>
          <a:xfrm>
            <a:off x="4315968" y="1820926"/>
            <a:ext cx="1857329" cy="232258"/>
          </a:xfrm>
          <a:prstGeom prst="roundRect">
            <a:avLst>
              <a:gd name="adj" fmla="val 50000"/>
            </a:avLst>
          </a:prstGeom>
          <a:solidFill>
            <a:srgbClr val="1B2230"/>
          </a:solidFill>
          <a:ln w="9525">
            <a:solidFill>
              <a:srgbClr val="1B2230"/>
            </a:solidFill>
            <a:prstDash val="solid"/>
          </a:ln>
        </p:spPr>
        <p:txBody>
          <a:bodyPr/>
          <a:lstStyle/>
          <a:p>
            <a:endParaRPr lang="en-MX"/>
          </a:p>
        </p:txBody>
      </p:sp>
      <p:sp>
        <p:nvSpPr>
          <p:cNvPr id="18" name="Text 16"/>
          <p:cNvSpPr txBox="1"/>
          <p:nvPr/>
        </p:nvSpPr>
        <p:spPr>
          <a:xfrm>
            <a:off x="4315968" y="1820926"/>
            <a:ext cx="1857329" cy="23225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Continue my mini profile</a:t>
            </a:r>
            <a:endParaRPr lang="en-US" sz="900" dirty="0"/>
          </a:p>
        </p:txBody>
      </p:sp>
      <p:sp>
        <p:nvSpPr>
          <p:cNvPr id="19" name="Shape 17"/>
          <p:cNvSpPr/>
          <p:nvPr/>
        </p:nvSpPr>
        <p:spPr>
          <a:xfrm>
            <a:off x="4160520" y="2314702"/>
            <a:ext cx="7418527" cy="1258824"/>
          </a:xfrm>
          <a:prstGeom prst="roundRect">
            <a:avLst>
              <a:gd name="adj" fmla="val 7264"/>
            </a:avLst>
          </a:prstGeom>
          <a:solidFill>
            <a:srgbClr val="FFFFFF"/>
          </a:solidFill>
          <a:ln w="9525">
            <a:solidFill>
              <a:srgbClr val="DDE1E8"/>
            </a:solidFill>
            <a:prstDash val="solid"/>
          </a:ln>
        </p:spPr>
        <p:txBody>
          <a:bodyPr/>
          <a:lstStyle/>
          <a:p>
            <a:endParaRPr lang="en-MX"/>
          </a:p>
        </p:txBody>
      </p:sp>
      <p:sp>
        <p:nvSpPr>
          <p:cNvPr id="20" name="Text 18"/>
          <p:cNvSpPr txBox="1"/>
          <p:nvPr/>
        </p:nvSpPr>
        <p:spPr>
          <a:xfrm>
            <a:off x="4315968" y="2424430"/>
            <a:ext cx="457200" cy="219456"/>
          </a:xfrm>
          <a:prstGeom prst="rect">
            <a:avLst/>
          </a:prstGeom>
          <a:noFill/>
          <a:ln/>
        </p:spPr>
        <p:txBody>
          <a:bodyPr wrap="square" lIns="0" tIns="0" rIns="0" bIns="0" rtlCol="0" anchor="ctr"/>
          <a:lstStyle/>
          <a:p>
            <a:pPr marL="0" indent="0">
              <a:buNone/>
            </a:pPr>
            <a:r>
              <a:rPr lang="en-US" sz="1200" b="1" dirty="0">
                <a:solidFill>
                  <a:srgbClr val="1B2230"/>
                </a:solidFill>
                <a:latin typeface="Calibri" pitchFamily="34" charset="0"/>
                <a:ea typeface="Calibri" pitchFamily="34" charset="-122"/>
                <a:cs typeface="Calibri" pitchFamily="34" charset="-120"/>
              </a:rPr>
              <a:t>A2</a:t>
            </a:r>
            <a:endParaRPr lang="en-US" sz="1200" dirty="0"/>
          </a:p>
        </p:txBody>
      </p:sp>
      <p:sp>
        <p:nvSpPr>
          <p:cNvPr id="21" name="Text 19"/>
          <p:cNvSpPr txBox="1"/>
          <p:nvPr/>
        </p:nvSpPr>
        <p:spPr>
          <a:xfrm>
            <a:off x="4590288" y="2424430"/>
            <a:ext cx="5736031" cy="219456"/>
          </a:xfrm>
          <a:prstGeom prst="rect">
            <a:avLst/>
          </a:prstGeom>
          <a:noFill/>
          <a:ln/>
        </p:spPr>
        <p:txBody>
          <a:bodyPr wrap="square" lIns="0" tIns="0" rIns="0" bIns="0" rtlCol="0" anchor="ctr"/>
          <a:lstStyle/>
          <a:p>
            <a:pPr marL="0" indent="0">
              <a:buNone/>
            </a:pPr>
            <a:r>
              <a:rPr lang="en-US" sz="950" dirty="0">
                <a:solidFill>
                  <a:srgbClr val="5B6475"/>
                </a:solidFill>
                <a:latin typeface="Calibri" pitchFamily="34" charset="0"/>
                <a:ea typeface="Calibri" pitchFamily="34" charset="-122"/>
                <a:cs typeface="Calibri" pitchFamily="34" charset="-120"/>
              </a:rPr>
              <a:t>23 hours later</a:t>
            </a:r>
            <a:endParaRPr lang="en-US" sz="950" dirty="0"/>
          </a:p>
        </p:txBody>
      </p:sp>
      <p:sp>
        <p:nvSpPr>
          <p:cNvPr id="22" name="Shape 20"/>
          <p:cNvSpPr/>
          <p:nvPr/>
        </p:nvSpPr>
        <p:spPr>
          <a:xfrm>
            <a:off x="10675986" y="2442718"/>
            <a:ext cx="747613" cy="220370"/>
          </a:xfrm>
          <a:prstGeom prst="roundRect">
            <a:avLst>
              <a:gd name="adj" fmla="val 50000"/>
            </a:avLst>
          </a:prstGeom>
          <a:solidFill>
            <a:srgbClr val="E1F2EF"/>
          </a:solidFill>
          <a:ln w="9525">
            <a:solidFill>
              <a:srgbClr val="E1F2EF"/>
            </a:solidFill>
            <a:prstDash val="solid"/>
          </a:ln>
        </p:spPr>
        <p:txBody>
          <a:bodyPr/>
          <a:lstStyle/>
          <a:p>
            <a:endParaRPr lang="en-MX"/>
          </a:p>
        </p:txBody>
      </p:sp>
      <p:sp>
        <p:nvSpPr>
          <p:cNvPr id="23" name="Text 21"/>
          <p:cNvSpPr txBox="1"/>
          <p:nvPr/>
        </p:nvSpPr>
        <p:spPr>
          <a:xfrm>
            <a:off x="10675986" y="2442718"/>
            <a:ext cx="747613" cy="220370"/>
          </a:xfrm>
          <a:prstGeom prst="rect">
            <a:avLst/>
          </a:prstGeom>
          <a:noFill/>
          <a:ln/>
        </p:spPr>
        <p:txBody>
          <a:bodyPr wrap="square" lIns="0" tIns="0" rIns="0" bIns="0" rtlCol="0" anchor="ctr"/>
          <a:lstStyle/>
          <a:p>
            <a:pPr marL="0" indent="0" algn="ctr">
              <a:buNone/>
            </a:pPr>
            <a:r>
              <a:rPr lang="en-US" sz="850" dirty="0">
                <a:solidFill>
                  <a:srgbClr val="1F7A70"/>
                </a:solidFill>
                <a:latin typeface="Calibri" pitchFamily="34" charset="0"/>
                <a:ea typeface="Calibri" pitchFamily="34" charset="-122"/>
                <a:cs typeface="Calibri" pitchFamily="34" charset="-120"/>
              </a:rPr>
              <a:t>WhatsApp</a:t>
            </a:r>
            <a:endParaRPr lang="en-US" sz="850" dirty="0"/>
          </a:p>
        </p:txBody>
      </p:sp>
      <p:sp>
        <p:nvSpPr>
          <p:cNvPr id="24" name="Text 22"/>
          <p:cNvSpPr txBox="1"/>
          <p:nvPr/>
        </p:nvSpPr>
        <p:spPr>
          <a:xfrm>
            <a:off x="4315968" y="2698750"/>
            <a:ext cx="7107631" cy="399288"/>
          </a:xfrm>
          <a:prstGeom prst="rect">
            <a:avLst/>
          </a:prstGeom>
          <a:noFill/>
          <a:ln/>
        </p:spPr>
        <p:txBody>
          <a:bodyPr wrap="square" lIns="0" tIns="0" rIns="0" bIns="0" rtlCol="0" anchor="t"/>
          <a:lstStyle/>
          <a:p>
            <a:pPr marL="0" indent="0">
              <a:lnSpc>
                <a:spcPct val="105000"/>
              </a:lnSpc>
              <a:buNone/>
            </a:pPr>
            <a:r>
              <a:rPr lang="en-US" sz="1200" dirty="0">
                <a:solidFill>
                  <a:srgbClr val="1B2230"/>
                </a:solidFill>
                <a:latin typeface="Cambria" pitchFamily="34" charset="0"/>
                <a:ea typeface="Cambria" pitchFamily="34" charset="-122"/>
                <a:cs typeface="Cambria" pitchFamily="34" charset="-120"/>
              </a:rPr>
              <a:t>Hi {{nombre}}, this is the Zones of Life team. Your Financial Mini Profile is still saved: {{preguntas_restantes}} questions to go before you see your six abilities. Shall we finish it?</a:t>
            </a:r>
            <a:endParaRPr lang="en-US" sz="1200" dirty="0"/>
          </a:p>
        </p:txBody>
      </p:sp>
      <p:sp>
        <p:nvSpPr>
          <p:cNvPr id="25" name="Shape 23"/>
          <p:cNvSpPr/>
          <p:nvPr/>
        </p:nvSpPr>
        <p:spPr>
          <a:xfrm>
            <a:off x="4315968" y="3189478"/>
            <a:ext cx="1249985" cy="232258"/>
          </a:xfrm>
          <a:prstGeom prst="roundRect">
            <a:avLst>
              <a:gd name="adj" fmla="val 50000"/>
            </a:avLst>
          </a:prstGeom>
          <a:solidFill>
            <a:srgbClr val="1B2230"/>
          </a:solidFill>
          <a:ln w="9525">
            <a:solidFill>
              <a:srgbClr val="1B2230"/>
            </a:solidFill>
            <a:prstDash val="solid"/>
          </a:ln>
        </p:spPr>
        <p:txBody>
          <a:bodyPr/>
          <a:lstStyle/>
          <a:p>
            <a:endParaRPr lang="en-MX"/>
          </a:p>
        </p:txBody>
      </p:sp>
      <p:sp>
        <p:nvSpPr>
          <p:cNvPr id="26" name="Text 24"/>
          <p:cNvSpPr txBox="1"/>
          <p:nvPr/>
        </p:nvSpPr>
        <p:spPr>
          <a:xfrm>
            <a:off x="4315968" y="3189478"/>
            <a:ext cx="1249985" cy="23225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Continue now</a:t>
            </a:r>
            <a:endParaRPr lang="en-US" sz="900" dirty="0"/>
          </a:p>
        </p:txBody>
      </p:sp>
      <p:sp>
        <p:nvSpPr>
          <p:cNvPr id="27" name="Shape 25"/>
          <p:cNvSpPr/>
          <p:nvPr/>
        </p:nvSpPr>
        <p:spPr>
          <a:xfrm>
            <a:off x="5639105" y="3189478"/>
            <a:ext cx="1519916" cy="232258"/>
          </a:xfrm>
          <a:prstGeom prst="roundRect">
            <a:avLst>
              <a:gd name="adj" fmla="val 50000"/>
            </a:avLst>
          </a:prstGeom>
          <a:solidFill>
            <a:srgbClr val="FFFFFF"/>
          </a:solidFill>
          <a:ln w="9525">
            <a:solidFill>
              <a:srgbClr val="DDE1E8"/>
            </a:solidFill>
            <a:prstDash val="solid"/>
          </a:ln>
        </p:spPr>
        <p:txBody>
          <a:bodyPr/>
          <a:lstStyle/>
          <a:p>
            <a:endParaRPr lang="en-MX"/>
          </a:p>
        </p:txBody>
      </p:sp>
      <p:sp>
        <p:nvSpPr>
          <p:cNvPr id="28" name="Text 26"/>
          <p:cNvSpPr txBox="1"/>
          <p:nvPr/>
        </p:nvSpPr>
        <p:spPr>
          <a:xfrm>
            <a:off x="5639105" y="3189478"/>
            <a:ext cx="1519916" cy="232258"/>
          </a:xfrm>
          <a:prstGeom prst="rect">
            <a:avLst/>
          </a:prstGeom>
          <a:noFill/>
          <a:ln/>
        </p:spPr>
        <p:txBody>
          <a:bodyPr wrap="square" lIns="0" tIns="0" rIns="0" bIns="0" rtlCol="0" anchor="ctr"/>
          <a:lstStyle/>
          <a:p>
            <a:pPr marL="0" indent="0" algn="ctr">
              <a:buNone/>
            </a:pPr>
            <a:r>
              <a:rPr lang="en-US" sz="900" dirty="0">
                <a:solidFill>
                  <a:srgbClr val="1B2230"/>
                </a:solidFill>
                <a:latin typeface="Calibri" pitchFamily="34" charset="0"/>
                <a:ea typeface="Calibri" pitchFamily="34" charset="-122"/>
                <a:cs typeface="Calibri" pitchFamily="34" charset="-120"/>
              </a:rPr>
              <a:t>Remind me tomorrow</a:t>
            </a:r>
            <a:endParaRPr lang="en-US" sz="900" dirty="0"/>
          </a:p>
        </p:txBody>
      </p:sp>
      <p:sp>
        <p:nvSpPr>
          <p:cNvPr id="29" name="Shape 27"/>
          <p:cNvSpPr/>
          <p:nvPr/>
        </p:nvSpPr>
        <p:spPr>
          <a:xfrm>
            <a:off x="4160520" y="3701542"/>
            <a:ext cx="7418527" cy="1465834"/>
          </a:xfrm>
          <a:prstGeom prst="roundRect">
            <a:avLst>
              <a:gd name="adj" fmla="val 6238"/>
            </a:avLst>
          </a:prstGeom>
          <a:solidFill>
            <a:srgbClr val="FFFFFF"/>
          </a:solidFill>
          <a:ln w="9525">
            <a:solidFill>
              <a:srgbClr val="DDE1E8"/>
            </a:solidFill>
            <a:prstDash val="solid"/>
          </a:ln>
        </p:spPr>
        <p:txBody>
          <a:bodyPr/>
          <a:lstStyle/>
          <a:p>
            <a:endParaRPr lang="en-MX"/>
          </a:p>
        </p:txBody>
      </p:sp>
      <p:sp>
        <p:nvSpPr>
          <p:cNvPr id="30" name="Text 28"/>
          <p:cNvSpPr txBox="1"/>
          <p:nvPr/>
        </p:nvSpPr>
        <p:spPr>
          <a:xfrm>
            <a:off x="4315968" y="3811270"/>
            <a:ext cx="457200" cy="219456"/>
          </a:xfrm>
          <a:prstGeom prst="rect">
            <a:avLst/>
          </a:prstGeom>
          <a:noFill/>
          <a:ln/>
        </p:spPr>
        <p:txBody>
          <a:bodyPr wrap="square" lIns="0" tIns="0" rIns="0" bIns="0" rtlCol="0" anchor="ctr"/>
          <a:lstStyle/>
          <a:p>
            <a:pPr marL="0" indent="0">
              <a:buNone/>
            </a:pPr>
            <a:r>
              <a:rPr lang="en-US" sz="1200" b="1" dirty="0">
                <a:solidFill>
                  <a:srgbClr val="1B2230"/>
                </a:solidFill>
                <a:latin typeface="Calibri" pitchFamily="34" charset="0"/>
                <a:ea typeface="Calibri" pitchFamily="34" charset="-122"/>
                <a:cs typeface="Calibri" pitchFamily="34" charset="-120"/>
              </a:rPr>
              <a:t>A3</a:t>
            </a:r>
            <a:endParaRPr lang="en-US" sz="1200" dirty="0"/>
          </a:p>
        </p:txBody>
      </p:sp>
      <p:sp>
        <p:nvSpPr>
          <p:cNvPr id="31" name="Text 29"/>
          <p:cNvSpPr txBox="1"/>
          <p:nvPr/>
        </p:nvSpPr>
        <p:spPr>
          <a:xfrm>
            <a:off x="4590288" y="3811270"/>
            <a:ext cx="5736031" cy="219456"/>
          </a:xfrm>
          <a:prstGeom prst="rect">
            <a:avLst/>
          </a:prstGeom>
          <a:noFill/>
          <a:ln/>
        </p:spPr>
        <p:txBody>
          <a:bodyPr wrap="square" lIns="0" tIns="0" rIns="0" bIns="0" rtlCol="0" anchor="ctr"/>
          <a:lstStyle/>
          <a:p>
            <a:pPr marL="0" indent="0">
              <a:buNone/>
            </a:pPr>
            <a:r>
              <a:rPr lang="en-US" sz="950" dirty="0">
                <a:solidFill>
                  <a:srgbClr val="5B6475"/>
                </a:solidFill>
                <a:latin typeface="Calibri" pitchFamily="34" charset="0"/>
                <a:ea typeface="Calibri" pitchFamily="34" charset="-122"/>
                <a:cs typeface="Calibri" pitchFamily="34" charset="-120"/>
              </a:rPr>
              <a:t>72 hours later</a:t>
            </a:r>
            <a:endParaRPr lang="en-US" sz="950" dirty="0"/>
          </a:p>
        </p:txBody>
      </p:sp>
      <p:sp>
        <p:nvSpPr>
          <p:cNvPr id="32" name="Shape 30"/>
          <p:cNvSpPr/>
          <p:nvPr/>
        </p:nvSpPr>
        <p:spPr>
          <a:xfrm>
            <a:off x="10867187" y="3829558"/>
            <a:ext cx="556412" cy="220370"/>
          </a:xfrm>
          <a:prstGeom prst="roundRect">
            <a:avLst>
              <a:gd name="adj" fmla="val 50000"/>
            </a:avLst>
          </a:prstGeom>
          <a:solidFill>
            <a:srgbClr val="E9ECF6"/>
          </a:solidFill>
          <a:ln w="9525">
            <a:solidFill>
              <a:srgbClr val="E9ECF6"/>
            </a:solidFill>
            <a:prstDash val="solid"/>
          </a:ln>
        </p:spPr>
        <p:txBody>
          <a:bodyPr/>
          <a:lstStyle/>
          <a:p>
            <a:endParaRPr lang="en-MX"/>
          </a:p>
        </p:txBody>
      </p:sp>
      <p:sp>
        <p:nvSpPr>
          <p:cNvPr id="33" name="Text 31"/>
          <p:cNvSpPr txBox="1"/>
          <p:nvPr/>
        </p:nvSpPr>
        <p:spPr>
          <a:xfrm>
            <a:off x="10867187" y="3829558"/>
            <a:ext cx="556412" cy="220370"/>
          </a:xfrm>
          <a:prstGeom prst="rect">
            <a:avLst/>
          </a:prstGeom>
          <a:noFill/>
          <a:ln/>
        </p:spPr>
        <p:txBody>
          <a:bodyPr wrap="square" lIns="0" tIns="0" rIns="0" bIns="0" rtlCol="0" anchor="ctr"/>
          <a:lstStyle/>
          <a:p>
            <a:pPr marL="0" indent="0" algn="ctr">
              <a:buNone/>
            </a:pPr>
            <a:r>
              <a:rPr lang="en-US" sz="850" dirty="0">
                <a:solidFill>
                  <a:srgbClr val="3D4F86"/>
                </a:solidFill>
                <a:latin typeface="Calibri" pitchFamily="34" charset="0"/>
                <a:ea typeface="Calibri" pitchFamily="34" charset="-122"/>
                <a:cs typeface="Calibri" pitchFamily="34" charset="-120"/>
              </a:rPr>
              <a:t>Email</a:t>
            </a:r>
            <a:endParaRPr lang="en-US" sz="850" dirty="0"/>
          </a:p>
        </p:txBody>
      </p:sp>
      <p:sp>
        <p:nvSpPr>
          <p:cNvPr id="34" name="Text 32"/>
          <p:cNvSpPr txBox="1"/>
          <p:nvPr/>
        </p:nvSpPr>
        <p:spPr>
          <a:xfrm>
            <a:off x="4315968" y="4085590"/>
            <a:ext cx="7107631" cy="188722"/>
          </a:xfrm>
          <a:prstGeom prst="rect">
            <a:avLst/>
          </a:prstGeom>
          <a:noFill/>
          <a:ln/>
        </p:spPr>
        <p:txBody>
          <a:bodyPr wrap="square" lIns="0" tIns="0" rIns="0" bIns="0" rtlCol="0" anchor="t"/>
          <a:lstStyle/>
          <a:p>
            <a:pPr marL="0" indent="0">
              <a:buNone/>
            </a:pPr>
            <a:r>
              <a:rPr lang="en-US" sz="1100" b="1" dirty="0">
                <a:solidFill>
                  <a:srgbClr val="1B2230"/>
                </a:solidFill>
                <a:latin typeface="Calibri" pitchFamily="34" charset="0"/>
                <a:ea typeface="Calibri" pitchFamily="34" charset="-122"/>
                <a:cs typeface="Calibri" pitchFamily="34" charset="-120"/>
              </a:rPr>
              <a:t>The ability you think is holding you back rarely is</a:t>
            </a:r>
            <a:endParaRPr lang="en-US" sz="1100" dirty="0"/>
          </a:p>
        </p:txBody>
      </p:sp>
      <p:sp>
        <p:nvSpPr>
          <p:cNvPr id="35" name="Text 33"/>
          <p:cNvSpPr txBox="1"/>
          <p:nvPr/>
        </p:nvSpPr>
        <p:spPr>
          <a:xfrm>
            <a:off x="4315968" y="4310888"/>
            <a:ext cx="7107631" cy="399288"/>
          </a:xfrm>
          <a:prstGeom prst="rect">
            <a:avLst/>
          </a:prstGeom>
          <a:noFill/>
          <a:ln/>
        </p:spPr>
        <p:txBody>
          <a:bodyPr wrap="square" lIns="0" tIns="0" rIns="0" bIns="0" rtlCol="0" anchor="t"/>
          <a:lstStyle/>
          <a:p>
            <a:pPr marL="0" indent="0">
              <a:lnSpc>
                <a:spcPct val="105000"/>
              </a:lnSpc>
              <a:buNone/>
            </a:pPr>
            <a:r>
              <a:rPr lang="en-US" sz="1200" dirty="0">
                <a:solidFill>
                  <a:srgbClr val="1B2230"/>
                </a:solidFill>
                <a:latin typeface="Cambria" pitchFamily="34" charset="0"/>
                <a:ea typeface="Cambria" pitchFamily="34" charset="-122"/>
                <a:cs typeface="Cambria" pitchFamily="34" charset="-120"/>
              </a:rPr>
              <a:t>Most people arrive certain the problem is that they don't earn enough. Once it's measured, the low point is usually somewhere else. Your progress is saved for {{dias_guardado}} more days.</a:t>
            </a:r>
            <a:endParaRPr lang="en-US" sz="1200" dirty="0"/>
          </a:p>
        </p:txBody>
      </p:sp>
      <p:sp>
        <p:nvSpPr>
          <p:cNvPr id="36" name="Shape 34"/>
          <p:cNvSpPr/>
          <p:nvPr/>
        </p:nvSpPr>
        <p:spPr>
          <a:xfrm>
            <a:off x="4315968" y="4801616"/>
            <a:ext cx="1789847" cy="232258"/>
          </a:xfrm>
          <a:prstGeom prst="roundRect">
            <a:avLst>
              <a:gd name="adj" fmla="val 50000"/>
            </a:avLst>
          </a:prstGeom>
          <a:solidFill>
            <a:srgbClr val="1B2230"/>
          </a:solidFill>
          <a:ln w="9525">
            <a:solidFill>
              <a:srgbClr val="1B2230"/>
            </a:solidFill>
            <a:prstDash val="solid"/>
          </a:ln>
        </p:spPr>
        <p:txBody>
          <a:bodyPr/>
          <a:lstStyle/>
          <a:p>
            <a:endParaRPr lang="en-MX"/>
          </a:p>
        </p:txBody>
      </p:sp>
      <p:sp>
        <p:nvSpPr>
          <p:cNvPr id="37" name="Text 35"/>
          <p:cNvSpPr txBox="1"/>
          <p:nvPr/>
        </p:nvSpPr>
        <p:spPr>
          <a:xfrm>
            <a:off x="4315968" y="4801616"/>
            <a:ext cx="1789847" cy="23225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Finish my mini profile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7F9"/>
        </a:solidFill>
        <a:effectLst/>
      </p:bgPr>
    </p:bg>
    <p:spTree>
      <p:nvGrpSpPr>
        <p:cNvPr id="1" name=""/>
        <p:cNvGrpSpPr/>
        <p:nvPr/>
      </p:nvGrpSpPr>
      <p:grpSpPr>
        <a:xfrm>
          <a:off x="0" y="0"/>
          <a:ext cx="0" cy="0"/>
          <a:chOff x="0" y="0"/>
          <a:chExt cx="0" cy="0"/>
        </a:xfrm>
      </p:grpSpPr>
      <p:sp>
        <p:nvSpPr>
          <p:cNvPr id="2" name="Text 0"/>
          <p:cNvSpPr txBox="1"/>
          <p:nvPr/>
        </p:nvSpPr>
        <p:spPr>
          <a:xfrm>
            <a:off x="612648" y="6446520"/>
            <a:ext cx="4572000" cy="228600"/>
          </a:xfrm>
          <a:prstGeom prst="rect">
            <a:avLst/>
          </a:prstGeom>
          <a:noFill/>
          <a:ln/>
        </p:spPr>
        <p:txBody>
          <a:bodyPr wrap="square" lIns="0" tIns="0" rIns="0" bIns="0" rtlCol="0" anchor="ctr"/>
          <a:lstStyle/>
          <a:p>
            <a:pPr marL="0" indent="0">
              <a:buNone/>
            </a:pPr>
            <a:r>
              <a:rPr lang="en-US" sz="900" dirty="0">
                <a:solidFill>
                  <a:srgbClr val="5B6475"/>
                </a:solidFill>
                <a:latin typeface="Calibri" pitchFamily="34" charset="0"/>
                <a:ea typeface="Calibri" pitchFamily="34" charset="-122"/>
                <a:cs typeface="Calibri" pitchFamily="34" charset="-120"/>
              </a:rPr>
              <a:t>Zones of Life: funnels and copy</a:t>
            </a:r>
            <a:endParaRPr lang="en-US" sz="900" dirty="0"/>
          </a:p>
        </p:txBody>
      </p:sp>
      <p:sp>
        <p:nvSpPr>
          <p:cNvPr id="3" name="Text 1"/>
          <p:cNvSpPr txBox="1"/>
          <p:nvPr/>
        </p:nvSpPr>
        <p:spPr>
          <a:xfrm>
            <a:off x="10881360" y="6446520"/>
            <a:ext cx="694944" cy="228600"/>
          </a:xfrm>
          <a:prstGeom prst="rect">
            <a:avLst/>
          </a:prstGeom>
          <a:noFill/>
          <a:ln/>
        </p:spPr>
        <p:txBody>
          <a:bodyPr wrap="square" lIns="0" tIns="0" rIns="0" bIns="0" rtlCol="0" anchor="ctr"/>
          <a:lstStyle/>
          <a:p>
            <a:pPr marL="0" indent="0" algn="r">
              <a:buNone/>
            </a:pPr>
            <a:r>
              <a:rPr lang="en-US" sz="900" dirty="0">
                <a:solidFill>
                  <a:srgbClr val="5B6475"/>
                </a:solidFill>
                <a:latin typeface="Calibri" pitchFamily="34" charset="0"/>
                <a:ea typeface="Calibri" pitchFamily="34" charset="-122"/>
                <a:cs typeface="Calibri" pitchFamily="34" charset="-120"/>
              </a:rPr>
              <a:t>6</a:t>
            </a:r>
            <a:endParaRPr lang="en-US" sz="900" dirty="0"/>
          </a:p>
        </p:txBody>
      </p:sp>
      <p:sp>
        <p:nvSpPr>
          <p:cNvPr id="4" name="Shape 2"/>
          <p:cNvSpPr/>
          <p:nvPr/>
        </p:nvSpPr>
        <p:spPr>
          <a:xfrm>
            <a:off x="612648" y="530352"/>
            <a:ext cx="1737360" cy="256032"/>
          </a:xfrm>
          <a:prstGeom prst="roundRect">
            <a:avLst>
              <a:gd name="adj" fmla="val 50000"/>
            </a:avLst>
          </a:prstGeom>
          <a:solidFill>
            <a:srgbClr val="F5E6EE"/>
          </a:solidFill>
          <a:ln w="9525">
            <a:solidFill>
              <a:srgbClr val="F5E6EE"/>
            </a:solidFill>
            <a:prstDash val="solid"/>
          </a:ln>
        </p:spPr>
        <p:txBody>
          <a:bodyPr/>
          <a:lstStyle/>
          <a:p>
            <a:endParaRPr lang="en-MX"/>
          </a:p>
        </p:txBody>
      </p:sp>
      <p:sp>
        <p:nvSpPr>
          <p:cNvPr id="5" name="Text 3"/>
          <p:cNvSpPr txBox="1"/>
          <p:nvPr/>
        </p:nvSpPr>
        <p:spPr>
          <a:xfrm>
            <a:off x="612648" y="530352"/>
            <a:ext cx="1737360" cy="256032"/>
          </a:xfrm>
          <a:prstGeom prst="rect">
            <a:avLst/>
          </a:prstGeom>
          <a:noFill/>
          <a:ln/>
        </p:spPr>
        <p:txBody>
          <a:bodyPr wrap="square" lIns="0" tIns="0" rIns="0" bIns="0" rtlCol="0" anchor="ctr"/>
          <a:lstStyle/>
          <a:p>
            <a:pPr marL="0" indent="0" algn="ctr">
              <a:buNone/>
            </a:pPr>
            <a:r>
              <a:rPr lang="en-US" sz="1000" b="1" dirty="0">
                <a:solidFill>
                  <a:srgbClr val="9A3D6A"/>
                </a:solidFill>
                <a:latin typeface="Calibri" pitchFamily="34" charset="0"/>
                <a:ea typeface="Calibri" pitchFamily="34" charset="-122"/>
                <a:cs typeface="Calibri" pitchFamily="34" charset="-120"/>
              </a:rPr>
              <a:t>Recovery, 1 of 2</a:t>
            </a:r>
            <a:endParaRPr lang="en-US" sz="1000" dirty="0"/>
          </a:p>
        </p:txBody>
      </p:sp>
      <p:sp>
        <p:nvSpPr>
          <p:cNvPr id="6" name="Text 4"/>
          <p:cNvSpPr txBox="1"/>
          <p:nvPr/>
        </p:nvSpPr>
        <p:spPr>
          <a:xfrm>
            <a:off x="612648" y="941832"/>
            <a:ext cx="3200400" cy="1197864"/>
          </a:xfrm>
          <a:prstGeom prst="rect">
            <a:avLst/>
          </a:prstGeom>
          <a:noFill/>
          <a:ln/>
        </p:spPr>
        <p:txBody>
          <a:bodyPr wrap="square" lIns="0" tIns="0" rIns="0" bIns="0" rtlCol="0" anchor="t"/>
          <a:lstStyle/>
          <a:p>
            <a:pPr marL="0" indent="0">
              <a:lnSpc>
                <a:spcPct val="95000"/>
              </a:lnSpc>
              <a:buNone/>
            </a:pPr>
            <a:r>
              <a:rPr lang="en-US" sz="2800" dirty="0">
                <a:solidFill>
                  <a:srgbClr val="1B2230"/>
                </a:solidFill>
                <a:latin typeface="Cambria" pitchFamily="34" charset="0"/>
                <a:ea typeface="Cambria" pitchFamily="34" charset="-122"/>
                <a:cs typeface="Cambria" pitchFamily="34" charset="-120"/>
              </a:rPr>
              <a:t>Flow B: selling the Financial Health Profile</a:t>
            </a:r>
            <a:endParaRPr lang="en-US" sz="2800" dirty="0"/>
          </a:p>
        </p:txBody>
      </p:sp>
      <p:sp>
        <p:nvSpPr>
          <p:cNvPr id="7" name="Text 5"/>
          <p:cNvSpPr txBox="1"/>
          <p:nvPr/>
        </p:nvSpPr>
        <p:spPr>
          <a:xfrm>
            <a:off x="612648" y="2304288"/>
            <a:ext cx="3200400" cy="423926"/>
          </a:xfrm>
          <a:prstGeom prst="rect">
            <a:avLst/>
          </a:prstGeom>
          <a:noFill/>
          <a:ln/>
        </p:spPr>
        <p:txBody>
          <a:bodyPr wrap="square" lIns="0" tIns="0" rIns="0" bIns="0" rtlCol="0" anchor="t"/>
          <a:lstStyle/>
          <a:p>
            <a:pPr marL="0" indent="0">
              <a:buNone/>
            </a:pPr>
            <a:r>
              <a:rPr lang="en-US" sz="1250" b="1" dirty="0">
                <a:solidFill>
                  <a:srgbClr val="1B2230"/>
                </a:solidFill>
                <a:latin typeface="Calibri" pitchFamily="34" charset="0"/>
                <a:ea typeface="Calibri" pitchFamily="34" charset="-122"/>
                <a:cs typeface="Calibri" pitchFamily="34" charset="-120"/>
              </a:rPr>
              <a:t>Enters</a:t>
            </a:r>
            <a:endParaRPr lang="en-US" sz="1250" dirty="0"/>
          </a:p>
          <a:p>
            <a:pPr marL="0" indent="0">
              <a:buNone/>
            </a:pPr>
            <a:r>
              <a:rPr lang="en-US" sz="1250" dirty="0">
                <a:solidFill>
                  <a:srgbClr val="5B6475"/>
                </a:solidFill>
                <a:latin typeface="Calibri" pitchFamily="34" charset="0"/>
                <a:ea typeface="Calibri" pitchFamily="34" charset="-122"/>
                <a:cs typeface="Calibri" pitchFamily="34" charset="-120"/>
              </a:rPr>
              <a:t>Saw the mini profile, didn't buy</a:t>
            </a:r>
            <a:endParaRPr lang="en-US" sz="1250" dirty="0"/>
          </a:p>
        </p:txBody>
      </p:sp>
      <p:sp>
        <p:nvSpPr>
          <p:cNvPr id="8" name="Text 6"/>
          <p:cNvSpPr txBox="1"/>
          <p:nvPr/>
        </p:nvSpPr>
        <p:spPr>
          <a:xfrm>
            <a:off x="612648" y="2856230"/>
            <a:ext cx="3200400" cy="423926"/>
          </a:xfrm>
          <a:prstGeom prst="rect">
            <a:avLst/>
          </a:prstGeom>
          <a:noFill/>
          <a:ln/>
        </p:spPr>
        <p:txBody>
          <a:bodyPr wrap="square" lIns="0" tIns="0" rIns="0" bIns="0" rtlCol="0" anchor="t"/>
          <a:lstStyle/>
          <a:p>
            <a:pPr marL="0" indent="0">
              <a:buNone/>
            </a:pPr>
            <a:r>
              <a:rPr lang="en-US" sz="1250" b="1" dirty="0">
                <a:solidFill>
                  <a:srgbClr val="1B2230"/>
                </a:solidFill>
                <a:latin typeface="Calibri" pitchFamily="34" charset="0"/>
                <a:ea typeface="Calibri" pitchFamily="34" charset="-122"/>
                <a:cs typeface="Calibri" pitchFamily="34" charset="-120"/>
              </a:rPr>
              <a:t>Exits</a:t>
            </a:r>
            <a:endParaRPr lang="en-US" sz="1250" dirty="0"/>
          </a:p>
          <a:p>
            <a:pPr marL="0" indent="0">
              <a:buNone/>
            </a:pPr>
            <a:r>
              <a:rPr lang="en-US" sz="1250" dirty="0">
                <a:solidFill>
                  <a:srgbClr val="5B6475"/>
                </a:solidFill>
                <a:latin typeface="Calibri" pitchFamily="34" charset="0"/>
                <a:ea typeface="Calibri" pitchFamily="34" charset="-122"/>
                <a:cs typeface="Calibri" pitchFamily="34" charset="-120"/>
              </a:rPr>
              <a:t>Buys the full profile</a:t>
            </a:r>
            <a:endParaRPr lang="en-US" sz="1250" dirty="0"/>
          </a:p>
        </p:txBody>
      </p:sp>
      <p:sp>
        <p:nvSpPr>
          <p:cNvPr id="9" name="Text 7"/>
          <p:cNvSpPr txBox="1"/>
          <p:nvPr/>
        </p:nvSpPr>
        <p:spPr>
          <a:xfrm>
            <a:off x="612648" y="3408172"/>
            <a:ext cx="3200400" cy="423926"/>
          </a:xfrm>
          <a:prstGeom prst="rect">
            <a:avLst/>
          </a:prstGeom>
          <a:noFill/>
          <a:ln/>
        </p:spPr>
        <p:txBody>
          <a:bodyPr wrap="square" lIns="0" tIns="0" rIns="0" bIns="0" rtlCol="0" anchor="t"/>
          <a:lstStyle/>
          <a:p>
            <a:pPr marL="0" indent="0">
              <a:buNone/>
            </a:pPr>
            <a:r>
              <a:rPr lang="en-US" sz="1250" b="1" dirty="0">
                <a:solidFill>
                  <a:srgbClr val="1B2230"/>
                </a:solidFill>
                <a:latin typeface="Calibri" pitchFamily="34" charset="0"/>
                <a:ea typeface="Calibri" pitchFamily="34" charset="-122"/>
                <a:cs typeface="Calibri" pitchFamily="34" charset="-120"/>
              </a:rPr>
              <a:t>If no reply</a:t>
            </a:r>
            <a:endParaRPr lang="en-US" sz="1250" dirty="0"/>
          </a:p>
          <a:p>
            <a:pPr marL="0" indent="0">
              <a:buNone/>
            </a:pPr>
            <a:r>
              <a:rPr lang="en-US" sz="1250" dirty="0">
                <a:solidFill>
                  <a:srgbClr val="5B6475"/>
                </a:solidFill>
                <a:latin typeface="Calibri" pitchFamily="34" charset="0"/>
                <a:ea typeface="Calibri" pitchFamily="34" charset="-122"/>
                <a:cs typeface="Calibri" pitchFamily="34" charset="-120"/>
              </a:rPr>
              <a:t>Monthly nurture</a:t>
            </a:r>
            <a:endParaRPr lang="en-US" sz="1250" dirty="0"/>
          </a:p>
        </p:txBody>
      </p:sp>
      <p:sp>
        <p:nvSpPr>
          <p:cNvPr id="10" name="Shape 8"/>
          <p:cNvSpPr/>
          <p:nvPr/>
        </p:nvSpPr>
        <p:spPr>
          <a:xfrm>
            <a:off x="4160520" y="530352"/>
            <a:ext cx="3645256" cy="1846834"/>
          </a:xfrm>
          <a:prstGeom prst="roundRect">
            <a:avLst>
              <a:gd name="adj" fmla="val 4951"/>
            </a:avLst>
          </a:prstGeom>
          <a:solidFill>
            <a:srgbClr val="FFFFFF"/>
          </a:solidFill>
          <a:ln w="9525">
            <a:solidFill>
              <a:srgbClr val="DDE1E8"/>
            </a:solidFill>
            <a:prstDash val="solid"/>
          </a:ln>
        </p:spPr>
        <p:txBody>
          <a:bodyPr/>
          <a:lstStyle/>
          <a:p>
            <a:endParaRPr lang="en-MX"/>
          </a:p>
        </p:txBody>
      </p:sp>
      <p:sp>
        <p:nvSpPr>
          <p:cNvPr id="11" name="Text 9"/>
          <p:cNvSpPr txBox="1"/>
          <p:nvPr/>
        </p:nvSpPr>
        <p:spPr>
          <a:xfrm>
            <a:off x="4315968" y="640080"/>
            <a:ext cx="457200" cy="219456"/>
          </a:xfrm>
          <a:prstGeom prst="rect">
            <a:avLst/>
          </a:prstGeom>
          <a:noFill/>
          <a:ln/>
        </p:spPr>
        <p:txBody>
          <a:bodyPr wrap="square" lIns="0" tIns="0" rIns="0" bIns="0" rtlCol="0" anchor="ctr"/>
          <a:lstStyle/>
          <a:p>
            <a:pPr marL="0" indent="0">
              <a:buNone/>
            </a:pPr>
            <a:r>
              <a:rPr lang="en-US" sz="1200" b="1" dirty="0">
                <a:solidFill>
                  <a:srgbClr val="1B2230"/>
                </a:solidFill>
                <a:latin typeface="Calibri" pitchFamily="34" charset="0"/>
                <a:ea typeface="Calibri" pitchFamily="34" charset="-122"/>
                <a:cs typeface="Calibri" pitchFamily="34" charset="-120"/>
              </a:rPr>
              <a:t>B1</a:t>
            </a:r>
            <a:endParaRPr lang="en-US" sz="1200" dirty="0"/>
          </a:p>
        </p:txBody>
      </p:sp>
      <p:sp>
        <p:nvSpPr>
          <p:cNvPr id="12" name="Text 10"/>
          <p:cNvSpPr txBox="1"/>
          <p:nvPr/>
        </p:nvSpPr>
        <p:spPr>
          <a:xfrm>
            <a:off x="4590288" y="640080"/>
            <a:ext cx="1962760" cy="219456"/>
          </a:xfrm>
          <a:prstGeom prst="rect">
            <a:avLst/>
          </a:prstGeom>
          <a:noFill/>
          <a:ln/>
        </p:spPr>
        <p:txBody>
          <a:bodyPr wrap="square" lIns="0" tIns="0" rIns="0" bIns="0" rtlCol="0" anchor="ctr"/>
          <a:lstStyle/>
          <a:p>
            <a:pPr marL="0" indent="0">
              <a:buNone/>
            </a:pPr>
            <a:r>
              <a:rPr lang="en-US" sz="950" dirty="0">
                <a:solidFill>
                  <a:srgbClr val="5B6475"/>
                </a:solidFill>
                <a:latin typeface="Calibri" pitchFamily="34" charset="0"/>
                <a:ea typeface="Calibri" pitchFamily="34" charset="-122"/>
                <a:cs typeface="Calibri" pitchFamily="34" charset="-120"/>
              </a:rPr>
              <a:t>Immediate</a:t>
            </a:r>
            <a:endParaRPr lang="en-US" sz="950" dirty="0"/>
          </a:p>
        </p:txBody>
      </p:sp>
      <p:sp>
        <p:nvSpPr>
          <p:cNvPr id="13" name="Shape 11"/>
          <p:cNvSpPr/>
          <p:nvPr/>
        </p:nvSpPr>
        <p:spPr>
          <a:xfrm>
            <a:off x="7093915" y="658368"/>
            <a:ext cx="556412" cy="220370"/>
          </a:xfrm>
          <a:prstGeom prst="roundRect">
            <a:avLst>
              <a:gd name="adj" fmla="val 50000"/>
            </a:avLst>
          </a:prstGeom>
          <a:solidFill>
            <a:srgbClr val="E9ECF6"/>
          </a:solidFill>
          <a:ln w="9525">
            <a:solidFill>
              <a:srgbClr val="E9ECF6"/>
            </a:solidFill>
            <a:prstDash val="solid"/>
          </a:ln>
        </p:spPr>
        <p:txBody>
          <a:bodyPr/>
          <a:lstStyle/>
          <a:p>
            <a:endParaRPr lang="en-MX"/>
          </a:p>
        </p:txBody>
      </p:sp>
      <p:sp>
        <p:nvSpPr>
          <p:cNvPr id="14" name="Text 12"/>
          <p:cNvSpPr txBox="1"/>
          <p:nvPr/>
        </p:nvSpPr>
        <p:spPr>
          <a:xfrm>
            <a:off x="7093915" y="658368"/>
            <a:ext cx="556412" cy="220370"/>
          </a:xfrm>
          <a:prstGeom prst="rect">
            <a:avLst/>
          </a:prstGeom>
          <a:noFill/>
          <a:ln/>
        </p:spPr>
        <p:txBody>
          <a:bodyPr wrap="square" lIns="0" tIns="0" rIns="0" bIns="0" rtlCol="0" anchor="ctr"/>
          <a:lstStyle/>
          <a:p>
            <a:pPr marL="0" indent="0" algn="ctr">
              <a:buNone/>
            </a:pPr>
            <a:r>
              <a:rPr lang="en-US" sz="850" dirty="0">
                <a:solidFill>
                  <a:srgbClr val="3D4F86"/>
                </a:solidFill>
                <a:latin typeface="Calibri" pitchFamily="34" charset="0"/>
                <a:ea typeface="Calibri" pitchFamily="34" charset="-122"/>
                <a:cs typeface="Calibri" pitchFamily="34" charset="-120"/>
              </a:rPr>
              <a:t>Email</a:t>
            </a:r>
            <a:endParaRPr lang="en-US" sz="850" dirty="0"/>
          </a:p>
        </p:txBody>
      </p:sp>
      <p:sp>
        <p:nvSpPr>
          <p:cNvPr id="15" name="Text 13"/>
          <p:cNvSpPr txBox="1"/>
          <p:nvPr/>
        </p:nvSpPr>
        <p:spPr>
          <a:xfrm>
            <a:off x="4315968" y="914400"/>
            <a:ext cx="3334360" cy="188722"/>
          </a:xfrm>
          <a:prstGeom prst="rect">
            <a:avLst/>
          </a:prstGeom>
          <a:noFill/>
          <a:ln/>
        </p:spPr>
        <p:txBody>
          <a:bodyPr wrap="square" lIns="0" tIns="0" rIns="0" bIns="0" rtlCol="0" anchor="t"/>
          <a:lstStyle/>
          <a:p>
            <a:pPr marL="0" indent="0">
              <a:buNone/>
            </a:pPr>
            <a:r>
              <a:rPr lang="en-US" sz="1100" b="1" dirty="0">
                <a:solidFill>
                  <a:srgbClr val="3D4F86"/>
                </a:solidFill>
                <a:latin typeface="Calibri" pitchFamily="34" charset="0"/>
                <a:ea typeface="Calibri" pitchFamily="34" charset="-122"/>
                <a:cs typeface="Calibri" pitchFamily="34" charset="-120"/>
              </a:rPr>
              <a:t>{{nombre}}, your lowest ability is {{habilidad_critica}}</a:t>
            </a:r>
            <a:endParaRPr lang="en-US" sz="1100" dirty="0"/>
          </a:p>
        </p:txBody>
      </p:sp>
      <p:sp>
        <p:nvSpPr>
          <p:cNvPr id="16" name="Text 14"/>
          <p:cNvSpPr txBox="1"/>
          <p:nvPr/>
        </p:nvSpPr>
        <p:spPr>
          <a:xfrm>
            <a:off x="4315968" y="1139698"/>
            <a:ext cx="3334360" cy="780288"/>
          </a:xfrm>
          <a:prstGeom prst="rect">
            <a:avLst/>
          </a:prstGeom>
          <a:noFill/>
          <a:ln/>
        </p:spPr>
        <p:txBody>
          <a:bodyPr wrap="square" lIns="0" tIns="0" rIns="0" bIns="0" rtlCol="0" anchor="t"/>
          <a:lstStyle/>
          <a:p>
            <a:pPr marL="0" indent="0">
              <a:lnSpc>
                <a:spcPct val="105000"/>
              </a:lnSpc>
              <a:buNone/>
            </a:pPr>
            <a:r>
              <a:rPr lang="en-US" sz="1200" dirty="0">
                <a:solidFill>
                  <a:srgbClr val="1B2230"/>
                </a:solidFill>
                <a:latin typeface="Cambria" pitchFamily="34" charset="0"/>
                <a:ea typeface="Cambria" pitchFamily="34" charset="-122"/>
                <a:cs typeface="Cambria" pitchFamily="34" charset="-120"/>
              </a:rPr>
              <a:t>Your mini profile shows where the low point is, not why it's there or what to do first. The full profile gives you all six abilities in depth, the workbook and your 90-day plan, for {{precio_completo}}.</a:t>
            </a:r>
            <a:endParaRPr lang="en-US" sz="1200" dirty="0"/>
          </a:p>
        </p:txBody>
      </p:sp>
      <p:sp>
        <p:nvSpPr>
          <p:cNvPr id="17" name="Shape 15"/>
          <p:cNvSpPr/>
          <p:nvPr/>
        </p:nvSpPr>
        <p:spPr>
          <a:xfrm>
            <a:off x="4315968" y="2011426"/>
            <a:ext cx="2329708" cy="232258"/>
          </a:xfrm>
          <a:prstGeom prst="roundRect">
            <a:avLst>
              <a:gd name="adj" fmla="val 50000"/>
            </a:avLst>
          </a:prstGeom>
          <a:solidFill>
            <a:srgbClr val="1B2230"/>
          </a:solidFill>
          <a:ln w="9525">
            <a:solidFill>
              <a:srgbClr val="1B2230"/>
            </a:solidFill>
            <a:prstDash val="solid"/>
          </a:ln>
        </p:spPr>
        <p:txBody>
          <a:bodyPr/>
          <a:lstStyle/>
          <a:p>
            <a:endParaRPr lang="en-MX"/>
          </a:p>
        </p:txBody>
      </p:sp>
      <p:sp>
        <p:nvSpPr>
          <p:cNvPr id="18" name="Text 16"/>
          <p:cNvSpPr txBox="1"/>
          <p:nvPr/>
        </p:nvSpPr>
        <p:spPr>
          <a:xfrm>
            <a:off x="4315968" y="2011426"/>
            <a:ext cx="2329708" cy="23225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Get my full profile</a:t>
            </a:r>
            <a:endParaRPr lang="en-US" sz="900" dirty="0"/>
          </a:p>
        </p:txBody>
      </p:sp>
      <p:sp>
        <p:nvSpPr>
          <p:cNvPr id="19" name="Shape 17"/>
          <p:cNvSpPr/>
          <p:nvPr/>
        </p:nvSpPr>
        <p:spPr>
          <a:xfrm>
            <a:off x="7933792" y="530352"/>
            <a:ext cx="3645256" cy="1846834"/>
          </a:xfrm>
          <a:prstGeom prst="roundRect">
            <a:avLst>
              <a:gd name="adj" fmla="val 4951"/>
            </a:avLst>
          </a:prstGeom>
          <a:solidFill>
            <a:srgbClr val="FFFFFF"/>
          </a:solidFill>
          <a:ln w="9525">
            <a:solidFill>
              <a:srgbClr val="DDE1E8"/>
            </a:solidFill>
            <a:prstDash val="solid"/>
          </a:ln>
        </p:spPr>
        <p:txBody>
          <a:bodyPr/>
          <a:lstStyle/>
          <a:p>
            <a:endParaRPr lang="en-MX"/>
          </a:p>
        </p:txBody>
      </p:sp>
      <p:sp>
        <p:nvSpPr>
          <p:cNvPr id="20" name="Text 18"/>
          <p:cNvSpPr txBox="1"/>
          <p:nvPr/>
        </p:nvSpPr>
        <p:spPr>
          <a:xfrm>
            <a:off x="8089240" y="640080"/>
            <a:ext cx="457200" cy="219456"/>
          </a:xfrm>
          <a:prstGeom prst="rect">
            <a:avLst/>
          </a:prstGeom>
          <a:noFill/>
          <a:ln/>
        </p:spPr>
        <p:txBody>
          <a:bodyPr wrap="square" lIns="0" tIns="0" rIns="0" bIns="0" rtlCol="0" anchor="ctr"/>
          <a:lstStyle/>
          <a:p>
            <a:pPr marL="0" indent="0">
              <a:buNone/>
            </a:pPr>
            <a:r>
              <a:rPr lang="en-US" sz="1200" b="1" dirty="0">
                <a:solidFill>
                  <a:srgbClr val="1B2230"/>
                </a:solidFill>
                <a:latin typeface="Calibri" pitchFamily="34" charset="0"/>
                <a:ea typeface="Calibri" pitchFamily="34" charset="-122"/>
                <a:cs typeface="Calibri" pitchFamily="34" charset="-120"/>
              </a:rPr>
              <a:t>B2</a:t>
            </a:r>
            <a:endParaRPr lang="en-US" sz="1200" dirty="0"/>
          </a:p>
        </p:txBody>
      </p:sp>
      <p:sp>
        <p:nvSpPr>
          <p:cNvPr id="21" name="Text 19"/>
          <p:cNvSpPr txBox="1"/>
          <p:nvPr/>
        </p:nvSpPr>
        <p:spPr>
          <a:xfrm>
            <a:off x="8363560" y="640080"/>
            <a:ext cx="1962760" cy="219456"/>
          </a:xfrm>
          <a:prstGeom prst="rect">
            <a:avLst/>
          </a:prstGeom>
          <a:noFill/>
          <a:ln/>
        </p:spPr>
        <p:txBody>
          <a:bodyPr wrap="square" lIns="0" tIns="0" rIns="0" bIns="0" rtlCol="0" anchor="ctr"/>
          <a:lstStyle/>
          <a:p>
            <a:pPr marL="0" indent="0">
              <a:buNone/>
            </a:pPr>
            <a:r>
              <a:rPr lang="en-US" sz="950" dirty="0">
                <a:solidFill>
                  <a:srgbClr val="5B6475"/>
                </a:solidFill>
                <a:latin typeface="Calibri" pitchFamily="34" charset="0"/>
                <a:ea typeface="Calibri" pitchFamily="34" charset="-122"/>
                <a:cs typeface="Calibri" pitchFamily="34" charset="-120"/>
              </a:rPr>
              <a:t>Immediate</a:t>
            </a:r>
            <a:endParaRPr lang="en-US" sz="950" dirty="0"/>
          </a:p>
        </p:txBody>
      </p:sp>
      <p:sp>
        <p:nvSpPr>
          <p:cNvPr id="22" name="Shape 20"/>
          <p:cNvSpPr/>
          <p:nvPr/>
        </p:nvSpPr>
        <p:spPr>
          <a:xfrm>
            <a:off x="10675986" y="658368"/>
            <a:ext cx="747613" cy="220370"/>
          </a:xfrm>
          <a:prstGeom prst="roundRect">
            <a:avLst>
              <a:gd name="adj" fmla="val 50000"/>
            </a:avLst>
          </a:prstGeom>
          <a:solidFill>
            <a:srgbClr val="E1F2EF"/>
          </a:solidFill>
          <a:ln w="9525">
            <a:solidFill>
              <a:srgbClr val="E1F2EF"/>
            </a:solidFill>
            <a:prstDash val="solid"/>
          </a:ln>
        </p:spPr>
        <p:txBody>
          <a:bodyPr/>
          <a:lstStyle/>
          <a:p>
            <a:endParaRPr lang="en-MX"/>
          </a:p>
        </p:txBody>
      </p:sp>
      <p:sp>
        <p:nvSpPr>
          <p:cNvPr id="23" name="Text 21"/>
          <p:cNvSpPr txBox="1"/>
          <p:nvPr/>
        </p:nvSpPr>
        <p:spPr>
          <a:xfrm>
            <a:off x="10675986" y="658368"/>
            <a:ext cx="747613" cy="220370"/>
          </a:xfrm>
          <a:prstGeom prst="rect">
            <a:avLst/>
          </a:prstGeom>
          <a:noFill/>
          <a:ln/>
        </p:spPr>
        <p:txBody>
          <a:bodyPr wrap="square" lIns="0" tIns="0" rIns="0" bIns="0" rtlCol="0" anchor="ctr"/>
          <a:lstStyle/>
          <a:p>
            <a:pPr marL="0" indent="0" algn="ctr">
              <a:buNone/>
            </a:pPr>
            <a:r>
              <a:rPr lang="en-US" sz="850" dirty="0">
                <a:solidFill>
                  <a:srgbClr val="1F7A70"/>
                </a:solidFill>
                <a:latin typeface="Calibri" pitchFamily="34" charset="0"/>
                <a:ea typeface="Calibri" pitchFamily="34" charset="-122"/>
                <a:cs typeface="Calibri" pitchFamily="34" charset="-120"/>
              </a:rPr>
              <a:t>WhatsApp</a:t>
            </a:r>
            <a:endParaRPr lang="en-US" sz="850" dirty="0"/>
          </a:p>
        </p:txBody>
      </p:sp>
      <p:sp>
        <p:nvSpPr>
          <p:cNvPr id="24" name="Text 22"/>
          <p:cNvSpPr txBox="1"/>
          <p:nvPr/>
        </p:nvSpPr>
        <p:spPr>
          <a:xfrm>
            <a:off x="8089240" y="914400"/>
            <a:ext cx="3334360" cy="780288"/>
          </a:xfrm>
          <a:prstGeom prst="rect">
            <a:avLst/>
          </a:prstGeom>
          <a:noFill/>
          <a:ln/>
        </p:spPr>
        <p:txBody>
          <a:bodyPr wrap="square" lIns="0" tIns="0" rIns="0" bIns="0" rtlCol="0" anchor="t"/>
          <a:lstStyle/>
          <a:p>
            <a:pPr marL="0" indent="0">
              <a:lnSpc>
                <a:spcPct val="105000"/>
              </a:lnSpc>
              <a:buNone/>
            </a:pPr>
            <a:r>
              <a:rPr lang="en-US" sz="1200" dirty="0">
                <a:solidFill>
                  <a:srgbClr val="1B2230"/>
                </a:solidFill>
                <a:latin typeface="Cambria" pitchFamily="34" charset="0"/>
                <a:ea typeface="Cambria" pitchFamily="34" charset="-122"/>
                <a:cs typeface="Cambria" pitchFamily="34" charset="-120"/>
              </a:rPr>
              <a:t>Your Financial Mini Profile is ready. Your lowest ability is {{habilidad_critica}}. If you want to know why it's there and where to start, the full profile shows you.</a:t>
            </a:r>
            <a:endParaRPr lang="en-US" sz="1200" dirty="0"/>
          </a:p>
        </p:txBody>
      </p:sp>
      <p:sp>
        <p:nvSpPr>
          <p:cNvPr id="25" name="Shape 23"/>
          <p:cNvSpPr/>
          <p:nvPr/>
        </p:nvSpPr>
        <p:spPr>
          <a:xfrm>
            <a:off x="8089240" y="1786128"/>
            <a:ext cx="1857329" cy="232258"/>
          </a:xfrm>
          <a:prstGeom prst="roundRect">
            <a:avLst>
              <a:gd name="adj" fmla="val 50000"/>
            </a:avLst>
          </a:prstGeom>
          <a:solidFill>
            <a:srgbClr val="1B2230"/>
          </a:solidFill>
          <a:ln w="9525">
            <a:solidFill>
              <a:srgbClr val="1B2230"/>
            </a:solidFill>
            <a:prstDash val="solid"/>
          </a:ln>
        </p:spPr>
        <p:txBody>
          <a:bodyPr/>
          <a:lstStyle/>
          <a:p>
            <a:endParaRPr lang="en-MX"/>
          </a:p>
        </p:txBody>
      </p:sp>
      <p:sp>
        <p:nvSpPr>
          <p:cNvPr id="26" name="Text 24"/>
          <p:cNvSpPr txBox="1"/>
          <p:nvPr/>
        </p:nvSpPr>
        <p:spPr>
          <a:xfrm>
            <a:off x="8089240" y="1786128"/>
            <a:ext cx="1857329" cy="23225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See what's included</a:t>
            </a:r>
            <a:endParaRPr lang="en-US" sz="900" dirty="0"/>
          </a:p>
        </p:txBody>
      </p:sp>
      <p:sp>
        <p:nvSpPr>
          <p:cNvPr id="27" name="Shape 25"/>
          <p:cNvSpPr/>
          <p:nvPr/>
        </p:nvSpPr>
        <p:spPr>
          <a:xfrm>
            <a:off x="10019721" y="1786128"/>
            <a:ext cx="980054" cy="232258"/>
          </a:xfrm>
          <a:prstGeom prst="roundRect">
            <a:avLst>
              <a:gd name="adj" fmla="val 50000"/>
            </a:avLst>
          </a:prstGeom>
          <a:solidFill>
            <a:srgbClr val="FFFFFF"/>
          </a:solidFill>
          <a:ln w="9525">
            <a:solidFill>
              <a:srgbClr val="DDE1E8"/>
            </a:solidFill>
            <a:prstDash val="solid"/>
          </a:ln>
        </p:spPr>
        <p:txBody>
          <a:bodyPr/>
          <a:lstStyle/>
          <a:p>
            <a:endParaRPr lang="en-MX"/>
          </a:p>
        </p:txBody>
      </p:sp>
      <p:sp>
        <p:nvSpPr>
          <p:cNvPr id="28" name="Text 26"/>
          <p:cNvSpPr txBox="1"/>
          <p:nvPr/>
        </p:nvSpPr>
        <p:spPr>
          <a:xfrm>
            <a:off x="10019721" y="1786128"/>
            <a:ext cx="980054" cy="232258"/>
          </a:xfrm>
          <a:prstGeom prst="rect">
            <a:avLst/>
          </a:prstGeom>
          <a:noFill/>
          <a:ln/>
        </p:spPr>
        <p:txBody>
          <a:bodyPr wrap="square" lIns="0" tIns="0" rIns="0" bIns="0" rtlCol="0" anchor="ctr"/>
          <a:lstStyle/>
          <a:p>
            <a:pPr marL="0" indent="0" algn="ctr">
              <a:buNone/>
            </a:pPr>
            <a:r>
              <a:rPr lang="en-US" sz="900" dirty="0">
                <a:solidFill>
                  <a:srgbClr val="1B2230"/>
                </a:solidFill>
                <a:latin typeface="Calibri" pitchFamily="34" charset="0"/>
                <a:ea typeface="Calibri" pitchFamily="34" charset="-122"/>
                <a:cs typeface="Calibri" pitchFamily="34" charset="-120"/>
              </a:rPr>
              <a:t>See my mini profile</a:t>
            </a:r>
            <a:endParaRPr lang="en-US" sz="900" dirty="0"/>
          </a:p>
        </p:txBody>
      </p:sp>
      <p:sp>
        <p:nvSpPr>
          <p:cNvPr id="29" name="Shape 27"/>
          <p:cNvSpPr/>
          <p:nvPr/>
        </p:nvSpPr>
        <p:spPr>
          <a:xfrm>
            <a:off x="4160520" y="2505202"/>
            <a:ext cx="3645256" cy="1656334"/>
          </a:xfrm>
          <a:prstGeom prst="roundRect">
            <a:avLst>
              <a:gd name="adj" fmla="val 5521"/>
            </a:avLst>
          </a:prstGeom>
          <a:solidFill>
            <a:srgbClr val="FFFFFF"/>
          </a:solidFill>
          <a:ln w="9525">
            <a:solidFill>
              <a:srgbClr val="DDE1E8"/>
            </a:solidFill>
            <a:prstDash val="solid"/>
          </a:ln>
        </p:spPr>
        <p:txBody>
          <a:bodyPr/>
          <a:lstStyle/>
          <a:p>
            <a:endParaRPr lang="en-MX"/>
          </a:p>
        </p:txBody>
      </p:sp>
      <p:sp>
        <p:nvSpPr>
          <p:cNvPr id="30" name="Text 28"/>
          <p:cNvSpPr txBox="1"/>
          <p:nvPr/>
        </p:nvSpPr>
        <p:spPr>
          <a:xfrm>
            <a:off x="4315968" y="2614930"/>
            <a:ext cx="457200" cy="219456"/>
          </a:xfrm>
          <a:prstGeom prst="rect">
            <a:avLst/>
          </a:prstGeom>
          <a:noFill/>
          <a:ln/>
        </p:spPr>
        <p:txBody>
          <a:bodyPr wrap="square" lIns="0" tIns="0" rIns="0" bIns="0" rtlCol="0" anchor="ctr"/>
          <a:lstStyle/>
          <a:p>
            <a:pPr marL="0" indent="0">
              <a:buNone/>
            </a:pPr>
            <a:r>
              <a:rPr lang="en-US" sz="1200" b="1" dirty="0">
                <a:solidFill>
                  <a:srgbClr val="1B2230"/>
                </a:solidFill>
                <a:latin typeface="Calibri" pitchFamily="34" charset="0"/>
                <a:ea typeface="Calibri" pitchFamily="34" charset="-122"/>
                <a:cs typeface="Calibri" pitchFamily="34" charset="-120"/>
              </a:rPr>
              <a:t>B3</a:t>
            </a:r>
            <a:endParaRPr lang="en-US" sz="1200" dirty="0"/>
          </a:p>
        </p:txBody>
      </p:sp>
      <p:sp>
        <p:nvSpPr>
          <p:cNvPr id="31" name="Text 29"/>
          <p:cNvSpPr txBox="1"/>
          <p:nvPr/>
        </p:nvSpPr>
        <p:spPr>
          <a:xfrm>
            <a:off x="4590288" y="2614930"/>
            <a:ext cx="1962760" cy="219456"/>
          </a:xfrm>
          <a:prstGeom prst="rect">
            <a:avLst/>
          </a:prstGeom>
          <a:noFill/>
          <a:ln/>
        </p:spPr>
        <p:txBody>
          <a:bodyPr wrap="square" lIns="0" tIns="0" rIns="0" bIns="0" rtlCol="0" anchor="ctr"/>
          <a:lstStyle/>
          <a:p>
            <a:pPr marL="0" indent="0">
              <a:buNone/>
            </a:pPr>
            <a:r>
              <a:rPr lang="en-US" sz="950" dirty="0">
                <a:solidFill>
                  <a:srgbClr val="5B6475"/>
                </a:solidFill>
                <a:latin typeface="Calibri" pitchFamily="34" charset="0"/>
                <a:ea typeface="Calibri" pitchFamily="34" charset="-122"/>
                <a:cs typeface="Calibri" pitchFamily="34" charset="-120"/>
              </a:rPr>
              <a:t>1 h after abandoning checkout</a:t>
            </a:r>
            <a:endParaRPr lang="en-US" sz="950" dirty="0"/>
          </a:p>
        </p:txBody>
      </p:sp>
      <p:sp>
        <p:nvSpPr>
          <p:cNvPr id="32" name="Shape 30"/>
          <p:cNvSpPr/>
          <p:nvPr/>
        </p:nvSpPr>
        <p:spPr>
          <a:xfrm>
            <a:off x="6902714" y="2633218"/>
            <a:ext cx="747613" cy="220370"/>
          </a:xfrm>
          <a:prstGeom prst="roundRect">
            <a:avLst>
              <a:gd name="adj" fmla="val 50000"/>
            </a:avLst>
          </a:prstGeom>
          <a:solidFill>
            <a:srgbClr val="E1F2EF"/>
          </a:solidFill>
          <a:ln w="9525">
            <a:solidFill>
              <a:srgbClr val="E1F2EF"/>
            </a:solidFill>
            <a:prstDash val="solid"/>
          </a:ln>
        </p:spPr>
        <p:txBody>
          <a:bodyPr/>
          <a:lstStyle/>
          <a:p>
            <a:endParaRPr lang="en-MX"/>
          </a:p>
        </p:txBody>
      </p:sp>
      <p:sp>
        <p:nvSpPr>
          <p:cNvPr id="33" name="Text 31"/>
          <p:cNvSpPr txBox="1"/>
          <p:nvPr/>
        </p:nvSpPr>
        <p:spPr>
          <a:xfrm>
            <a:off x="6902714" y="2633218"/>
            <a:ext cx="747613" cy="220370"/>
          </a:xfrm>
          <a:prstGeom prst="rect">
            <a:avLst/>
          </a:prstGeom>
          <a:noFill/>
          <a:ln/>
        </p:spPr>
        <p:txBody>
          <a:bodyPr wrap="square" lIns="0" tIns="0" rIns="0" bIns="0" rtlCol="0" anchor="ctr"/>
          <a:lstStyle/>
          <a:p>
            <a:pPr marL="0" indent="0" algn="ctr">
              <a:buNone/>
            </a:pPr>
            <a:r>
              <a:rPr lang="en-US" sz="850" dirty="0">
                <a:solidFill>
                  <a:srgbClr val="1F7A70"/>
                </a:solidFill>
                <a:latin typeface="Calibri" pitchFamily="34" charset="0"/>
                <a:ea typeface="Calibri" pitchFamily="34" charset="-122"/>
                <a:cs typeface="Calibri" pitchFamily="34" charset="-120"/>
              </a:rPr>
              <a:t>WhatsApp</a:t>
            </a:r>
            <a:endParaRPr lang="en-US" sz="850" dirty="0"/>
          </a:p>
        </p:txBody>
      </p:sp>
      <p:sp>
        <p:nvSpPr>
          <p:cNvPr id="34" name="Text 32"/>
          <p:cNvSpPr txBox="1"/>
          <p:nvPr/>
        </p:nvSpPr>
        <p:spPr>
          <a:xfrm>
            <a:off x="4315968" y="2889250"/>
            <a:ext cx="3334360" cy="589788"/>
          </a:xfrm>
          <a:prstGeom prst="rect">
            <a:avLst/>
          </a:prstGeom>
          <a:noFill/>
          <a:ln/>
        </p:spPr>
        <p:txBody>
          <a:bodyPr wrap="square" lIns="0" tIns="0" rIns="0" bIns="0" rtlCol="0" anchor="t"/>
          <a:lstStyle/>
          <a:p>
            <a:pPr marL="0" indent="0">
              <a:lnSpc>
                <a:spcPct val="105000"/>
              </a:lnSpc>
              <a:buNone/>
            </a:pPr>
            <a:r>
              <a:rPr lang="en-US" sz="1200" dirty="0">
                <a:solidFill>
                  <a:srgbClr val="1B2230"/>
                </a:solidFill>
                <a:latin typeface="Cambria" pitchFamily="34" charset="0"/>
                <a:ea typeface="Cambria" pitchFamily="34" charset="-122"/>
                <a:cs typeface="Cambria" pitchFamily="34" charset="-120"/>
              </a:rPr>
              <a:t>Your Financial Health Profile stopped at the payment step. If something failed, you can pick it up without starting over.</a:t>
            </a:r>
            <a:endParaRPr lang="en-US" sz="1200" dirty="0"/>
          </a:p>
        </p:txBody>
      </p:sp>
      <p:sp>
        <p:nvSpPr>
          <p:cNvPr id="35" name="Shape 33"/>
          <p:cNvSpPr/>
          <p:nvPr/>
        </p:nvSpPr>
        <p:spPr>
          <a:xfrm>
            <a:off x="4315968" y="3570478"/>
            <a:ext cx="1047537" cy="232258"/>
          </a:xfrm>
          <a:prstGeom prst="roundRect">
            <a:avLst>
              <a:gd name="adj" fmla="val 50000"/>
            </a:avLst>
          </a:prstGeom>
          <a:solidFill>
            <a:srgbClr val="1B2230"/>
          </a:solidFill>
          <a:ln w="9525">
            <a:solidFill>
              <a:srgbClr val="1B2230"/>
            </a:solidFill>
            <a:prstDash val="solid"/>
          </a:ln>
        </p:spPr>
        <p:txBody>
          <a:bodyPr/>
          <a:lstStyle/>
          <a:p>
            <a:endParaRPr lang="en-MX"/>
          </a:p>
        </p:txBody>
      </p:sp>
      <p:sp>
        <p:nvSpPr>
          <p:cNvPr id="36" name="Text 34"/>
          <p:cNvSpPr txBox="1"/>
          <p:nvPr/>
        </p:nvSpPr>
        <p:spPr>
          <a:xfrm>
            <a:off x="4315968" y="3570478"/>
            <a:ext cx="1047537" cy="23225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Resume payment</a:t>
            </a:r>
            <a:endParaRPr lang="en-US" sz="900" dirty="0"/>
          </a:p>
        </p:txBody>
      </p:sp>
      <p:sp>
        <p:nvSpPr>
          <p:cNvPr id="37" name="Shape 35"/>
          <p:cNvSpPr/>
          <p:nvPr/>
        </p:nvSpPr>
        <p:spPr>
          <a:xfrm>
            <a:off x="5436657" y="3570478"/>
            <a:ext cx="1182502" cy="232258"/>
          </a:xfrm>
          <a:prstGeom prst="roundRect">
            <a:avLst>
              <a:gd name="adj" fmla="val 50000"/>
            </a:avLst>
          </a:prstGeom>
          <a:solidFill>
            <a:srgbClr val="FFFFFF"/>
          </a:solidFill>
          <a:ln w="9525">
            <a:solidFill>
              <a:srgbClr val="DDE1E8"/>
            </a:solidFill>
            <a:prstDash val="solid"/>
          </a:ln>
        </p:spPr>
        <p:txBody>
          <a:bodyPr/>
          <a:lstStyle/>
          <a:p>
            <a:endParaRPr lang="en-MX"/>
          </a:p>
        </p:txBody>
      </p:sp>
      <p:sp>
        <p:nvSpPr>
          <p:cNvPr id="38" name="Text 36"/>
          <p:cNvSpPr txBox="1"/>
          <p:nvPr/>
        </p:nvSpPr>
        <p:spPr>
          <a:xfrm>
            <a:off x="5436657" y="3570478"/>
            <a:ext cx="1182502" cy="232258"/>
          </a:xfrm>
          <a:prstGeom prst="rect">
            <a:avLst/>
          </a:prstGeom>
          <a:noFill/>
          <a:ln/>
        </p:spPr>
        <p:txBody>
          <a:bodyPr wrap="square" lIns="0" tIns="0" rIns="0" bIns="0" rtlCol="0" anchor="ctr"/>
          <a:lstStyle/>
          <a:p>
            <a:pPr marL="0" indent="0" algn="ctr">
              <a:buNone/>
            </a:pPr>
            <a:r>
              <a:rPr lang="en-US" sz="900" dirty="0">
                <a:solidFill>
                  <a:srgbClr val="1B2230"/>
                </a:solidFill>
                <a:latin typeface="Calibri" pitchFamily="34" charset="0"/>
                <a:ea typeface="Calibri" pitchFamily="34" charset="-122"/>
                <a:cs typeface="Calibri" pitchFamily="34" charset="-120"/>
              </a:rPr>
              <a:t>I have a question</a:t>
            </a:r>
            <a:endParaRPr lang="en-US" sz="900" dirty="0"/>
          </a:p>
        </p:txBody>
      </p:sp>
      <p:sp>
        <p:nvSpPr>
          <p:cNvPr id="39" name="Shape 37"/>
          <p:cNvSpPr/>
          <p:nvPr/>
        </p:nvSpPr>
        <p:spPr>
          <a:xfrm>
            <a:off x="7933792" y="2505202"/>
            <a:ext cx="3645256" cy="1656334"/>
          </a:xfrm>
          <a:prstGeom prst="roundRect">
            <a:avLst>
              <a:gd name="adj" fmla="val 5521"/>
            </a:avLst>
          </a:prstGeom>
          <a:solidFill>
            <a:srgbClr val="FFFFFF"/>
          </a:solidFill>
          <a:ln w="9525">
            <a:solidFill>
              <a:srgbClr val="DDE1E8"/>
            </a:solidFill>
            <a:prstDash val="solid"/>
          </a:ln>
        </p:spPr>
        <p:txBody>
          <a:bodyPr/>
          <a:lstStyle/>
          <a:p>
            <a:endParaRPr lang="en-MX"/>
          </a:p>
        </p:txBody>
      </p:sp>
      <p:sp>
        <p:nvSpPr>
          <p:cNvPr id="40" name="Text 38"/>
          <p:cNvSpPr txBox="1"/>
          <p:nvPr/>
        </p:nvSpPr>
        <p:spPr>
          <a:xfrm>
            <a:off x="8089240" y="2614930"/>
            <a:ext cx="457200" cy="219456"/>
          </a:xfrm>
          <a:prstGeom prst="rect">
            <a:avLst/>
          </a:prstGeom>
          <a:noFill/>
          <a:ln/>
        </p:spPr>
        <p:txBody>
          <a:bodyPr wrap="square" lIns="0" tIns="0" rIns="0" bIns="0" rtlCol="0" anchor="ctr"/>
          <a:lstStyle/>
          <a:p>
            <a:pPr marL="0" indent="0">
              <a:buNone/>
            </a:pPr>
            <a:r>
              <a:rPr lang="en-US" sz="1200" b="1" dirty="0">
                <a:solidFill>
                  <a:srgbClr val="1B2230"/>
                </a:solidFill>
                <a:latin typeface="Calibri" pitchFamily="34" charset="0"/>
                <a:ea typeface="Calibri" pitchFamily="34" charset="-122"/>
                <a:cs typeface="Calibri" pitchFamily="34" charset="-120"/>
              </a:rPr>
              <a:t>B4</a:t>
            </a:r>
            <a:endParaRPr lang="en-US" sz="1200" dirty="0"/>
          </a:p>
        </p:txBody>
      </p:sp>
      <p:sp>
        <p:nvSpPr>
          <p:cNvPr id="41" name="Text 39"/>
          <p:cNvSpPr txBox="1"/>
          <p:nvPr/>
        </p:nvSpPr>
        <p:spPr>
          <a:xfrm>
            <a:off x="8363560" y="2614930"/>
            <a:ext cx="1962760" cy="219456"/>
          </a:xfrm>
          <a:prstGeom prst="rect">
            <a:avLst/>
          </a:prstGeom>
          <a:noFill/>
          <a:ln/>
        </p:spPr>
        <p:txBody>
          <a:bodyPr wrap="square" lIns="0" tIns="0" rIns="0" bIns="0" rtlCol="0" anchor="ctr"/>
          <a:lstStyle/>
          <a:p>
            <a:pPr marL="0" indent="0">
              <a:buNone/>
            </a:pPr>
            <a:r>
              <a:rPr lang="en-US" sz="950" dirty="0">
                <a:solidFill>
                  <a:srgbClr val="5B6475"/>
                </a:solidFill>
                <a:latin typeface="Calibri" pitchFamily="34" charset="0"/>
                <a:ea typeface="Calibri" pitchFamily="34" charset="-122"/>
                <a:cs typeface="Calibri" pitchFamily="34" charset="-120"/>
              </a:rPr>
              <a:t>24 h after abandoning checkout</a:t>
            </a:r>
            <a:endParaRPr lang="en-US" sz="950" dirty="0"/>
          </a:p>
        </p:txBody>
      </p:sp>
      <p:sp>
        <p:nvSpPr>
          <p:cNvPr id="42" name="Shape 40"/>
          <p:cNvSpPr/>
          <p:nvPr/>
        </p:nvSpPr>
        <p:spPr>
          <a:xfrm>
            <a:off x="10867187" y="2633218"/>
            <a:ext cx="556412" cy="220370"/>
          </a:xfrm>
          <a:prstGeom prst="roundRect">
            <a:avLst>
              <a:gd name="adj" fmla="val 50000"/>
            </a:avLst>
          </a:prstGeom>
          <a:solidFill>
            <a:srgbClr val="E9ECF6"/>
          </a:solidFill>
          <a:ln w="9525">
            <a:solidFill>
              <a:srgbClr val="E9ECF6"/>
            </a:solidFill>
            <a:prstDash val="solid"/>
          </a:ln>
        </p:spPr>
        <p:txBody>
          <a:bodyPr/>
          <a:lstStyle/>
          <a:p>
            <a:endParaRPr lang="en-MX"/>
          </a:p>
        </p:txBody>
      </p:sp>
      <p:sp>
        <p:nvSpPr>
          <p:cNvPr id="43" name="Text 41"/>
          <p:cNvSpPr txBox="1"/>
          <p:nvPr/>
        </p:nvSpPr>
        <p:spPr>
          <a:xfrm>
            <a:off x="10867187" y="2633218"/>
            <a:ext cx="556412" cy="220370"/>
          </a:xfrm>
          <a:prstGeom prst="rect">
            <a:avLst/>
          </a:prstGeom>
          <a:noFill/>
          <a:ln/>
        </p:spPr>
        <p:txBody>
          <a:bodyPr wrap="square" lIns="0" tIns="0" rIns="0" bIns="0" rtlCol="0" anchor="ctr"/>
          <a:lstStyle/>
          <a:p>
            <a:pPr marL="0" indent="0" algn="ctr">
              <a:buNone/>
            </a:pPr>
            <a:r>
              <a:rPr lang="en-US" sz="850" dirty="0">
                <a:solidFill>
                  <a:srgbClr val="3D4F86"/>
                </a:solidFill>
                <a:latin typeface="Calibri" pitchFamily="34" charset="0"/>
                <a:ea typeface="Calibri" pitchFamily="34" charset="-122"/>
                <a:cs typeface="Calibri" pitchFamily="34" charset="-120"/>
              </a:rPr>
              <a:t>Email</a:t>
            </a:r>
            <a:endParaRPr lang="en-US" sz="850" dirty="0"/>
          </a:p>
        </p:txBody>
      </p:sp>
      <p:sp>
        <p:nvSpPr>
          <p:cNvPr id="44" name="Text 42"/>
          <p:cNvSpPr txBox="1"/>
          <p:nvPr/>
        </p:nvSpPr>
        <p:spPr>
          <a:xfrm>
            <a:off x="8089240" y="2889250"/>
            <a:ext cx="3334360" cy="188722"/>
          </a:xfrm>
          <a:prstGeom prst="rect">
            <a:avLst/>
          </a:prstGeom>
          <a:noFill/>
          <a:ln/>
        </p:spPr>
        <p:txBody>
          <a:bodyPr wrap="square" lIns="0" tIns="0" rIns="0" bIns="0" rtlCol="0" anchor="t"/>
          <a:lstStyle/>
          <a:p>
            <a:pPr marL="0" indent="0">
              <a:buNone/>
            </a:pPr>
            <a:r>
              <a:rPr lang="en-US" sz="1100" b="1" dirty="0">
                <a:solidFill>
                  <a:srgbClr val="1B2230"/>
                </a:solidFill>
                <a:latin typeface="Calibri" pitchFamily="34" charset="0"/>
                <a:ea typeface="Calibri" pitchFamily="34" charset="-122"/>
                <a:cs typeface="Calibri" pitchFamily="34" charset="-120"/>
              </a:rPr>
              <a:t>We saved your spot</a:t>
            </a:r>
            <a:endParaRPr lang="en-US" sz="1100" dirty="0"/>
          </a:p>
        </p:txBody>
      </p:sp>
      <p:sp>
        <p:nvSpPr>
          <p:cNvPr id="45" name="Text 43"/>
          <p:cNvSpPr txBox="1"/>
          <p:nvPr/>
        </p:nvSpPr>
        <p:spPr>
          <a:xfrm>
            <a:off x="8089240" y="3114548"/>
            <a:ext cx="3334360" cy="589788"/>
          </a:xfrm>
          <a:prstGeom prst="rect">
            <a:avLst/>
          </a:prstGeom>
          <a:noFill/>
          <a:ln/>
        </p:spPr>
        <p:txBody>
          <a:bodyPr wrap="square" lIns="0" tIns="0" rIns="0" bIns="0" rtlCol="0" anchor="t"/>
          <a:lstStyle/>
          <a:p>
            <a:pPr marL="0" indent="0">
              <a:lnSpc>
                <a:spcPct val="105000"/>
              </a:lnSpc>
              <a:buNone/>
            </a:pPr>
            <a:r>
              <a:rPr lang="en-US" sz="1200" dirty="0">
                <a:solidFill>
                  <a:srgbClr val="1B2230"/>
                </a:solidFill>
                <a:latin typeface="Cambria" pitchFamily="34" charset="0"/>
                <a:ea typeface="Cambria" pitchFamily="34" charset="-122"/>
                <a:cs typeface="Cambria" pitchFamily="34" charset="-120"/>
              </a:rPr>
              <a:t>If the payment method was the problem, you can try another one from the same link. {{opcion_pago}}</a:t>
            </a:r>
            <a:endParaRPr lang="en-US" sz="1200" dirty="0"/>
          </a:p>
        </p:txBody>
      </p:sp>
      <p:sp>
        <p:nvSpPr>
          <p:cNvPr id="46" name="Shape 44"/>
          <p:cNvSpPr/>
          <p:nvPr/>
        </p:nvSpPr>
        <p:spPr>
          <a:xfrm>
            <a:off x="8089240" y="3795776"/>
            <a:ext cx="1452433" cy="232258"/>
          </a:xfrm>
          <a:prstGeom prst="roundRect">
            <a:avLst>
              <a:gd name="adj" fmla="val 50000"/>
            </a:avLst>
          </a:prstGeom>
          <a:solidFill>
            <a:srgbClr val="1B2230"/>
          </a:solidFill>
          <a:ln w="9525">
            <a:solidFill>
              <a:srgbClr val="1B2230"/>
            </a:solidFill>
            <a:prstDash val="solid"/>
          </a:ln>
        </p:spPr>
        <p:txBody>
          <a:bodyPr/>
          <a:lstStyle/>
          <a:p>
            <a:endParaRPr lang="en-MX"/>
          </a:p>
        </p:txBody>
      </p:sp>
      <p:sp>
        <p:nvSpPr>
          <p:cNvPr id="47" name="Text 45"/>
          <p:cNvSpPr txBox="1"/>
          <p:nvPr/>
        </p:nvSpPr>
        <p:spPr>
          <a:xfrm>
            <a:off x="8089240" y="3795776"/>
            <a:ext cx="1452433" cy="23225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Complete my purchase</a:t>
            </a:r>
            <a:endParaRPr lang="en-US" sz="900" dirty="0"/>
          </a:p>
        </p:txBody>
      </p:sp>
      <p:sp>
        <p:nvSpPr>
          <p:cNvPr id="48" name="Shape 46"/>
          <p:cNvSpPr/>
          <p:nvPr/>
        </p:nvSpPr>
        <p:spPr>
          <a:xfrm>
            <a:off x="4160520" y="4289552"/>
            <a:ext cx="3645256" cy="1499362"/>
          </a:xfrm>
          <a:prstGeom prst="roundRect">
            <a:avLst>
              <a:gd name="adj" fmla="val 6099"/>
            </a:avLst>
          </a:prstGeom>
          <a:solidFill>
            <a:srgbClr val="FFFFFF"/>
          </a:solidFill>
          <a:ln w="9525">
            <a:solidFill>
              <a:srgbClr val="DDE1E8"/>
            </a:solidFill>
            <a:prstDash val="solid"/>
          </a:ln>
        </p:spPr>
        <p:txBody>
          <a:bodyPr/>
          <a:lstStyle/>
          <a:p>
            <a:endParaRPr lang="en-MX"/>
          </a:p>
        </p:txBody>
      </p:sp>
      <p:sp>
        <p:nvSpPr>
          <p:cNvPr id="49" name="Text 47"/>
          <p:cNvSpPr txBox="1"/>
          <p:nvPr/>
        </p:nvSpPr>
        <p:spPr>
          <a:xfrm>
            <a:off x="4315968" y="4399280"/>
            <a:ext cx="457200" cy="219456"/>
          </a:xfrm>
          <a:prstGeom prst="rect">
            <a:avLst/>
          </a:prstGeom>
          <a:noFill/>
          <a:ln/>
        </p:spPr>
        <p:txBody>
          <a:bodyPr wrap="square" lIns="0" tIns="0" rIns="0" bIns="0" rtlCol="0" anchor="ctr"/>
          <a:lstStyle/>
          <a:p>
            <a:pPr marL="0" indent="0">
              <a:buNone/>
            </a:pPr>
            <a:r>
              <a:rPr lang="en-US" sz="1200" b="1" dirty="0">
                <a:solidFill>
                  <a:srgbClr val="1B2230"/>
                </a:solidFill>
                <a:latin typeface="Calibri" pitchFamily="34" charset="0"/>
                <a:ea typeface="Calibri" pitchFamily="34" charset="-122"/>
                <a:cs typeface="Calibri" pitchFamily="34" charset="-120"/>
              </a:rPr>
              <a:t>B5</a:t>
            </a:r>
            <a:endParaRPr lang="en-US" sz="1200" dirty="0"/>
          </a:p>
        </p:txBody>
      </p:sp>
      <p:sp>
        <p:nvSpPr>
          <p:cNvPr id="50" name="Text 48"/>
          <p:cNvSpPr txBox="1"/>
          <p:nvPr/>
        </p:nvSpPr>
        <p:spPr>
          <a:xfrm>
            <a:off x="4590288" y="4399280"/>
            <a:ext cx="1962760" cy="219456"/>
          </a:xfrm>
          <a:prstGeom prst="rect">
            <a:avLst/>
          </a:prstGeom>
          <a:noFill/>
          <a:ln/>
        </p:spPr>
        <p:txBody>
          <a:bodyPr wrap="square" lIns="0" tIns="0" rIns="0" bIns="0" rtlCol="0" anchor="ctr"/>
          <a:lstStyle/>
          <a:p>
            <a:pPr marL="0" indent="0">
              <a:buNone/>
            </a:pPr>
            <a:r>
              <a:rPr lang="en-US" sz="950" dirty="0">
                <a:solidFill>
                  <a:srgbClr val="5B6475"/>
                </a:solidFill>
                <a:latin typeface="Calibri" pitchFamily="34" charset="0"/>
                <a:ea typeface="Calibri" pitchFamily="34" charset="-122"/>
                <a:cs typeface="Calibri" pitchFamily="34" charset="-120"/>
              </a:rPr>
              <a:t>Day 1</a:t>
            </a:r>
            <a:endParaRPr lang="en-US" sz="950" dirty="0"/>
          </a:p>
        </p:txBody>
      </p:sp>
      <p:sp>
        <p:nvSpPr>
          <p:cNvPr id="51" name="Shape 49"/>
          <p:cNvSpPr/>
          <p:nvPr/>
        </p:nvSpPr>
        <p:spPr>
          <a:xfrm>
            <a:off x="7093915" y="4417568"/>
            <a:ext cx="556412" cy="220370"/>
          </a:xfrm>
          <a:prstGeom prst="roundRect">
            <a:avLst>
              <a:gd name="adj" fmla="val 50000"/>
            </a:avLst>
          </a:prstGeom>
          <a:solidFill>
            <a:srgbClr val="E9ECF6"/>
          </a:solidFill>
          <a:ln w="9525">
            <a:solidFill>
              <a:srgbClr val="E9ECF6"/>
            </a:solidFill>
            <a:prstDash val="solid"/>
          </a:ln>
        </p:spPr>
        <p:txBody>
          <a:bodyPr/>
          <a:lstStyle/>
          <a:p>
            <a:endParaRPr lang="en-MX"/>
          </a:p>
        </p:txBody>
      </p:sp>
      <p:sp>
        <p:nvSpPr>
          <p:cNvPr id="52" name="Text 50"/>
          <p:cNvSpPr txBox="1"/>
          <p:nvPr/>
        </p:nvSpPr>
        <p:spPr>
          <a:xfrm>
            <a:off x="7093915" y="4417568"/>
            <a:ext cx="556412" cy="220370"/>
          </a:xfrm>
          <a:prstGeom prst="rect">
            <a:avLst/>
          </a:prstGeom>
          <a:noFill/>
          <a:ln/>
        </p:spPr>
        <p:txBody>
          <a:bodyPr wrap="square" lIns="0" tIns="0" rIns="0" bIns="0" rtlCol="0" anchor="ctr"/>
          <a:lstStyle/>
          <a:p>
            <a:pPr marL="0" indent="0" algn="ctr">
              <a:buNone/>
            </a:pPr>
            <a:r>
              <a:rPr lang="en-US" sz="850" dirty="0">
                <a:solidFill>
                  <a:srgbClr val="3D4F86"/>
                </a:solidFill>
                <a:latin typeface="Calibri" pitchFamily="34" charset="0"/>
                <a:ea typeface="Calibri" pitchFamily="34" charset="-122"/>
                <a:cs typeface="Calibri" pitchFamily="34" charset="-120"/>
              </a:rPr>
              <a:t>Email</a:t>
            </a:r>
            <a:endParaRPr lang="en-US" sz="850" dirty="0"/>
          </a:p>
        </p:txBody>
      </p:sp>
      <p:sp>
        <p:nvSpPr>
          <p:cNvPr id="53" name="Text 51"/>
          <p:cNvSpPr txBox="1"/>
          <p:nvPr/>
        </p:nvSpPr>
        <p:spPr>
          <a:xfrm>
            <a:off x="4315968" y="4673600"/>
            <a:ext cx="3334360" cy="188722"/>
          </a:xfrm>
          <a:prstGeom prst="rect">
            <a:avLst/>
          </a:prstGeom>
          <a:noFill/>
          <a:ln/>
        </p:spPr>
        <p:txBody>
          <a:bodyPr wrap="square" lIns="0" tIns="0" rIns="0" bIns="0" rtlCol="0" anchor="t"/>
          <a:lstStyle/>
          <a:p>
            <a:pPr marL="0" indent="0">
              <a:buNone/>
            </a:pPr>
            <a:r>
              <a:rPr lang="en-US" sz="1100" b="1" dirty="0">
                <a:solidFill>
                  <a:srgbClr val="1B2230"/>
                </a:solidFill>
                <a:latin typeface="Calibri" pitchFamily="34" charset="0"/>
                <a:ea typeface="Calibri" pitchFamily="34" charset="-122"/>
                <a:cs typeface="Calibri" pitchFamily="34" charset="-120"/>
              </a:rPr>
              <a:t>What your mini profile isn't telling you</a:t>
            </a:r>
            <a:endParaRPr lang="en-US" sz="1100" dirty="0"/>
          </a:p>
        </p:txBody>
      </p:sp>
      <p:sp>
        <p:nvSpPr>
          <p:cNvPr id="54" name="Text 52"/>
          <p:cNvSpPr txBox="1"/>
          <p:nvPr/>
        </p:nvSpPr>
        <p:spPr>
          <a:xfrm>
            <a:off x="4315968" y="4898898"/>
            <a:ext cx="3334360" cy="780288"/>
          </a:xfrm>
          <a:prstGeom prst="rect">
            <a:avLst/>
          </a:prstGeom>
          <a:noFill/>
          <a:ln/>
        </p:spPr>
        <p:txBody>
          <a:bodyPr wrap="square" lIns="0" tIns="0" rIns="0" bIns="0" rtlCol="0" anchor="t"/>
          <a:lstStyle/>
          <a:p>
            <a:pPr marL="0" indent="0">
              <a:lnSpc>
                <a:spcPct val="105000"/>
              </a:lnSpc>
              <a:buNone/>
            </a:pPr>
            <a:r>
              <a:rPr lang="en-US" sz="1200" dirty="0">
                <a:solidFill>
                  <a:srgbClr val="1B2230"/>
                </a:solidFill>
                <a:latin typeface="Cambria" pitchFamily="34" charset="0"/>
                <a:ea typeface="Cambria" pitchFamily="34" charset="-122"/>
                <a:cs typeface="Cambria" pitchFamily="34" charset="-120"/>
              </a:rPr>
              <a:t>Whether the cause is a habit, a knowledge gap or a decision you keep postponing; which of the other five abilities is dragging {{habilidad_critica}} down; and which first move has the most impact.</a:t>
            </a:r>
            <a:endParaRPr lang="en-US" sz="1200" dirty="0"/>
          </a:p>
        </p:txBody>
      </p:sp>
      <p:sp>
        <p:nvSpPr>
          <p:cNvPr id="55" name="Shape 53"/>
          <p:cNvSpPr/>
          <p:nvPr/>
        </p:nvSpPr>
        <p:spPr>
          <a:xfrm>
            <a:off x="7933792" y="4289552"/>
            <a:ext cx="3645256" cy="1499362"/>
          </a:xfrm>
          <a:prstGeom prst="roundRect">
            <a:avLst>
              <a:gd name="adj" fmla="val 6099"/>
            </a:avLst>
          </a:prstGeom>
          <a:solidFill>
            <a:srgbClr val="FFFFFF"/>
          </a:solidFill>
          <a:ln w="9525">
            <a:solidFill>
              <a:srgbClr val="DDE1E8"/>
            </a:solidFill>
            <a:prstDash val="solid"/>
          </a:ln>
        </p:spPr>
        <p:txBody>
          <a:bodyPr/>
          <a:lstStyle/>
          <a:p>
            <a:endParaRPr lang="en-MX"/>
          </a:p>
        </p:txBody>
      </p:sp>
      <p:sp>
        <p:nvSpPr>
          <p:cNvPr id="56" name="Text 54"/>
          <p:cNvSpPr txBox="1"/>
          <p:nvPr/>
        </p:nvSpPr>
        <p:spPr>
          <a:xfrm>
            <a:off x="8089240" y="4399280"/>
            <a:ext cx="457200" cy="219456"/>
          </a:xfrm>
          <a:prstGeom prst="rect">
            <a:avLst/>
          </a:prstGeom>
          <a:noFill/>
          <a:ln/>
        </p:spPr>
        <p:txBody>
          <a:bodyPr wrap="square" lIns="0" tIns="0" rIns="0" bIns="0" rtlCol="0" anchor="ctr"/>
          <a:lstStyle/>
          <a:p>
            <a:pPr marL="0" indent="0">
              <a:buNone/>
            </a:pPr>
            <a:r>
              <a:rPr lang="en-US" sz="1200" b="1" dirty="0">
                <a:solidFill>
                  <a:srgbClr val="1B2230"/>
                </a:solidFill>
                <a:latin typeface="Calibri" pitchFamily="34" charset="0"/>
                <a:ea typeface="Calibri" pitchFamily="34" charset="-122"/>
                <a:cs typeface="Calibri" pitchFamily="34" charset="-120"/>
              </a:rPr>
              <a:t>B6</a:t>
            </a:r>
            <a:endParaRPr lang="en-US" sz="1200" dirty="0"/>
          </a:p>
        </p:txBody>
      </p:sp>
      <p:sp>
        <p:nvSpPr>
          <p:cNvPr id="57" name="Text 55"/>
          <p:cNvSpPr txBox="1"/>
          <p:nvPr/>
        </p:nvSpPr>
        <p:spPr>
          <a:xfrm>
            <a:off x="8363560" y="4399280"/>
            <a:ext cx="1962760" cy="219456"/>
          </a:xfrm>
          <a:prstGeom prst="rect">
            <a:avLst/>
          </a:prstGeom>
          <a:noFill/>
          <a:ln/>
        </p:spPr>
        <p:txBody>
          <a:bodyPr wrap="square" lIns="0" tIns="0" rIns="0" bIns="0" rtlCol="0" anchor="ctr"/>
          <a:lstStyle/>
          <a:p>
            <a:pPr marL="0" indent="0">
              <a:buNone/>
            </a:pPr>
            <a:r>
              <a:rPr lang="en-US" sz="950" dirty="0">
                <a:solidFill>
                  <a:srgbClr val="5B6475"/>
                </a:solidFill>
                <a:latin typeface="Calibri" pitchFamily="34" charset="0"/>
                <a:ea typeface="Calibri" pitchFamily="34" charset="-122"/>
                <a:cs typeface="Calibri" pitchFamily="34" charset="-120"/>
              </a:rPr>
              <a:t>Day 3</a:t>
            </a:r>
            <a:endParaRPr lang="en-US" sz="950" dirty="0"/>
          </a:p>
        </p:txBody>
      </p:sp>
      <p:sp>
        <p:nvSpPr>
          <p:cNvPr id="58" name="Shape 56"/>
          <p:cNvSpPr/>
          <p:nvPr/>
        </p:nvSpPr>
        <p:spPr>
          <a:xfrm>
            <a:off x="10867187" y="4417568"/>
            <a:ext cx="556412" cy="220370"/>
          </a:xfrm>
          <a:prstGeom prst="roundRect">
            <a:avLst>
              <a:gd name="adj" fmla="val 50000"/>
            </a:avLst>
          </a:prstGeom>
          <a:solidFill>
            <a:srgbClr val="E9ECF6"/>
          </a:solidFill>
          <a:ln w="9525">
            <a:solidFill>
              <a:srgbClr val="E9ECF6"/>
            </a:solidFill>
            <a:prstDash val="solid"/>
          </a:ln>
        </p:spPr>
        <p:txBody>
          <a:bodyPr/>
          <a:lstStyle/>
          <a:p>
            <a:endParaRPr lang="en-MX"/>
          </a:p>
        </p:txBody>
      </p:sp>
      <p:sp>
        <p:nvSpPr>
          <p:cNvPr id="59" name="Text 57"/>
          <p:cNvSpPr txBox="1"/>
          <p:nvPr/>
        </p:nvSpPr>
        <p:spPr>
          <a:xfrm>
            <a:off x="10867187" y="4417568"/>
            <a:ext cx="556412" cy="220370"/>
          </a:xfrm>
          <a:prstGeom prst="rect">
            <a:avLst/>
          </a:prstGeom>
          <a:noFill/>
          <a:ln/>
        </p:spPr>
        <p:txBody>
          <a:bodyPr wrap="square" lIns="0" tIns="0" rIns="0" bIns="0" rtlCol="0" anchor="ctr"/>
          <a:lstStyle/>
          <a:p>
            <a:pPr marL="0" indent="0" algn="ctr">
              <a:buNone/>
            </a:pPr>
            <a:r>
              <a:rPr lang="en-US" sz="850" dirty="0">
                <a:solidFill>
                  <a:srgbClr val="3D4F86"/>
                </a:solidFill>
                <a:latin typeface="Calibri" pitchFamily="34" charset="0"/>
                <a:ea typeface="Calibri" pitchFamily="34" charset="-122"/>
                <a:cs typeface="Calibri" pitchFamily="34" charset="-120"/>
              </a:rPr>
              <a:t>Email</a:t>
            </a:r>
            <a:endParaRPr lang="en-US" sz="850" dirty="0"/>
          </a:p>
        </p:txBody>
      </p:sp>
      <p:sp>
        <p:nvSpPr>
          <p:cNvPr id="60" name="Text 58"/>
          <p:cNvSpPr txBox="1"/>
          <p:nvPr/>
        </p:nvSpPr>
        <p:spPr>
          <a:xfrm>
            <a:off x="8089240" y="4673600"/>
            <a:ext cx="3334360" cy="359156"/>
          </a:xfrm>
          <a:prstGeom prst="rect">
            <a:avLst/>
          </a:prstGeom>
          <a:noFill/>
          <a:ln/>
        </p:spPr>
        <p:txBody>
          <a:bodyPr wrap="square" lIns="0" tIns="0" rIns="0" bIns="0" rtlCol="0" anchor="t"/>
          <a:lstStyle/>
          <a:p>
            <a:pPr marL="0" indent="0">
              <a:buNone/>
            </a:pPr>
            <a:r>
              <a:rPr lang="en-US" sz="1100" b="1" dirty="0">
                <a:solidFill>
                  <a:srgbClr val="1B2230"/>
                </a:solidFill>
                <a:latin typeface="Calibri" pitchFamily="34" charset="0"/>
                <a:ea typeface="Calibri" pitchFamily="34" charset="-122"/>
                <a:cs typeface="Calibri" pitchFamily="34" charset="-120"/>
              </a:rPr>
              <a:t>What someone with your same low point found out</a:t>
            </a:r>
            <a:endParaRPr lang="en-US" sz="1100" dirty="0"/>
          </a:p>
        </p:txBody>
      </p:sp>
      <p:sp>
        <p:nvSpPr>
          <p:cNvPr id="61" name="Text 59"/>
          <p:cNvSpPr txBox="1"/>
          <p:nvPr/>
        </p:nvSpPr>
        <p:spPr>
          <a:xfrm>
            <a:off x="8089240" y="5069332"/>
            <a:ext cx="3334360" cy="589788"/>
          </a:xfrm>
          <a:prstGeom prst="rect">
            <a:avLst/>
          </a:prstGeom>
          <a:noFill/>
          <a:ln/>
        </p:spPr>
        <p:txBody>
          <a:bodyPr wrap="square" lIns="0" tIns="0" rIns="0" bIns="0" rtlCol="0" anchor="t"/>
          <a:lstStyle/>
          <a:p>
            <a:pPr marL="0" indent="0">
              <a:lnSpc>
                <a:spcPct val="105000"/>
              </a:lnSpc>
              <a:buNone/>
            </a:pPr>
            <a:r>
              <a:rPr lang="en-US" sz="1200" dirty="0">
                <a:solidFill>
                  <a:srgbClr val="3D4F86"/>
                </a:solidFill>
                <a:latin typeface="Calibri" pitchFamily="34" charset="0"/>
                <a:ea typeface="Calibri" pitchFamily="34" charset="-122"/>
                <a:cs typeface="Calibri" pitchFamily="34" charset="-120"/>
              </a:rPr>
              <a:t>{{caso_nombre}} was sure the problem was {{caso_creencia}}. The profile showed {{caso_hallazgo}}. Real case, shared with permission.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7F9"/>
        </a:solidFill>
        <a:effectLst/>
      </p:bgPr>
    </p:bg>
    <p:spTree>
      <p:nvGrpSpPr>
        <p:cNvPr id="1" name=""/>
        <p:cNvGrpSpPr/>
        <p:nvPr/>
      </p:nvGrpSpPr>
      <p:grpSpPr>
        <a:xfrm>
          <a:off x="0" y="0"/>
          <a:ext cx="0" cy="0"/>
          <a:chOff x="0" y="0"/>
          <a:chExt cx="0" cy="0"/>
        </a:xfrm>
      </p:grpSpPr>
      <p:sp>
        <p:nvSpPr>
          <p:cNvPr id="2" name="Text 0"/>
          <p:cNvSpPr txBox="1"/>
          <p:nvPr/>
        </p:nvSpPr>
        <p:spPr>
          <a:xfrm>
            <a:off x="612648" y="6446520"/>
            <a:ext cx="4572000" cy="228600"/>
          </a:xfrm>
          <a:prstGeom prst="rect">
            <a:avLst/>
          </a:prstGeom>
          <a:noFill/>
          <a:ln/>
        </p:spPr>
        <p:txBody>
          <a:bodyPr wrap="square" lIns="0" tIns="0" rIns="0" bIns="0" rtlCol="0" anchor="ctr"/>
          <a:lstStyle/>
          <a:p>
            <a:pPr marL="0" indent="0">
              <a:buNone/>
            </a:pPr>
            <a:r>
              <a:rPr lang="en-US" sz="900" dirty="0">
                <a:solidFill>
                  <a:srgbClr val="5B6475"/>
                </a:solidFill>
                <a:latin typeface="Calibri" pitchFamily="34" charset="0"/>
                <a:ea typeface="Calibri" pitchFamily="34" charset="-122"/>
                <a:cs typeface="Calibri" pitchFamily="34" charset="-120"/>
              </a:rPr>
              <a:t>Zones of Life: funnels and copy</a:t>
            </a:r>
            <a:endParaRPr lang="en-US" sz="900" dirty="0"/>
          </a:p>
        </p:txBody>
      </p:sp>
      <p:sp>
        <p:nvSpPr>
          <p:cNvPr id="3" name="Text 1"/>
          <p:cNvSpPr txBox="1"/>
          <p:nvPr/>
        </p:nvSpPr>
        <p:spPr>
          <a:xfrm>
            <a:off x="10881360" y="6446520"/>
            <a:ext cx="694944" cy="228600"/>
          </a:xfrm>
          <a:prstGeom prst="rect">
            <a:avLst/>
          </a:prstGeom>
          <a:noFill/>
          <a:ln/>
        </p:spPr>
        <p:txBody>
          <a:bodyPr wrap="square" lIns="0" tIns="0" rIns="0" bIns="0" rtlCol="0" anchor="ctr"/>
          <a:lstStyle/>
          <a:p>
            <a:pPr marL="0" indent="0" algn="r">
              <a:buNone/>
            </a:pPr>
            <a:r>
              <a:rPr lang="en-US" sz="900" dirty="0">
                <a:solidFill>
                  <a:srgbClr val="5B6475"/>
                </a:solidFill>
                <a:latin typeface="Calibri" pitchFamily="34" charset="0"/>
                <a:ea typeface="Calibri" pitchFamily="34" charset="-122"/>
                <a:cs typeface="Calibri" pitchFamily="34" charset="-120"/>
              </a:rPr>
              <a:t>7</a:t>
            </a:r>
            <a:endParaRPr lang="en-US" sz="900" dirty="0"/>
          </a:p>
        </p:txBody>
      </p:sp>
      <p:sp>
        <p:nvSpPr>
          <p:cNvPr id="4" name="Shape 2"/>
          <p:cNvSpPr/>
          <p:nvPr/>
        </p:nvSpPr>
        <p:spPr>
          <a:xfrm>
            <a:off x="612648" y="530352"/>
            <a:ext cx="1737360" cy="256032"/>
          </a:xfrm>
          <a:prstGeom prst="roundRect">
            <a:avLst>
              <a:gd name="adj" fmla="val 50000"/>
            </a:avLst>
          </a:prstGeom>
          <a:solidFill>
            <a:srgbClr val="F5E6EE"/>
          </a:solidFill>
          <a:ln w="9525">
            <a:solidFill>
              <a:srgbClr val="F5E6EE"/>
            </a:solidFill>
            <a:prstDash val="solid"/>
          </a:ln>
        </p:spPr>
        <p:txBody>
          <a:bodyPr/>
          <a:lstStyle/>
          <a:p>
            <a:endParaRPr lang="en-MX"/>
          </a:p>
        </p:txBody>
      </p:sp>
      <p:sp>
        <p:nvSpPr>
          <p:cNvPr id="5" name="Text 3"/>
          <p:cNvSpPr txBox="1"/>
          <p:nvPr/>
        </p:nvSpPr>
        <p:spPr>
          <a:xfrm>
            <a:off x="612648" y="530352"/>
            <a:ext cx="1737360" cy="256032"/>
          </a:xfrm>
          <a:prstGeom prst="rect">
            <a:avLst/>
          </a:prstGeom>
          <a:noFill/>
          <a:ln/>
        </p:spPr>
        <p:txBody>
          <a:bodyPr wrap="square" lIns="0" tIns="0" rIns="0" bIns="0" rtlCol="0" anchor="ctr"/>
          <a:lstStyle/>
          <a:p>
            <a:pPr marL="0" indent="0" algn="ctr">
              <a:buNone/>
            </a:pPr>
            <a:r>
              <a:rPr lang="en-US" sz="1000" b="1" dirty="0">
                <a:solidFill>
                  <a:srgbClr val="9A3D6A"/>
                </a:solidFill>
                <a:latin typeface="Calibri" pitchFamily="34" charset="0"/>
                <a:ea typeface="Calibri" pitchFamily="34" charset="-122"/>
                <a:cs typeface="Calibri" pitchFamily="34" charset="-120"/>
              </a:rPr>
              <a:t>Recovery, 2 of 2</a:t>
            </a:r>
            <a:endParaRPr lang="en-US" sz="1000" dirty="0"/>
          </a:p>
        </p:txBody>
      </p:sp>
      <p:sp>
        <p:nvSpPr>
          <p:cNvPr id="6" name="Text 4"/>
          <p:cNvSpPr txBox="1"/>
          <p:nvPr/>
        </p:nvSpPr>
        <p:spPr>
          <a:xfrm>
            <a:off x="612648" y="941832"/>
            <a:ext cx="3200400" cy="1197864"/>
          </a:xfrm>
          <a:prstGeom prst="rect">
            <a:avLst/>
          </a:prstGeom>
          <a:noFill/>
          <a:ln/>
        </p:spPr>
        <p:txBody>
          <a:bodyPr wrap="square" lIns="0" tIns="0" rIns="0" bIns="0" rtlCol="0" anchor="t"/>
          <a:lstStyle/>
          <a:p>
            <a:pPr marL="0" indent="0">
              <a:lnSpc>
                <a:spcPct val="95000"/>
              </a:lnSpc>
              <a:buNone/>
            </a:pPr>
            <a:r>
              <a:rPr lang="en-US" sz="2800" dirty="0">
                <a:solidFill>
                  <a:srgbClr val="1B2230"/>
                </a:solidFill>
                <a:latin typeface="Cambria" pitchFamily="34" charset="0"/>
                <a:ea typeface="Cambria" pitchFamily="34" charset="-122"/>
                <a:cs typeface="Cambria" pitchFamily="34" charset="-120"/>
              </a:rPr>
              <a:t>Flow B: selling the Financial Health Profile</a:t>
            </a:r>
            <a:endParaRPr lang="en-US" sz="2800" dirty="0"/>
          </a:p>
        </p:txBody>
      </p:sp>
      <p:sp>
        <p:nvSpPr>
          <p:cNvPr id="7" name="Text 5"/>
          <p:cNvSpPr txBox="1"/>
          <p:nvPr/>
        </p:nvSpPr>
        <p:spPr>
          <a:xfrm>
            <a:off x="612648" y="2304288"/>
            <a:ext cx="3200400" cy="617601"/>
          </a:xfrm>
          <a:prstGeom prst="rect">
            <a:avLst/>
          </a:prstGeom>
          <a:noFill/>
          <a:ln/>
        </p:spPr>
        <p:txBody>
          <a:bodyPr wrap="square" lIns="0" tIns="0" rIns="0" bIns="0" rtlCol="0" anchor="t"/>
          <a:lstStyle/>
          <a:p>
            <a:pPr marL="0" indent="0">
              <a:buNone/>
            </a:pPr>
            <a:r>
              <a:rPr lang="en-US" sz="1250" b="1" dirty="0">
                <a:solidFill>
                  <a:srgbClr val="1B2230"/>
                </a:solidFill>
                <a:latin typeface="Calibri" pitchFamily="34" charset="0"/>
                <a:ea typeface="Calibri" pitchFamily="34" charset="-122"/>
                <a:cs typeface="Calibri" pitchFamily="34" charset="-120"/>
              </a:rPr>
              <a:t>Accelerated version</a:t>
            </a:r>
            <a:endParaRPr lang="en-US" sz="1250" dirty="0"/>
          </a:p>
          <a:p>
            <a:pPr marL="0" indent="0">
              <a:buNone/>
            </a:pPr>
            <a:r>
              <a:rPr lang="en-US" sz="1250" dirty="0">
                <a:solidFill>
                  <a:srgbClr val="5B6475"/>
                </a:solidFill>
                <a:latin typeface="Calibri" pitchFamily="34" charset="0"/>
                <a:ea typeface="Calibri" pitchFamily="34" charset="-122"/>
                <a:cs typeface="Calibri" pitchFamily="34" charset="-120"/>
              </a:rPr>
              <a:t>For leads with two or more clicks on the offer, or a visit to checkout.</a:t>
            </a:r>
            <a:endParaRPr lang="en-US" sz="1250" dirty="0"/>
          </a:p>
        </p:txBody>
      </p:sp>
      <p:sp>
        <p:nvSpPr>
          <p:cNvPr id="8" name="Text 6"/>
          <p:cNvSpPr txBox="1"/>
          <p:nvPr/>
        </p:nvSpPr>
        <p:spPr>
          <a:xfrm>
            <a:off x="612648" y="3049905"/>
            <a:ext cx="3200400" cy="423926"/>
          </a:xfrm>
          <a:prstGeom prst="rect">
            <a:avLst/>
          </a:prstGeom>
          <a:noFill/>
          <a:ln/>
        </p:spPr>
        <p:txBody>
          <a:bodyPr wrap="square" lIns="0" tIns="0" rIns="0" bIns="0" rtlCol="0" anchor="t"/>
          <a:lstStyle/>
          <a:p>
            <a:pPr marL="0" indent="0">
              <a:buNone/>
            </a:pPr>
            <a:r>
              <a:rPr lang="en-US" sz="1250" dirty="0">
                <a:solidFill>
                  <a:srgbClr val="5B6475"/>
                </a:solidFill>
                <a:latin typeface="Calibri" pitchFamily="34" charset="0"/>
                <a:ea typeface="Calibri" pitchFamily="34" charset="-122"/>
                <a:cs typeface="Calibri" pitchFamily="34" charset="-120"/>
              </a:rPr>
              <a:t>Immediate B1 and B2. Day 1 B5. Day 2 B7. Day 3 B8. Day 5 B10. Day 7 B11.</a:t>
            </a:r>
            <a:endParaRPr lang="en-US" sz="1250" dirty="0"/>
          </a:p>
        </p:txBody>
      </p:sp>
      <p:sp>
        <p:nvSpPr>
          <p:cNvPr id="9" name="Text 7"/>
          <p:cNvSpPr txBox="1"/>
          <p:nvPr/>
        </p:nvSpPr>
        <p:spPr>
          <a:xfrm>
            <a:off x="612648" y="3601847"/>
            <a:ext cx="3200400" cy="617601"/>
          </a:xfrm>
          <a:prstGeom prst="rect">
            <a:avLst/>
          </a:prstGeom>
          <a:noFill/>
          <a:ln/>
        </p:spPr>
        <p:txBody>
          <a:bodyPr wrap="square" lIns="0" tIns="0" rIns="0" bIns="0" rtlCol="0" anchor="t"/>
          <a:lstStyle/>
          <a:p>
            <a:pPr marL="0" indent="0">
              <a:buNone/>
            </a:pPr>
            <a:r>
              <a:rPr lang="en-US" sz="1250" b="1" dirty="0">
                <a:solidFill>
                  <a:srgbClr val="1B2230"/>
                </a:solidFill>
                <a:latin typeface="Calibri" pitchFamily="34" charset="0"/>
                <a:ea typeface="Calibri" pitchFamily="34" charset="-122"/>
                <a:cs typeface="Calibri" pitchFamily="34" charset="-120"/>
              </a:rPr>
              <a:t>No discounts</a:t>
            </a:r>
            <a:endParaRPr lang="en-US" sz="1250" dirty="0"/>
          </a:p>
          <a:p>
            <a:pPr marL="0" indent="0">
              <a:buNone/>
            </a:pPr>
            <a:r>
              <a:rPr lang="en-US" sz="1250" dirty="0">
                <a:solidFill>
                  <a:srgbClr val="5B6475"/>
                </a:solidFill>
                <a:latin typeface="Calibri" pitchFamily="34" charset="0"/>
                <a:ea typeface="Calibri" pitchFamily="34" charset="-122"/>
                <a:cs typeface="Calibri" pitchFamily="34" charset="-120"/>
              </a:rPr>
              <a:t>There are no bonuses or launch prices. The mini profile is free, the profile costs {{precio_completo}}, and the Private Review is paid separately.</a:t>
            </a:r>
            <a:endParaRPr lang="en-US" sz="1250" dirty="0"/>
          </a:p>
        </p:txBody>
      </p:sp>
      <p:sp>
        <p:nvSpPr>
          <p:cNvPr id="10" name="Shape 8"/>
          <p:cNvSpPr/>
          <p:nvPr/>
        </p:nvSpPr>
        <p:spPr>
          <a:xfrm>
            <a:off x="4160520" y="530352"/>
            <a:ext cx="3645256" cy="1846834"/>
          </a:xfrm>
          <a:prstGeom prst="roundRect">
            <a:avLst>
              <a:gd name="adj" fmla="val 4951"/>
            </a:avLst>
          </a:prstGeom>
          <a:solidFill>
            <a:srgbClr val="FFFFFF"/>
          </a:solidFill>
          <a:ln w="9525">
            <a:solidFill>
              <a:srgbClr val="DDE1E8"/>
            </a:solidFill>
            <a:prstDash val="solid"/>
          </a:ln>
        </p:spPr>
        <p:txBody>
          <a:bodyPr/>
          <a:lstStyle/>
          <a:p>
            <a:endParaRPr lang="en-MX"/>
          </a:p>
        </p:txBody>
      </p:sp>
      <p:sp>
        <p:nvSpPr>
          <p:cNvPr id="11" name="Text 9"/>
          <p:cNvSpPr txBox="1"/>
          <p:nvPr/>
        </p:nvSpPr>
        <p:spPr>
          <a:xfrm>
            <a:off x="4315968" y="640080"/>
            <a:ext cx="457200" cy="219456"/>
          </a:xfrm>
          <a:prstGeom prst="rect">
            <a:avLst/>
          </a:prstGeom>
          <a:noFill/>
          <a:ln/>
        </p:spPr>
        <p:txBody>
          <a:bodyPr wrap="square" lIns="0" tIns="0" rIns="0" bIns="0" rtlCol="0" anchor="ctr"/>
          <a:lstStyle/>
          <a:p>
            <a:pPr marL="0" indent="0">
              <a:buNone/>
            </a:pPr>
            <a:r>
              <a:rPr lang="en-US" sz="1200" b="1" dirty="0">
                <a:solidFill>
                  <a:srgbClr val="1B2230"/>
                </a:solidFill>
                <a:latin typeface="Calibri" pitchFamily="34" charset="0"/>
                <a:ea typeface="Calibri" pitchFamily="34" charset="-122"/>
                <a:cs typeface="Calibri" pitchFamily="34" charset="-120"/>
              </a:rPr>
              <a:t>B7</a:t>
            </a:r>
            <a:endParaRPr lang="en-US" sz="1200" dirty="0"/>
          </a:p>
        </p:txBody>
      </p:sp>
      <p:sp>
        <p:nvSpPr>
          <p:cNvPr id="12" name="Text 10"/>
          <p:cNvSpPr txBox="1"/>
          <p:nvPr/>
        </p:nvSpPr>
        <p:spPr>
          <a:xfrm>
            <a:off x="4590288" y="640080"/>
            <a:ext cx="1962760" cy="219456"/>
          </a:xfrm>
          <a:prstGeom prst="rect">
            <a:avLst/>
          </a:prstGeom>
          <a:noFill/>
          <a:ln/>
        </p:spPr>
        <p:txBody>
          <a:bodyPr wrap="square" lIns="0" tIns="0" rIns="0" bIns="0" rtlCol="0" anchor="ctr"/>
          <a:lstStyle/>
          <a:p>
            <a:pPr marL="0" indent="0">
              <a:buNone/>
            </a:pPr>
            <a:r>
              <a:rPr lang="en-US" sz="950" dirty="0">
                <a:solidFill>
                  <a:srgbClr val="5B6475"/>
                </a:solidFill>
                <a:latin typeface="Calibri" pitchFamily="34" charset="0"/>
                <a:ea typeface="Calibri" pitchFamily="34" charset="-122"/>
                <a:cs typeface="Calibri" pitchFamily="34" charset="-120"/>
              </a:rPr>
              <a:t>Day 5</a:t>
            </a:r>
            <a:endParaRPr lang="en-US" sz="950" dirty="0"/>
          </a:p>
        </p:txBody>
      </p:sp>
      <p:sp>
        <p:nvSpPr>
          <p:cNvPr id="13" name="Shape 11"/>
          <p:cNvSpPr/>
          <p:nvPr/>
        </p:nvSpPr>
        <p:spPr>
          <a:xfrm>
            <a:off x="7093915" y="658368"/>
            <a:ext cx="556412" cy="220370"/>
          </a:xfrm>
          <a:prstGeom prst="roundRect">
            <a:avLst>
              <a:gd name="adj" fmla="val 50000"/>
            </a:avLst>
          </a:prstGeom>
          <a:solidFill>
            <a:srgbClr val="E9ECF6"/>
          </a:solidFill>
          <a:ln w="9525">
            <a:solidFill>
              <a:srgbClr val="E9ECF6"/>
            </a:solidFill>
            <a:prstDash val="solid"/>
          </a:ln>
        </p:spPr>
        <p:txBody>
          <a:bodyPr/>
          <a:lstStyle/>
          <a:p>
            <a:endParaRPr lang="en-MX"/>
          </a:p>
        </p:txBody>
      </p:sp>
      <p:sp>
        <p:nvSpPr>
          <p:cNvPr id="14" name="Text 12"/>
          <p:cNvSpPr txBox="1"/>
          <p:nvPr/>
        </p:nvSpPr>
        <p:spPr>
          <a:xfrm>
            <a:off x="7093915" y="658368"/>
            <a:ext cx="556412" cy="220370"/>
          </a:xfrm>
          <a:prstGeom prst="rect">
            <a:avLst/>
          </a:prstGeom>
          <a:noFill/>
          <a:ln/>
        </p:spPr>
        <p:txBody>
          <a:bodyPr wrap="square" lIns="0" tIns="0" rIns="0" bIns="0" rtlCol="0" anchor="ctr"/>
          <a:lstStyle/>
          <a:p>
            <a:pPr marL="0" indent="0" algn="ctr">
              <a:buNone/>
            </a:pPr>
            <a:r>
              <a:rPr lang="en-US" sz="850" dirty="0">
                <a:solidFill>
                  <a:srgbClr val="3D4F86"/>
                </a:solidFill>
                <a:latin typeface="Calibri" pitchFamily="34" charset="0"/>
                <a:ea typeface="Calibri" pitchFamily="34" charset="-122"/>
                <a:cs typeface="Calibri" pitchFamily="34" charset="-120"/>
              </a:rPr>
              <a:t>Email</a:t>
            </a:r>
            <a:endParaRPr lang="en-US" sz="850" dirty="0"/>
          </a:p>
        </p:txBody>
      </p:sp>
      <p:sp>
        <p:nvSpPr>
          <p:cNvPr id="15" name="Text 13"/>
          <p:cNvSpPr txBox="1"/>
          <p:nvPr/>
        </p:nvSpPr>
        <p:spPr>
          <a:xfrm>
            <a:off x="4315968" y="914400"/>
            <a:ext cx="3334360" cy="188722"/>
          </a:xfrm>
          <a:prstGeom prst="rect">
            <a:avLst/>
          </a:prstGeom>
          <a:noFill/>
          <a:ln/>
        </p:spPr>
        <p:txBody>
          <a:bodyPr wrap="square" lIns="0" tIns="0" rIns="0" bIns="0" rtlCol="0" anchor="t"/>
          <a:lstStyle/>
          <a:p>
            <a:pPr marL="0" indent="0">
              <a:buNone/>
            </a:pPr>
            <a:r>
              <a:rPr lang="en-US" sz="1100" b="1" dirty="0">
                <a:solidFill>
                  <a:srgbClr val="1B2230"/>
                </a:solidFill>
                <a:latin typeface="Calibri" pitchFamily="34" charset="0"/>
                <a:ea typeface="Calibri" pitchFamily="34" charset="-122"/>
                <a:cs typeface="Calibri" pitchFamily="34" charset="-120"/>
              </a:rPr>
              <a:t>How much has guessing cost you?</a:t>
            </a:r>
            <a:endParaRPr lang="en-US" sz="1100" dirty="0"/>
          </a:p>
        </p:txBody>
      </p:sp>
      <p:sp>
        <p:nvSpPr>
          <p:cNvPr id="16" name="Text 14"/>
          <p:cNvSpPr txBox="1"/>
          <p:nvPr/>
        </p:nvSpPr>
        <p:spPr>
          <a:xfrm>
            <a:off x="4315968" y="1139698"/>
            <a:ext cx="3334360" cy="780288"/>
          </a:xfrm>
          <a:prstGeom prst="rect">
            <a:avLst/>
          </a:prstGeom>
          <a:noFill/>
          <a:ln/>
        </p:spPr>
        <p:txBody>
          <a:bodyPr wrap="square" lIns="0" tIns="0" rIns="0" bIns="0" rtlCol="0" anchor="t"/>
          <a:lstStyle/>
          <a:p>
            <a:pPr marL="0" indent="0">
              <a:lnSpc>
                <a:spcPct val="105000"/>
              </a:lnSpc>
              <a:buNone/>
            </a:pPr>
            <a:r>
              <a:rPr lang="en-US" sz="1200" dirty="0">
                <a:solidFill>
                  <a:srgbClr val="1B2230"/>
                </a:solidFill>
                <a:latin typeface="Cambria" pitchFamily="34" charset="0"/>
                <a:ea typeface="Cambria" pitchFamily="34" charset="-122"/>
                <a:cs typeface="Cambria" pitchFamily="34" charset="-120"/>
              </a:rPr>
              <a:t>It costs {{precio_completo}}. Now think about the courses, books and months spent trying on your own. Without a precise measurement, every attempt is a bet.</a:t>
            </a:r>
            <a:endParaRPr lang="en-US" sz="1200" dirty="0"/>
          </a:p>
        </p:txBody>
      </p:sp>
      <p:sp>
        <p:nvSpPr>
          <p:cNvPr id="17" name="Shape 15"/>
          <p:cNvSpPr/>
          <p:nvPr/>
        </p:nvSpPr>
        <p:spPr>
          <a:xfrm>
            <a:off x="4315968" y="2011426"/>
            <a:ext cx="1384950" cy="232258"/>
          </a:xfrm>
          <a:prstGeom prst="roundRect">
            <a:avLst>
              <a:gd name="adj" fmla="val 50000"/>
            </a:avLst>
          </a:prstGeom>
          <a:solidFill>
            <a:srgbClr val="1B2230"/>
          </a:solidFill>
          <a:ln w="9525">
            <a:solidFill>
              <a:srgbClr val="1B2230"/>
            </a:solidFill>
            <a:prstDash val="solid"/>
          </a:ln>
        </p:spPr>
        <p:txBody>
          <a:bodyPr/>
          <a:lstStyle/>
          <a:p>
            <a:endParaRPr lang="en-MX"/>
          </a:p>
        </p:txBody>
      </p:sp>
      <p:sp>
        <p:nvSpPr>
          <p:cNvPr id="18" name="Text 16"/>
          <p:cNvSpPr txBox="1"/>
          <p:nvPr/>
        </p:nvSpPr>
        <p:spPr>
          <a:xfrm>
            <a:off x="4315968" y="2011426"/>
            <a:ext cx="1384950" cy="23225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Stop guessing</a:t>
            </a:r>
            <a:endParaRPr lang="en-US" sz="900" dirty="0"/>
          </a:p>
        </p:txBody>
      </p:sp>
      <p:sp>
        <p:nvSpPr>
          <p:cNvPr id="19" name="Shape 17"/>
          <p:cNvSpPr/>
          <p:nvPr/>
        </p:nvSpPr>
        <p:spPr>
          <a:xfrm>
            <a:off x="7933792" y="530352"/>
            <a:ext cx="3645256" cy="1846834"/>
          </a:xfrm>
          <a:prstGeom prst="roundRect">
            <a:avLst>
              <a:gd name="adj" fmla="val 4951"/>
            </a:avLst>
          </a:prstGeom>
          <a:solidFill>
            <a:srgbClr val="FFFFFF"/>
          </a:solidFill>
          <a:ln w="9525">
            <a:solidFill>
              <a:srgbClr val="DDE1E8"/>
            </a:solidFill>
            <a:prstDash val="solid"/>
          </a:ln>
        </p:spPr>
        <p:txBody>
          <a:bodyPr/>
          <a:lstStyle/>
          <a:p>
            <a:endParaRPr lang="en-MX"/>
          </a:p>
        </p:txBody>
      </p:sp>
      <p:sp>
        <p:nvSpPr>
          <p:cNvPr id="20" name="Text 18"/>
          <p:cNvSpPr txBox="1"/>
          <p:nvPr/>
        </p:nvSpPr>
        <p:spPr>
          <a:xfrm>
            <a:off x="8089240" y="640080"/>
            <a:ext cx="457200" cy="219456"/>
          </a:xfrm>
          <a:prstGeom prst="rect">
            <a:avLst/>
          </a:prstGeom>
          <a:noFill/>
          <a:ln/>
        </p:spPr>
        <p:txBody>
          <a:bodyPr wrap="square" lIns="0" tIns="0" rIns="0" bIns="0" rtlCol="0" anchor="ctr"/>
          <a:lstStyle/>
          <a:p>
            <a:pPr marL="0" indent="0">
              <a:buNone/>
            </a:pPr>
            <a:r>
              <a:rPr lang="en-US" sz="1200" b="1" dirty="0">
                <a:solidFill>
                  <a:srgbClr val="1B2230"/>
                </a:solidFill>
                <a:latin typeface="Calibri" pitchFamily="34" charset="0"/>
                <a:ea typeface="Calibri" pitchFamily="34" charset="-122"/>
                <a:cs typeface="Calibri" pitchFamily="34" charset="-120"/>
              </a:rPr>
              <a:t>B8</a:t>
            </a:r>
            <a:endParaRPr lang="en-US" sz="1200" dirty="0"/>
          </a:p>
        </p:txBody>
      </p:sp>
      <p:sp>
        <p:nvSpPr>
          <p:cNvPr id="21" name="Text 19"/>
          <p:cNvSpPr txBox="1"/>
          <p:nvPr/>
        </p:nvSpPr>
        <p:spPr>
          <a:xfrm>
            <a:off x="8363560" y="640080"/>
            <a:ext cx="1962760" cy="219456"/>
          </a:xfrm>
          <a:prstGeom prst="rect">
            <a:avLst/>
          </a:prstGeom>
          <a:noFill/>
          <a:ln/>
        </p:spPr>
        <p:txBody>
          <a:bodyPr wrap="square" lIns="0" tIns="0" rIns="0" bIns="0" rtlCol="0" anchor="ctr"/>
          <a:lstStyle/>
          <a:p>
            <a:pPr marL="0" indent="0">
              <a:buNone/>
            </a:pPr>
            <a:r>
              <a:rPr lang="en-US" sz="950" dirty="0">
                <a:solidFill>
                  <a:srgbClr val="5B6475"/>
                </a:solidFill>
                <a:latin typeface="Calibri" pitchFamily="34" charset="0"/>
                <a:ea typeface="Calibri" pitchFamily="34" charset="-122"/>
                <a:cs typeface="Calibri" pitchFamily="34" charset="-120"/>
              </a:rPr>
              <a:t>Day 7</a:t>
            </a:r>
            <a:endParaRPr lang="en-US" sz="950" dirty="0"/>
          </a:p>
        </p:txBody>
      </p:sp>
      <p:sp>
        <p:nvSpPr>
          <p:cNvPr id="22" name="Shape 20"/>
          <p:cNvSpPr/>
          <p:nvPr/>
        </p:nvSpPr>
        <p:spPr>
          <a:xfrm>
            <a:off x="10867187" y="658368"/>
            <a:ext cx="556412" cy="220370"/>
          </a:xfrm>
          <a:prstGeom prst="roundRect">
            <a:avLst>
              <a:gd name="adj" fmla="val 50000"/>
            </a:avLst>
          </a:prstGeom>
          <a:solidFill>
            <a:srgbClr val="E9ECF6"/>
          </a:solidFill>
          <a:ln w="9525">
            <a:solidFill>
              <a:srgbClr val="E9ECF6"/>
            </a:solidFill>
            <a:prstDash val="solid"/>
          </a:ln>
        </p:spPr>
        <p:txBody>
          <a:bodyPr/>
          <a:lstStyle/>
          <a:p>
            <a:endParaRPr lang="en-MX"/>
          </a:p>
        </p:txBody>
      </p:sp>
      <p:sp>
        <p:nvSpPr>
          <p:cNvPr id="23" name="Text 21"/>
          <p:cNvSpPr txBox="1"/>
          <p:nvPr/>
        </p:nvSpPr>
        <p:spPr>
          <a:xfrm>
            <a:off x="10867187" y="658368"/>
            <a:ext cx="556412" cy="220370"/>
          </a:xfrm>
          <a:prstGeom prst="rect">
            <a:avLst/>
          </a:prstGeom>
          <a:noFill/>
          <a:ln/>
        </p:spPr>
        <p:txBody>
          <a:bodyPr wrap="square" lIns="0" tIns="0" rIns="0" bIns="0" rtlCol="0" anchor="ctr"/>
          <a:lstStyle/>
          <a:p>
            <a:pPr marL="0" indent="0" algn="ctr">
              <a:buNone/>
            </a:pPr>
            <a:r>
              <a:rPr lang="en-US" sz="850" dirty="0">
                <a:solidFill>
                  <a:srgbClr val="3D4F86"/>
                </a:solidFill>
                <a:latin typeface="Calibri" pitchFamily="34" charset="0"/>
                <a:ea typeface="Calibri" pitchFamily="34" charset="-122"/>
                <a:cs typeface="Calibri" pitchFamily="34" charset="-120"/>
              </a:rPr>
              <a:t>Email</a:t>
            </a:r>
            <a:endParaRPr lang="en-US" sz="850" dirty="0"/>
          </a:p>
        </p:txBody>
      </p:sp>
      <p:sp>
        <p:nvSpPr>
          <p:cNvPr id="24" name="Text 22"/>
          <p:cNvSpPr txBox="1"/>
          <p:nvPr/>
        </p:nvSpPr>
        <p:spPr>
          <a:xfrm>
            <a:off x="8089240" y="914400"/>
            <a:ext cx="3334360" cy="188722"/>
          </a:xfrm>
          <a:prstGeom prst="rect">
            <a:avLst/>
          </a:prstGeom>
          <a:noFill/>
          <a:ln/>
        </p:spPr>
        <p:txBody>
          <a:bodyPr wrap="square" lIns="0" tIns="0" rIns="0" bIns="0" rtlCol="0" anchor="t"/>
          <a:lstStyle/>
          <a:p>
            <a:pPr marL="0" indent="0">
              <a:buNone/>
            </a:pPr>
            <a:r>
              <a:rPr lang="en-US" sz="1100" b="1" dirty="0">
                <a:solidFill>
                  <a:srgbClr val="1B2230"/>
                </a:solidFill>
                <a:latin typeface="Calibri" pitchFamily="34" charset="0"/>
                <a:ea typeface="Calibri" pitchFamily="34" charset="-122"/>
                <a:cs typeface="Calibri" pitchFamily="34" charset="-120"/>
              </a:rPr>
              <a:t>Exactly what your profile includes</a:t>
            </a:r>
            <a:endParaRPr lang="en-US" sz="1100" dirty="0"/>
          </a:p>
        </p:txBody>
      </p:sp>
      <p:sp>
        <p:nvSpPr>
          <p:cNvPr id="25" name="Text 23"/>
          <p:cNvSpPr txBox="1"/>
          <p:nvPr/>
        </p:nvSpPr>
        <p:spPr>
          <a:xfrm>
            <a:off x="8089240" y="1139698"/>
            <a:ext cx="3334360" cy="589788"/>
          </a:xfrm>
          <a:prstGeom prst="rect">
            <a:avLst/>
          </a:prstGeom>
          <a:noFill/>
          <a:ln/>
        </p:spPr>
        <p:txBody>
          <a:bodyPr wrap="square" lIns="0" tIns="0" rIns="0" bIns="0" rtlCol="0" anchor="t"/>
          <a:lstStyle/>
          <a:p>
            <a:pPr marL="0" indent="0">
              <a:lnSpc>
                <a:spcPct val="105000"/>
              </a:lnSpc>
              <a:buNone/>
            </a:pPr>
            <a:r>
              <a:rPr lang="en-US" sz="1200" dirty="0">
                <a:solidFill>
                  <a:srgbClr val="1B2230"/>
                </a:solidFill>
                <a:latin typeface="Cambria" pitchFamily="34" charset="0"/>
                <a:ea typeface="Cambria" pitchFamily="34" charset="-122"/>
                <a:cs typeface="Cambria" pitchFamily="34" charset="-120"/>
              </a:rPr>
              <a:t>One hundred questions, your chart, the report on all six abilities, the Financial Fitness Workbook and Walter's audio lesson. One-time payment.</a:t>
            </a:r>
            <a:endParaRPr lang="en-US" sz="1200" dirty="0"/>
          </a:p>
        </p:txBody>
      </p:sp>
      <p:sp>
        <p:nvSpPr>
          <p:cNvPr id="26" name="Shape 24"/>
          <p:cNvSpPr/>
          <p:nvPr/>
        </p:nvSpPr>
        <p:spPr>
          <a:xfrm>
            <a:off x="8089240" y="1820926"/>
            <a:ext cx="1384950" cy="232258"/>
          </a:xfrm>
          <a:prstGeom prst="roundRect">
            <a:avLst>
              <a:gd name="adj" fmla="val 50000"/>
            </a:avLst>
          </a:prstGeom>
          <a:solidFill>
            <a:srgbClr val="1B2230"/>
          </a:solidFill>
          <a:ln w="9525">
            <a:solidFill>
              <a:srgbClr val="1B2230"/>
            </a:solidFill>
            <a:prstDash val="solid"/>
          </a:ln>
        </p:spPr>
        <p:txBody>
          <a:bodyPr/>
          <a:lstStyle/>
          <a:p>
            <a:endParaRPr lang="en-MX"/>
          </a:p>
        </p:txBody>
      </p:sp>
      <p:sp>
        <p:nvSpPr>
          <p:cNvPr id="27" name="Text 25"/>
          <p:cNvSpPr txBox="1"/>
          <p:nvPr/>
        </p:nvSpPr>
        <p:spPr>
          <a:xfrm>
            <a:off x="8089240" y="1820926"/>
            <a:ext cx="1384950" cy="23225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See everything included</a:t>
            </a:r>
            <a:endParaRPr lang="en-US" sz="900" dirty="0"/>
          </a:p>
        </p:txBody>
      </p:sp>
      <p:sp>
        <p:nvSpPr>
          <p:cNvPr id="38" name="Shape 36"/>
          <p:cNvSpPr/>
          <p:nvPr/>
        </p:nvSpPr>
        <p:spPr>
          <a:xfrm>
            <a:off x="4157320" y="2505202"/>
            <a:ext cx="3645256" cy="1723644"/>
          </a:xfrm>
          <a:prstGeom prst="roundRect">
            <a:avLst>
              <a:gd name="adj" fmla="val 5305"/>
            </a:avLst>
          </a:prstGeom>
          <a:solidFill>
            <a:srgbClr val="FFFFFF"/>
          </a:solidFill>
          <a:ln w="9525">
            <a:solidFill>
              <a:srgbClr val="DDE1E8"/>
            </a:solidFill>
            <a:prstDash val="solid"/>
          </a:ln>
        </p:spPr>
        <p:txBody>
          <a:bodyPr/>
          <a:lstStyle/>
          <a:p>
            <a:endParaRPr lang="en-MX"/>
          </a:p>
        </p:txBody>
      </p:sp>
      <p:sp>
        <p:nvSpPr>
          <p:cNvPr id="39" name="Text 37"/>
          <p:cNvSpPr txBox="1"/>
          <p:nvPr/>
        </p:nvSpPr>
        <p:spPr>
          <a:xfrm>
            <a:off x="4312768" y="2614930"/>
            <a:ext cx="457200" cy="219456"/>
          </a:xfrm>
          <a:prstGeom prst="rect">
            <a:avLst/>
          </a:prstGeom>
          <a:noFill/>
          <a:ln/>
        </p:spPr>
        <p:txBody>
          <a:bodyPr wrap="square" lIns="0" tIns="0" rIns="0" bIns="0" rtlCol="0" anchor="ctr"/>
          <a:lstStyle/>
          <a:p>
            <a:pPr marL="0" indent="0">
              <a:buNone/>
            </a:pPr>
            <a:r>
              <a:rPr lang="en-US" sz="1200" b="1" dirty="0">
                <a:solidFill>
                  <a:srgbClr val="1B2230"/>
                </a:solidFill>
                <a:latin typeface="Calibri" pitchFamily="34" charset="0"/>
                <a:ea typeface="Calibri" pitchFamily="34" charset="-122"/>
                <a:cs typeface="Calibri" pitchFamily="34" charset="-120"/>
              </a:rPr>
              <a:t>B10</a:t>
            </a:r>
            <a:endParaRPr lang="en-US" sz="1200" dirty="0"/>
          </a:p>
        </p:txBody>
      </p:sp>
      <p:sp>
        <p:nvSpPr>
          <p:cNvPr id="40" name="Text 38"/>
          <p:cNvSpPr txBox="1"/>
          <p:nvPr/>
        </p:nvSpPr>
        <p:spPr>
          <a:xfrm>
            <a:off x="4687672" y="2614930"/>
            <a:ext cx="1862176" cy="219456"/>
          </a:xfrm>
          <a:prstGeom prst="rect">
            <a:avLst/>
          </a:prstGeom>
          <a:noFill/>
          <a:ln/>
        </p:spPr>
        <p:txBody>
          <a:bodyPr wrap="square" lIns="0" tIns="0" rIns="0" bIns="0" rtlCol="0" anchor="ctr"/>
          <a:lstStyle/>
          <a:p>
            <a:pPr marL="0" indent="0">
              <a:buNone/>
            </a:pPr>
            <a:r>
              <a:rPr lang="en-US" sz="950" dirty="0">
                <a:solidFill>
                  <a:srgbClr val="5B6475"/>
                </a:solidFill>
                <a:latin typeface="Calibri" pitchFamily="34" charset="0"/>
                <a:ea typeface="Calibri" pitchFamily="34" charset="-122"/>
                <a:cs typeface="Calibri" pitchFamily="34" charset="-120"/>
              </a:rPr>
              <a:t>Day 10</a:t>
            </a:r>
            <a:endParaRPr lang="en-US" sz="950" dirty="0"/>
          </a:p>
        </p:txBody>
      </p:sp>
      <p:sp>
        <p:nvSpPr>
          <p:cNvPr id="41" name="Shape 39"/>
          <p:cNvSpPr/>
          <p:nvPr/>
        </p:nvSpPr>
        <p:spPr>
          <a:xfrm>
            <a:off x="6899514" y="2633218"/>
            <a:ext cx="747613" cy="220370"/>
          </a:xfrm>
          <a:prstGeom prst="roundRect">
            <a:avLst>
              <a:gd name="adj" fmla="val 50000"/>
            </a:avLst>
          </a:prstGeom>
          <a:solidFill>
            <a:srgbClr val="E1F2EF"/>
          </a:solidFill>
          <a:ln w="9525">
            <a:solidFill>
              <a:srgbClr val="E1F2EF"/>
            </a:solidFill>
            <a:prstDash val="solid"/>
          </a:ln>
        </p:spPr>
        <p:txBody>
          <a:bodyPr/>
          <a:lstStyle/>
          <a:p>
            <a:endParaRPr lang="en-MX"/>
          </a:p>
        </p:txBody>
      </p:sp>
      <p:sp>
        <p:nvSpPr>
          <p:cNvPr id="42" name="Text 40"/>
          <p:cNvSpPr txBox="1"/>
          <p:nvPr/>
        </p:nvSpPr>
        <p:spPr>
          <a:xfrm>
            <a:off x="6899514" y="2633218"/>
            <a:ext cx="747613" cy="220370"/>
          </a:xfrm>
          <a:prstGeom prst="rect">
            <a:avLst/>
          </a:prstGeom>
          <a:noFill/>
          <a:ln/>
        </p:spPr>
        <p:txBody>
          <a:bodyPr wrap="square" lIns="0" tIns="0" rIns="0" bIns="0" rtlCol="0" anchor="ctr"/>
          <a:lstStyle/>
          <a:p>
            <a:pPr marL="0" indent="0" algn="ctr">
              <a:buNone/>
            </a:pPr>
            <a:r>
              <a:rPr lang="en-US" sz="850" dirty="0">
                <a:solidFill>
                  <a:srgbClr val="1F7A70"/>
                </a:solidFill>
                <a:latin typeface="Calibri" pitchFamily="34" charset="0"/>
                <a:ea typeface="Calibri" pitchFamily="34" charset="-122"/>
                <a:cs typeface="Calibri" pitchFamily="34" charset="-120"/>
              </a:rPr>
              <a:t>WhatsApp</a:t>
            </a:r>
            <a:endParaRPr lang="en-US" sz="850" dirty="0"/>
          </a:p>
        </p:txBody>
      </p:sp>
      <p:sp>
        <p:nvSpPr>
          <p:cNvPr id="43" name="Text 41"/>
          <p:cNvSpPr txBox="1"/>
          <p:nvPr/>
        </p:nvSpPr>
        <p:spPr>
          <a:xfrm>
            <a:off x="4312768" y="2889250"/>
            <a:ext cx="3334360" cy="589788"/>
          </a:xfrm>
          <a:prstGeom prst="rect">
            <a:avLst/>
          </a:prstGeom>
          <a:noFill/>
          <a:ln/>
        </p:spPr>
        <p:txBody>
          <a:bodyPr wrap="square" lIns="0" tIns="0" rIns="0" bIns="0" rtlCol="0" anchor="t"/>
          <a:lstStyle/>
          <a:p>
            <a:pPr marL="0" indent="0">
              <a:lnSpc>
                <a:spcPct val="105000"/>
              </a:lnSpc>
              <a:buNone/>
            </a:pPr>
            <a:r>
              <a:rPr lang="en-US" sz="1200" dirty="0">
                <a:solidFill>
                  <a:srgbClr val="1B2230"/>
                </a:solidFill>
                <a:latin typeface="Cambria" pitchFamily="34" charset="0"/>
                <a:ea typeface="Cambria" pitchFamily="34" charset="-122"/>
                <a:cs typeface="Cambria" pitchFamily="34" charset="-120"/>
              </a:rPr>
              <a:t>What's stopping you from getting your Financial Health Profile? Each button triggers a written reply; "Not now" pauses the flow for 30 days.</a:t>
            </a:r>
            <a:endParaRPr lang="en-US" sz="1200" dirty="0"/>
          </a:p>
        </p:txBody>
      </p:sp>
      <p:sp>
        <p:nvSpPr>
          <p:cNvPr id="44" name="Shape 42"/>
          <p:cNvSpPr/>
          <p:nvPr/>
        </p:nvSpPr>
        <p:spPr>
          <a:xfrm>
            <a:off x="4312768" y="3570478"/>
            <a:ext cx="845088" cy="232258"/>
          </a:xfrm>
          <a:prstGeom prst="roundRect">
            <a:avLst>
              <a:gd name="adj" fmla="val 50000"/>
            </a:avLst>
          </a:prstGeom>
          <a:solidFill>
            <a:srgbClr val="FFFFFF"/>
          </a:solidFill>
          <a:ln w="9525">
            <a:solidFill>
              <a:srgbClr val="DDE1E8"/>
            </a:solidFill>
            <a:prstDash val="solid"/>
          </a:ln>
        </p:spPr>
        <p:txBody>
          <a:bodyPr/>
          <a:lstStyle/>
          <a:p>
            <a:endParaRPr lang="en-MX"/>
          </a:p>
        </p:txBody>
      </p:sp>
      <p:sp>
        <p:nvSpPr>
          <p:cNvPr id="45" name="Text 43"/>
          <p:cNvSpPr txBox="1"/>
          <p:nvPr/>
        </p:nvSpPr>
        <p:spPr>
          <a:xfrm>
            <a:off x="4312768" y="3570478"/>
            <a:ext cx="845088" cy="232258"/>
          </a:xfrm>
          <a:prstGeom prst="rect">
            <a:avLst/>
          </a:prstGeom>
          <a:noFill/>
          <a:ln/>
        </p:spPr>
        <p:txBody>
          <a:bodyPr wrap="square" lIns="0" tIns="0" rIns="0" bIns="0" rtlCol="0" anchor="ctr"/>
          <a:lstStyle/>
          <a:p>
            <a:pPr marL="0" indent="0" algn="ctr">
              <a:buNone/>
            </a:pPr>
            <a:r>
              <a:rPr lang="en-US" sz="900" dirty="0">
                <a:solidFill>
                  <a:srgbClr val="1B2230"/>
                </a:solidFill>
                <a:latin typeface="Calibri" pitchFamily="34" charset="0"/>
                <a:ea typeface="Calibri" pitchFamily="34" charset="-122"/>
                <a:cs typeface="Calibri" pitchFamily="34" charset="-120"/>
              </a:rPr>
              <a:t>The price</a:t>
            </a:r>
            <a:endParaRPr lang="en-US" sz="900" dirty="0"/>
          </a:p>
        </p:txBody>
      </p:sp>
      <p:sp>
        <p:nvSpPr>
          <p:cNvPr id="46" name="Shape 44"/>
          <p:cNvSpPr/>
          <p:nvPr/>
        </p:nvSpPr>
        <p:spPr>
          <a:xfrm>
            <a:off x="5231008" y="3570478"/>
            <a:ext cx="1384950" cy="232258"/>
          </a:xfrm>
          <a:prstGeom prst="roundRect">
            <a:avLst>
              <a:gd name="adj" fmla="val 50000"/>
            </a:avLst>
          </a:prstGeom>
          <a:solidFill>
            <a:srgbClr val="FFFFFF"/>
          </a:solidFill>
          <a:ln w="9525">
            <a:solidFill>
              <a:srgbClr val="DDE1E8"/>
            </a:solidFill>
            <a:prstDash val="solid"/>
          </a:ln>
        </p:spPr>
        <p:txBody>
          <a:bodyPr/>
          <a:lstStyle/>
          <a:p>
            <a:endParaRPr lang="en-MX"/>
          </a:p>
        </p:txBody>
      </p:sp>
      <p:sp>
        <p:nvSpPr>
          <p:cNvPr id="47" name="Text 45"/>
          <p:cNvSpPr txBox="1"/>
          <p:nvPr/>
        </p:nvSpPr>
        <p:spPr>
          <a:xfrm>
            <a:off x="5231008" y="3570478"/>
            <a:ext cx="1384950" cy="232258"/>
          </a:xfrm>
          <a:prstGeom prst="rect">
            <a:avLst/>
          </a:prstGeom>
          <a:noFill/>
          <a:ln/>
        </p:spPr>
        <p:txBody>
          <a:bodyPr wrap="square" lIns="0" tIns="0" rIns="0" bIns="0" rtlCol="0" anchor="ctr"/>
          <a:lstStyle/>
          <a:p>
            <a:pPr marL="0" indent="0" algn="ctr">
              <a:buNone/>
            </a:pPr>
            <a:r>
              <a:rPr lang="en-US" sz="900" dirty="0">
                <a:solidFill>
                  <a:srgbClr val="1B2230"/>
                </a:solidFill>
                <a:latin typeface="Calibri" pitchFamily="34" charset="0"/>
                <a:ea typeface="Calibri" pitchFamily="34" charset="-122"/>
                <a:cs typeface="Calibri" pitchFamily="34" charset="-120"/>
              </a:rPr>
              <a:t>Not sure what it includes</a:t>
            </a:r>
            <a:endParaRPr lang="en-US" sz="900" dirty="0"/>
          </a:p>
        </p:txBody>
      </p:sp>
      <p:sp>
        <p:nvSpPr>
          <p:cNvPr id="48" name="Shape 46"/>
          <p:cNvSpPr/>
          <p:nvPr/>
        </p:nvSpPr>
        <p:spPr>
          <a:xfrm>
            <a:off x="4312768" y="3844798"/>
            <a:ext cx="1519916" cy="232258"/>
          </a:xfrm>
          <a:prstGeom prst="roundRect">
            <a:avLst>
              <a:gd name="adj" fmla="val 50000"/>
            </a:avLst>
          </a:prstGeom>
          <a:solidFill>
            <a:srgbClr val="FFFFFF"/>
          </a:solidFill>
          <a:ln w="9525">
            <a:solidFill>
              <a:srgbClr val="DDE1E8"/>
            </a:solidFill>
            <a:prstDash val="solid"/>
          </a:ln>
        </p:spPr>
        <p:txBody>
          <a:bodyPr/>
          <a:lstStyle/>
          <a:p>
            <a:endParaRPr lang="en-MX"/>
          </a:p>
        </p:txBody>
      </p:sp>
      <p:sp>
        <p:nvSpPr>
          <p:cNvPr id="49" name="Text 47"/>
          <p:cNvSpPr txBox="1"/>
          <p:nvPr/>
        </p:nvSpPr>
        <p:spPr>
          <a:xfrm>
            <a:off x="4312768" y="3844798"/>
            <a:ext cx="1519916" cy="232258"/>
          </a:xfrm>
          <a:prstGeom prst="rect">
            <a:avLst/>
          </a:prstGeom>
          <a:noFill/>
          <a:ln/>
        </p:spPr>
        <p:txBody>
          <a:bodyPr wrap="square" lIns="0" tIns="0" rIns="0" bIns="0" rtlCol="0" anchor="ctr"/>
          <a:lstStyle/>
          <a:p>
            <a:pPr marL="0" indent="0" algn="ctr">
              <a:buNone/>
            </a:pPr>
            <a:r>
              <a:rPr lang="en-US" sz="900" dirty="0">
                <a:solidFill>
                  <a:srgbClr val="1B2230"/>
                </a:solidFill>
                <a:latin typeface="Calibri" pitchFamily="34" charset="0"/>
                <a:ea typeface="Calibri" pitchFamily="34" charset="-122"/>
                <a:cs typeface="Calibri" pitchFamily="34" charset="-120"/>
              </a:rPr>
              <a:t>Not the right time</a:t>
            </a:r>
            <a:endParaRPr lang="en-US" sz="900" dirty="0"/>
          </a:p>
        </p:txBody>
      </p:sp>
      <p:sp>
        <p:nvSpPr>
          <p:cNvPr id="50" name="Shape 48"/>
          <p:cNvSpPr/>
          <p:nvPr/>
        </p:nvSpPr>
        <p:spPr>
          <a:xfrm>
            <a:off x="4160520" y="4356862"/>
            <a:ext cx="7418527" cy="1465834"/>
          </a:xfrm>
          <a:prstGeom prst="roundRect">
            <a:avLst>
              <a:gd name="adj" fmla="val 6238"/>
            </a:avLst>
          </a:prstGeom>
          <a:solidFill>
            <a:srgbClr val="FFFFFF"/>
          </a:solidFill>
          <a:ln w="9525">
            <a:solidFill>
              <a:srgbClr val="DDE1E8"/>
            </a:solidFill>
            <a:prstDash val="solid"/>
          </a:ln>
        </p:spPr>
        <p:txBody>
          <a:bodyPr/>
          <a:lstStyle/>
          <a:p>
            <a:endParaRPr lang="en-MX"/>
          </a:p>
        </p:txBody>
      </p:sp>
      <p:sp>
        <p:nvSpPr>
          <p:cNvPr id="51" name="Text 49"/>
          <p:cNvSpPr txBox="1"/>
          <p:nvPr/>
        </p:nvSpPr>
        <p:spPr>
          <a:xfrm>
            <a:off x="4315968" y="4466590"/>
            <a:ext cx="457200" cy="219456"/>
          </a:xfrm>
          <a:prstGeom prst="rect">
            <a:avLst/>
          </a:prstGeom>
          <a:noFill/>
          <a:ln/>
        </p:spPr>
        <p:txBody>
          <a:bodyPr wrap="square" lIns="0" tIns="0" rIns="0" bIns="0" rtlCol="0" anchor="ctr"/>
          <a:lstStyle/>
          <a:p>
            <a:pPr marL="0" indent="0">
              <a:buNone/>
            </a:pPr>
            <a:r>
              <a:rPr lang="en-US" sz="1200" b="1" dirty="0">
                <a:solidFill>
                  <a:srgbClr val="1B2230"/>
                </a:solidFill>
                <a:latin typeface="Calibri" pitchFamily="34" charset="0"/>
                <a:ea typeface="Calibri" pitchFamily="34" charset="-122"/>
                <a:cs typeface="Calibri" pitchFamily="34" charset="-120"/>
              </a:rPr>
              <a:t>B11</a:t>
            </a:r>
            <a:endParaRPr lang="en-US" sz="1200" dirty="0"/>
          </a:p>
        </p:txBody>
      </p:sp>
      <p:sp>
        <p:nvSpPr>
          <p:cNvPr id="52" name="Text 50"/>
          <p:cNvSpPr txBox="1"/>
          <p:nvPr/>
        </p:nvSpPr>
        <p:spPr>
          <a:xfrm>
            <a:off x="4690872" y="4466590"/>
            <a:ext cx="5635447" cy="219456"/>
          </a:xfrm>
          <a:prstGeom prst="rect">
            <a:avLst/>
          </a:prstGeom>
          <a:noFill/>
          <a:ln/>
        </p:spPr>
        <p:txBody>
          <a:bodyPr wrap="square" lIns="0" tIns="0" rIns="0" bIns="0" rtlCol="0" anchor="ctr"/>
          <a:lstStyle/>
          <a:p>
            <a:pPr marL="0" indent="0">
              <a:buNone/>
            </a:pPr>
            <a:r>
              <a:rPr lang="en-US" sz="950" dirty="0">
                <a:solidFill>
                  <a:srgbClr val="5B6475"/>
                </a:solidFill>
                <a:latin typeface="Calibri" pitchFamily="34" charset="0"/>
                <a:ea typeface="Calibri" pitchFamily="34" charset="-122"/>
                <a:cs typeface="Calibri" pitchFamily="34" charset="-120"/>
              </a:rPr>
              <a:t>Day 14</a:t>
            </a:r>
            <a:endParaRPr lang="en-US" sz="950" dirty="0"/>
          </a:p>
        </p:txBody>
      </p:sp>
      <p:sp>
        <p:nvSpPr>
          <p:cNvPr id="53" name="Shape 51"/>
          <p:cNvSpPr/>
          <p:nvPr/>
        </p:nvSpPr>
        <p:spPr>
          <a:xfrm>
            <a:off x="10867187" y="4484878"/>
            <a:ext cx="556412" cy="220370"/>
          </a:xfrm>
          <a:prstGeom prst="roundRect">
            <a:avLst>
              <a:gd name="adj" fmla="val 50000"/>
            </a:avLst>
          </a:prstGeom>
          <a:solidFill>
            <a:srgbClr val="E9ECF6"/>
          </a:solidFill>
          <a:ln w="9525">
            <a:solidFill>
              <a:srgbClr val="E9ECF6"/>
            </a:solidFill>
            <a:prstDash val="solid"/>
          </a:ln>
        </p:spPr>
        <p:txBody>
          <a:bodyPr/>
          <a:lstStyle/>
          <a:p>
            <a:endParaRPr lang="en-MX"/>
          </a:p>
        </p:txBody>
      </p:sp>
      <p:sp>
        <p:nvSpPr>
          <p:cNvPr id="54" name="Text 52"/>
          <p:cNvSpPr txBox="1"/>
          <p:nvPr/>
        </p:nvSpPr>
        <p:spPr>
          <a:xfrm>
            <a:off x="10867187" y="4484878"/>
            <a:ext cx="556412" cy="220370"/>
          </a:xfrm>
          <a:prstGeom prst="rect">
            <a:avLst/>
          </a:prstGeom>
          <a:noFill/>
          <a:ln/>
        </p:spPr>
        <p:txBody>
          <a:bodyPr wrap="square" lIns="0" tIns="0" rIns="0" bIns="0" rtlCol="0" anchor="ctr"/>
          <a:lstStyle/>
          <a:p>
            <a:pPr marL="0" indent="0" algn="ctr">
              <a:buNone/>
            </a:pPr>
            <a:r>
              <a:rPr lang="en-US" sz="850" dirty="0">
                <a:solidFill>
                  <a:srgbClr val="3D4F86"/>
                </a:solidFill>
                <a:latin typeface="Calibri" pitchFamily="34" charset="0"/>
                <a:ea typeface="Calibri" pitchFamily="34" charset="-122"/>
                <a:cs typeface="Calibri" pitchFamily="34" charset="-120"/>
              </a:rPr>
              <a:t>Email</a:t>
            </a:r>
            <a:endParaRPr lang="en-US" sz="850" dirty="0"/>
          </a:p>
        </p:txBody>
      </p:sp>
      <p:sp>
        <p:nvSpPr>
          <p:cNvPr id="55" name="Text 53"/>
          <p:cNvSpPr txBox="1"/>
          <p:nvPr/>
        </p:nvSpPr>
        <p:spPr>
          <a:xfrm>
            <a:off x="4315968" y="4740910"/>
            <a:ext cx="7107631" cy="188722"/>
          </a:xfrm>
          <a:prstGeom prst="rect">
            <a:avLst/>
          </a:prstGeom>
          <a:noFill/>
          <a:ln/>
        </p:spPr>
        <p:txBody>
          <a:bodyPr wrap="square" lIns="0" tIns="0" rIns="0" bIns="0" rtlCol="0" anchor="t"/>
          <a:lstStyle/>
          <a:p>
            <a:pPr marL="0" indent="0">
              <a:buNone/>
            </a:pPr>
            <a:r>
              <a:rPr lang="en-US" sz="1100" b="1" dirty="0">
                <a:solidFill>
                  <a:srgbClr val="1B2230"/>
                </a:solidFill>
                <a:latin typeface="Calibri" pitchFamily="34" charset="0"/>
                <a:ea typeface="Calibri" pitchFamily="34" charset="-122"/>
                <a:cs typeface="Calibri" pitchFamily="34" charset="-120"/>
              </a:rPr>
              <a:t>Shall we leave it at the mini profile?</a:t>
            </a:r>
            <a:endParaRPr lang="en-US" sz="1100" dirty="0"/>
          </a:p>
        </p:txBody>
      </p:sp>
      <p:sp>
        <p:nvSpPr>
          <p:cNvPr id="56" name="Text 54"/>
          <p:cNvSpPr txBox="1"/>
          <p:nvPr/>
        </p:nvSpPr>
        <p:spPr>
          <a:xfrm>
            <a:off x="4315968" y="4966208"/>
            <a:ext cx="7107631" cy="399288"/>
          </a:xfrm>
          <a:prstGeom prst="rect">
            <a:avLst/>
          </a:prstGeom>
          <a:noFill/>
          <a:ln/>
        </p:spPr>
        <p:txBody>
          <a:bodyPr wrap="square" lIns="0" tIns="0" rIns="0" bIns="0" rtlCol="0" anchor="t"/>
          <a:lstStyle/>
          <a:p>
            <a:pPr marL="0" indent="0">
              <a:lnSpc>
                <a:spcPct val="105000"/>
              </a:lnSpc>
              <a:buNone/>
            </a:pPr>
            <a:r>
              <a:rPr lang="en-US" sz="1200" dirty="0">
                <a:solidFill>
                  <a:srgbClr val="1B2230"/>
                </a:solidFill>
                <a:latin typeface="Cambria" pitchFamily="34" charset="0"/>
                <a:ea typeface="Cambria" pitchFamily="34" charset="-122"/>
                <a:cs typeface="Cambria" pitchFamily="34" charset="-120"/>
              </a:rPr>
              <a:t>Last email about the full profile. Your mini profile stays in your account, and each month we send one practical idea on one of the six abilities.</a:t>
            </a:r>
            <a:endParaRPr lang="en-US" sz="1200" dirty="0"/>
          </a:p>
        </p:txBody>
      </p:sp>
      <p:sp>
        <p:nvSpPr>
          <p:cNvPr id="57" name="Shape 55"/>
          <p:cNvSpPr/>
          <p:nvPr/>
        </p:nvSpPr>
        <p:spPr>
          <a:xfrm>
            <a:off x="4315968" y="5456936"/>
            <a:ext cx="1249985" cy="232258"/>
          </a:xfrm>
          <a:prstGeom prst="roundRect">
            <a:avLst>
              <a:gd name="adj" fmla="val 50000"/>
            </a:avLst>
          </a:prstGeom>
          <a:solidFill>
            <a:srgbClr val="1B2230"/>
          </a:solidFill>
          <a:ln w="9525">
            <a:solidFill>
              <a:srgbClr val="1B2230"/>
            </a:solidFill>
            <a:prstDash val="solid"/>
          </a:ln>
        </p:spPr>
        <p:txBody>
          <a:bodyPr/>
          <a:lstStyle/>
          <a:p>
            <a:endParaRPr lang="en-MX"/>
          </a:p>
        </p:txBody>
      </p:sp>
      <p:sp>
        <p:nvSpPr>
          <p:cNvPr id="58" name="Text 56"/>
          <p:cNvSpPr txBox="1"/>
          <p:nvPr/>
        </p:nvSpPr>
        <p:spPr>
          <a:xfrm>
            <a:off x="4315968" y="5456936"/>
            <a:ext cx="1249985" cy="23225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Get it now</a:t>
            </a:r>
            <a:endParaRPr lang="en-US" sz="900" dirty="0"/>
          </a:p>
        </p:txBody>
      </p:sp>
      <p:sp>
        <p:nvSpPr>
          <p:cNvPr id="59" name="Shape 57"/>
          <p:cNvSpPr/>
          <p:nvPr/>
        </p:nvSpPr>
        <p:spPr>
          <a:xfrm>
            <a:off x="5639105" y="5456936"/>
            <a:ext cx="2397191" cy="232258"/>
          </a:xfrm>
          <a:prstGeom prst="roundRect">
            <a:avLst>
              <a:gd name="adj" fmla="val 50000"/>
            </a:avLst>
          </a:prstGeom>
          <a:solidFill>
            <a:srgbClr val="FFFFFF"/>
          </a:solidFill>
          <a:ln w="9525">
            <a:solidFill>
              <a:srgbClr val="DDE1E8"/>
            </a:solidFill>
            <a:prstDash val="solid"/>
          </a:ln>
        </p:spPr>
        <p:txBody>
          <a:bodyPr/>
          <a:lstStyle/>
          <a:p>
            <a:endParaRPr lang="en-MX"/>
          </a:p>
        </p:txBody>
      </p:sp>
      <p:sp>
        <p:nvSpPr>
          <p:cNvPr id="60" name="Text 58"/>
          <p:cNvSpPr txBox="1"/>
          <p:nvPr/>
        </p:nvSpPr>
        <p:spPr>
          <a:xfrm>
            <a:off x="5639105" y="5456936"/>
            <a:ext cx="2397191" cy="232258"/>
          </a:xfrm>
          <a:prstGeom prst="rect">
            <a:avLst/>
          </a:prstGeom>
          <a:noFill/>
          <a:ln/>
        </p:spPr>
        <p:txBody>
          <a:bodyPr wrap="square" lIns="0" tIns="0" rIns="0" bIns="0" rtlCol="0" anchor="ctr"/>
          <a:lstStyle/>
          <a:p>
            <a:pPr marL="0" indent="0" algn="ctr">
              <a:buNone/>
            </a:pPr>
            <a:r>
              <a:rPr lang="en-US" sz="900" dirty="0">
                <a:solidFill>
                  <a:srgbClr val="1B2230"/>
                </a:solidFill>
                <a:latin typeface="Calibri" pitchFamily="34" charset="0"/>
                <a:ea typeface="Calibri" pitchFamily="34" charset="-122"/>
                <a:cs typeface="Calibri" pitchFamily="34" charset="-120"/>
              </a:rPr>
              <a:t>Just the monthly content</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7F9"/>
        </a:solidFill>
        <a:effectLst/>
      </p:bgPr>
    </p:bg>
    <p:spTree>
      <p:nvGrpSpPr>
        <p:cNvPr id="1" name=""/>
        <p:cNvGrpSpPr/>
        <p:nvPr/>
      </p:nvGrpSpPr>
      <p:grpSpPr>
        <a:xfrm>
          <a:off x="0" y="0"/>
          <a:ext cx="0" cy="0"/>
          <a:chOff x="0" y="0"/>
          <a:chExt cx="0" cy="0"/>
        </a:xfrm>
      </p:grpSpPr>
      <p:sp>
        <p:nvSpPr>
          <p:cNvPr id="2" name="Text 0"/>
          <p:cNvSpPr txBox="1"/>
          <p:nvPr/>
        </p:nvSpPr>
        <p:spPr>
          <a:xfrm>
            <a:off x="612648" y="6446520"/>
            <a:ext cx="4572000" cy="228600"/>
          </a:xfrm>
          <a:prstGeom prst="rect">
            <a:avLst/>
          </a:prstGeom>
          <a:noFill/>
          <a:ln/>
        </p:spPr>
        <p:txBody>
          <a:bodyPr wrap="square" lIns="0" tIns="0" rIns="0" bIns="0" rtlCol="0" anchor="ctr"/>
          <a:lstStyle/>
          <a:p>
            <a:pPr marL="0" indent="0">
              <a:buNone/>
            </a:pPr>
            <a:r>
              <a:rPr lang="en-US" sz="900" dirty="0">
                <a:solidFill>
                  <a:srgbClr val="5B6475"/>
                </a:solidFill>
                <a:latin typeface="Calibri" pitchFamily="34" charset="0"/>
                <a:ea typeface="Calibri" pitchFamily="34" charset="-122"/>
                <a:cs typeface="Calibri" pitchFamily="34" charset="-120"/>
              </a:rPr>
              <a:t>Zones of Life: funnels and copy</a:t>
            </a:r>
            <a:endParaRPr lang="en-US" sz="900" dirty="0"/>
          </a:p>
        </p:txBody>
      </p:sp>
      <p:sp>
        <p:nvSpPr>
          <p:cNvPr id="3" name="Text 1"/>
          <p:cNvSpPr txBox="1"/>
          <p:nvPr/>
        </p:nvSpPr>
        <p:spPr>
          <a:xfrm>
            <a:off x="10881360" y="6446520"/>
            <a:ext cx="694944" cy="228600"/>
          </a:xfrm>
          <a:prstGeom prst="rect">
            <a:avLst/>
          </a:prstGeom>
          <a:noFill/>
          <a:ln/>
        </p:spPr>
        <p:txBody>
          <a:bodyPr wrap="square" lIns="0" tIns="0" rIns="0" bIns="0" rtlCol="0" anchor="ctr"/>
          <a:lstStyle/>
          <a:p>
            <a:pPr marL="0" indent="0" algn="r">
              <a:buNone/>
            </a:pPr>
            <a:r>
              <a:rPr lang="en-US" sz="900" dirty="0">
                <a:solidFill>
                  <a:srgbClr val="5B6475"/>
                </a:solidFill>
                <a:latin typeface="Calibri" pitchFamily="34" charset="0"/>
                <a:ea typeface="Calibri" pitchFamily="34" charset="-122"/>
                <a:cs typeface="Calibri" pitchFamily="34" charset="-120"/>
              </a:rPr>
              <a:t>8</a:t>
            </a:r>
            <a:endParaRPr lang="en-US" sz="900" dirty="0"/>
          </a:p>
        </p:txBody>
      </p:sp>
      <p:sp>
        <p:nvSpPr>
          <p:cNvPr id="4" name="Shape 2"/>
          <p:cNvSpPr/>
          <p:nvPr/>
        </p:nvSpPr>
        <p:spPr>
          <a:xfrm>
            <a:off x="612648" y="530352"/>
            <a:ext cx="687629" cy="256032"/>
          </a:xfrm>
          <a:prstGeom prst="roundRect">
            <a:avLst>
              <a:gd name="adj" fmla="val 50000"/>
            </a:avLst>
          </a:prstGeom>
          <a:solidFill>
            <a:srgbClr val="E3F1EA"/>
          </a:solidFill>
          <a:ln w="9525">
            <a:solidFill>
              <a:srgbClr val="E3F1EA"/>
            </a:solidFill>
            <a:prstDash val="solid"/>
          </a:ln>
        </p:spPr>
        <p:txBody>
          <a:bodyPr/>
          <a:lstStyle/>
          <a:p>
            <a:endParaRPr lang="en-MX"/>
          </a:p>
        </p:txBody>
      </p:sp>
      <p:sp>
        <p:nvSpPr>
          <p:cNvPr id="5" name="Text 3"/>
          <p:cNvSpPr txBox="1"/>
          <p:nvPr/>
        </p:nvSpPr>
        <p:spPr>
          <a:xfrm>
            <a:off x="612648" y="530352"/>
            <a:ext cx="687629" cy="256032"/>
          </a:xfrm>
          <a:prstGeom prst="rect">
            <a:avLst/>
          </a:prstGeom>
          <a:noFill/>
          <a:ln/>
        </p:spPr>
        <p:txBody>
          <a:bodyPr wrap="square" lIns="0" tIns="0" rIns="0" bIns="0" rtlCol="0" anchor="ctr"/>
          <a:lstStyle/>
          <a:p>
            <a:pPr marL="0" indent="0" algn="ctr">
              <a:buNone/>
            </a:pPr>
            <a:r>
              <a:rPr lang="en-US" sz="1000" b="1" dirty="0">
                <a:solidFill>
                  <a:srgbClr val="2E7A57"/>
                </a:solidFill>
                <a:latin typeface="Calibri" pitchFamily="34" charset="0"/>
                <a:ea typeface="Calibri" pitchFamily="34" charset="-122"/>
                <a:cs typeface="Calibri" pitchFamily="34" charset="-120"/>
              </a:rPr>
              <a:t>Purchase</a:t>
            </a:r>
            <a:endParaRPr lang="en-US" sz="1000" dirty="0"/>
          </a:p>
        </p:txBody>
      </p:sp>
      <p:sp>
        <p:nvSpPr>
          <p:cNvPr id="6" name="Text 4"/>
          <p:cNvSpPr txBox="1"/>
          <p:nvPr/>
        </p:nvSpPr>
        <p:spPr>
          <a:xfrm>
            <a:off x="612648" y="941832"/>
            <a:ext cx="3200400" cy="813816"/>
          </a:xfrm>
          <a:prstGeom prst="rect">
            <a:avLst/>
          </a:prstGeom>
          <a:noFill/>
          <a:ln/>
        </p:spPr>
        <p:txBody>
          <a:bodyPr wrap="square" lIns="0" tIns="0" rIns="0" bIns="0" rtlCol="0" anchor="t"/>
          <a:lstStyle/>
          <a:p>
            <a:pPr marL="0" indent="0">
              <a:lnSpc>
                <a:spcPct val="95000"/>
              </a:lnSpc>
              <a:buNone/>
            </a:pPr>
            <a:r>
              <a:rPr lang="en-US" sz="2800" dirty="0">
                <a:solidFill>
                  <a:srgbClr val="1B2230"/>
                </a:solidFill>
                <a:latin typeface="Cambria" pitchFamily="34" charset="0"/>
                <a:ea typeface="Cambria" pitchFamily="34" charset="-122"/>
                <a:cs typeface="Cambria" pitchFamily="34" charset="-120"/>
              </a:rPr>
              <a:t>Purchase and Flow C</a:t>
            </a:r>
            <a:endParaRPr lang="en-US" sz="2800" dirty="0"/>
          </a:p>
        </p:txBody>
      </p:sp>
      <p:sp>
        <p:nvSpPr>
          <p:cNvPr id="7" name="Text 5"/>
          <p:cNvSpPr txBox="1"/>
          <p:nvPr/>
        </p:nvSpPr>
        <p:spPr>
          <a:xfrm>
            <a:off x="612648" y="1920240"/>
            <a:ext cx="3200400" cy="617601"/>
          </a:xfrm>
          <a:prstGeom prst="rect">
            <a:avLst/>
          </a:prstGeom>
          <a:noFill/>
          <a:ln/>
        </p:spPr>
        <p:txBody>
          <a:bodyPr wrap="square" lIns="0" tIns="0" rIns="0" bIns="0" rtlCol="0" anchor="t"/>
          <a:lstStyle/>
          <a:p>
            <a:pPr marL="0" indent="0">
              <a:buNone/>
            </a:pPr>
            <a:r>
              <a:rPr lang="en-US" sz="1250" b="1" dirty="0">
                <a:solidFill>
                  <a:srgbClr val="1B2230"/>
                </a:solidFill>
                <a:latin typeface="Calibri" pitchFamily="34" charset="0"/>
                <a:ea typeface="Calibri" pitchFamily="34" charset="-122"/>
                <a:cs typeface="Calibri" pitchFamily="34" charset="-120"/>
              </a:rPr>
              <a:t>Flow C enters</a:t>
            </a:r>
            <a:endParaRPr lang="en-US" sz="1250" dirty="0"/>
          </a:p>
          <a:p>
            <a:pPr marL="0" indent="0">
              <a:buNone/>
            </a:pPr>
            <a:r>
              <a:rPr lang="en-US" sz="1250" dirty="0">
                <a:solidFill>
                  <a:srgbClr val="5B6475"/>
                </a:solidFill>
                <a:latin typeface="Calibri" pitchFamily="34" charset="0"/>
                <a:ea typeface="Calibri" pitchFamily="34" charset="-122"/>
                <a:cs typeface="Calibri" pitchFamily="34" charset="-120"/>
              </a:rPr>
              <a:t>Paid, hasn't finished the 100 questions</a:t>
            </a:r>
            <a:endParaRPr lang="en-US" sz="1250" dirty="0"/>
          </a:p>
        </p:txBody>
      </p:sp>
      <p:sp>
        <p:nvSpPr>
          <p:cNvPr id="8" name="Text 6"/>
          <p:cNvSpPr txBox="1"/>
          <p:nvPr/>
        </p:nvSpPr>
        <p:spPr>
          <a:xfrm>
            <a:off x="612648" y="2665857"/>
            <a:ext cx="3200400" cy="423926"/>
          </a:xfrm>
          <a:prstGeom prst="rect">
            <a:avLst/>
          </a:prstGeom>
          <a:noFill/>
          <a:ln/>
        </p:spPr>
        <p:txBody>
          <a:bodyPr wrap="square" lIns="0" tIns="0" rIns="0" bIns="0" rtlCol="0" anchor="t"/>
          <a:lstStyle/>
          <a:p>
            <a:pPr marL="0" indent="0">
              <a:buNone/>
            </a:pPr>
            <a:r>
              <a:rPr lang="en-US" sz="1250" b="1" dirty="0">
                <a:solidFill>
                  <a:srgbClr val="1B2230"/>
                </a:solidFill>
                <a:latin typeface="Calibri" pitchFamily="34" charset="0"/>
                <a:ea typeface="Calibri" pitchFamily="34" charset="-122"/>
                <a:cs typeface="Calibri" pitchFamily="34" charset="-120"/>
              </a:rPr>
              <a:t>Exits</a:t>
            </a:r>
            <a:endParaRPr lang="en-US" sz="1250" dirty="0"/>
          </a:p>
          <a:p>
            <a:pPr marL="0" indent="0">
              <a:buNone/>
            </a:pPr>
            <a:r>
              <a:rPr lang="en-US" sz="1250" dirty="0">
                <a:solidFill>
                  <a:srgbClr val="5B6475"/>
                </a:solidFill>
                <a:latin typeface="Calibri" pitchFamily="34" charset="0"/>
                <a:ea typeface="Calibri" pitchFamily="34" charset="-122"/>
                <a:cs typeface="Calibri" pitchFamily="34" charset="-120"/>
              </a:rPr>
              <a:t>Finishes and the report generates itself</a:t>
            </a:r>
            <a:endParaRPr lang="en-US" sz="1250" dirty="0"/>
          </a:p>
        </p:txBody>
      </p:sp>
      <p:sp>
        <p:nvSpPr>
          <p:cNvPr id="9" name="Text 7"/>
          <p:cNvSpPr txBox="1"/>
          <p:nvPr/>
        </p:nvSpPr>
        <p:spPr>
          <a:xfrm>
            <a:off x="612648" y="3217799"/>
            <a:ext cx="3200400" cy="423926"/>
          </a:xfrm>
          <a:prstGeom prst="rect">
            <a:avLst/>
          </a:prstGeom>
          <a:noFill/>
          <a:ln/>
        </p:spPr>
        <p:txBody>
          <a:bodyPr wrap="square" lIns="0" tIns="0" rIns="0" bIns="0" rtlCol="0" anchor="t"/>
          <a:lstStyle/>
          <a:p>
            <a:pPr marL="0" indent="0">
              <a:buNone/>
            </a:pPr>
            <a:r>
              <a:rPr lang="en-US" sz="1250" b="1" dirty="0">
                <a:solidFill>
                  <a:srgbClr val="1B2230"/>
                </a:solidFill>
                <a:latin typeface="Calibri" pitchFamily="34" charset="0"/>
                <a:ea typeface="Calibri" pitchFamily="34" charset="-122"/>
                <a:cs typeface="Calibri" pitchFamily="34" charset="-120"/>
              </a:rPr>
              <a:t>If no reply</a:t>
            </a:r>
            <a:endParaRPr lang="en-US" sz="1250" dirty="0"/>
          </a:p>
          <a:p>
            <a:pPr marL="0" indent="0">
              <a:buNone/>
            </a:pPr>
            <a:r>
              <a:rPr lang="en-US" sz="1250" dirty="0">
                <a:solidFill>
                  <a:srgbClr val="5B6475"/>
                </a:solidFill>
                <a:latin typeface="Calibri" pitchFamily="34" charset="0"/>
                <a:ea typeface="Calibri" pitchFamily="34" charset="-122"/>
                <a:cs typeface="Calibri" pitchFamily="34" charset="-120"/>
              </a:rPr>
              <a:t>Monthly reminder until they finish</a:t>
            </a:r>
            <a:endParaRPr lang="en-US" sz="1250" dirty="0"/>
          </a:p>
        </p:txBody>
      </p:sp>
      <p:sp>
        <p:nvSpPr>
          <p:cNvPr id="10" name="Shape 8"/>
          <p:cNvSpPr/>
          <p:nvPr/>
        </p:nvSpPr>
        <p:spPr>
          <a:xfrm>
            <a:off x="4160520" y="530352"/>
            <a:ext cx="3645256" cy="1826768"/>
          </a:xfrm>
          <a:prstGeom prst="roundRect">
            <a:avLst>
              <a:gd name="adj" fmla="val 5006"/>
            </a:avLst>
          </a:prstGeom>
          <a:solidFill>
            <a:srgbClr val="FFFFFF"/>
          </a:solidFill>
          <a:ln w="9525">
            <a:solidFill>
              <a:srgbClr val="DDE1E8"/>
            </a:solidFill>
            <a:prstDash val="solid"/>
          </a:ln>
        </p:spPr>
        <p:txBody>
          <a:bodyPr/>
          <a:lstStyle/>
          <a:p>
            <a:endParaRPr lang="en-MX"/>
          </a:p>
        </p:txBody>
      </p:sp>
      <p:sp>
        <p:nvSpPr>
          <p:cNvPr id="11" name="Text 9"/>
          <p:cNvSpPr txBox="1"/>
          <p:nvPr/>
        </p:nvSpPr>
        <p:spPr>
          <a:xfrm>
            <a:off x="4315968" y="640080"/>
            <a:ext cx="457200" cy="219456"/>
          </a:xfrm>
          <a:prstGeom prst="rect">
            <a:avLst/>
          </a:prstGeom>
          <a:noFill/>
          <a:ln/>
        </p:spPr>
        <p:txBody>
          <a:bodyPr wrap="square" lIns="0" tIns="0" rIns="0" bIns="0" rtlCol="0" anchor="ctr"/>
          <a:lstStyle/>
          <a:p>
            <a:pPr marL="0" indent="0">
              <a:buNone/>
            </a:pPr>
            <a:r>
              <a:rPr lang="en-US" sz="1200" b="1" dirty="0">
                <a:solidFill>
                  <a:srgbClr val="1B2230"/>
                </a:solidFill>
                <a:latin typeface="Calibri" pitchFamily="34" charset="0"/>
                <a:ea typeface="Calibri" pitchFamily="34" charset="-122"/>
                <a:cs typeface="Calibri" pitchFamily="34" charset="-120"/>
              </a:rPr>
              <a:t>P1</a:t>
            </a:r>
            <a:endParaRPr lang="en-US" sz="1200" dirty="0"/>
          </a:p>
        </p:txBody>
      </p:sp>
      <p:sp>
        <p:nvSpPr>
          <p:cNvPr id="12" name="Text 10"/>
          <p:cNvSpPr txBox="1"/>
          <p:nvPr/>
        </p:nvSpPr>
        <p:spPr>
          <a:xfrm>
            <a:off x="4590288" y="640080"/>
            <a:ext cx="1962760" cy="219456"/>
          </a:xfrm>
          <a:prstGeom prst="rect">
            <a:avLst/>
          </a:prstGeom>
          <a:noFill/>
          <a:ln/>
        </p:spPr>
        <p:txBody>
          <a:bodyPr wrap="square" lIns="0" tIns="0" rIns="0" bIns="0" rtlCol="0" anchor="ctr"/>
          <a:lstStyle/>
          <a:p>
            <a:pPr marL="0" indent="0">
              <a:buNone/>
            </a:pPr>
            <a:r>
              <a:rPr lang="en-US" sz="950" dirty="0">
                <a:solidFill>
                  <a:srgbClr val="5B6475"/>
                </a:solidFill>
                <a:latin typeface="Calibri" pitchFamily="34" charset="0"/>
                <a:ea typeface="Calibri" pitchFamily="34" charset="-122"/>
                <a:cs typeface="Calibri" pitchFamily="34" charset="-120"/>
              </a:rPr>
              <a:t>After payment</a:t>
            </a:r>
            <a:endParaRPr lang="en-US" sz="950" dirty="0"/>
          </a:p>
        </p:txBody>
      </p:sp>
      <p:sp>
        <p:nvSpPr>
          <p:cNvPr id="13" name="Shape 11"/>
          <p:cNvSpPr/>
          <p:nvPr/>
        </p:nvSpPr>
        <p:spPr>
          <a:xfrm>
            <a:off x="7093915" y="658368"/>
            <a:ext cx="556412" cy="220370"/>
          </a:xfrm>
          <a:prstGeom prst="roundRect">
            <a:avLst>
              <a:gd name="adj" fmla="val 50000"/>
            </a:avLst>
          </a:prstGeom>
          <a:solidFill>
            <a:srgbClr val="E9ECF6"/>
          </a:solidFill>
          <a:ln w="9525">
            <a:solidFill>
              <a:srgbClr val="E9ECF6"/>
            </a:solidFill>
            <a:prstDash val="solid"/>
          </a:ln>
        </p:spPr>
        <p:txBody>
          <a:bodyPr/>
          <a:lstStyle/>
          <a:p>
            <a:endParaRPr lang="en-MX"/>
          </a:p>
        </p:txBody>
      </p:sp>
      <p:sp>
        <p:nvSpPr>
          <p:cNvPr id="14" name="Text 12"/>
          <p:cNvSpPr txBox="1"/>
          <p:nvPr/>
        </p:nvSpPr>
        <p:spPr>
          <a:xfrm>
            <a:off x="7093915" y="658368"/>
            <a:ext cx="556412" cy="220370"/>
          </a:xfrm>
          <a:prstGeom prst="rect">
            <a:avLst/>
          </a:prstGeom>
          <a:noFill/>
          <a:ln/>
        </p:spPr>
        <p:txBody>
          <a:bodyPr wrap="square" lIns="0" tIns="0" rIns="0" bIns="0" rtlCol="0" anchor="ctr"/>
          <a:lstStyle/>
          <a:p>
            <a:pPr marL="0" indent="0" algn="ctr">
              <a:buNone/>
            </a:pPr>
            <a:r>
              <a:rPr lang="en-US" sz="850" dirty="0">
                <a:solidFill>
                  <a:srgbClr val="3D4F86"/>
                </a:solidFill>
                <a:latin typeface="Calibri" pitchFamily="34" charset="0"/>
                <a:ea typeface="Calibri" pitchFamily="34" charset="-122"/>
                <a:cs typeface="Calibri" pitchFamily="34" charset="-120"/>
              </a:rPr>
              <a:t>Email</a:t>
            </a:r>
            <a:endParaRPr lang="en-US" sz="850" dirty="0"/>
          </a:p>
        </p:txBody>
      </p:sp>
      <p:sp>
        <p:nvSpPr>
          <p:cNvPr id="15" name="Text 13"/>
          <p:cNvSpPr txBox="1"/>
          <p:nvPr/>
        </p:nvSpPr>
        <p:spPr>
          <a:xfrm>
            <a:off x="4315968" y="914400"/>
            <a:ext cx="3334360" cy="359156"/>
          </a:xfrm>
          <a:prstGeom prst="rect">
            <a:avLst/>
          </a:prstGeom>
          <a:noFill/>
          <a:ln/>
        </p:spPr>
        <p:txBody>
          <a:bodyPr wrap="square" lIns="0" tIns="0" rIns="0" bIns="0" rtlCol="0" anchor="t"/>
          <a:lstStyle/>
          <a:p>
            <a:pPr marL="0" indent="0">
              <a:buNone/>
            </a:pPr>
            <a:r>
              <a:rPr lang="en-US" sz="1100" b="1" dirty="0">
                <a:solidFill>
                  <a:srgbClr val="1B2230"/>
                </a:solidFill>
                <a:latin typeface="Calibri" pitchFamily="34" charset="0"/>
                <a:ea typeface="Calibri" pitchFamily="34" charset="-122"/>
                <a:cs typeface="Calibri" pitchFamily="34" charset="-120"/>
              </a:rPr>
              <a:t>You're in, {{nombre}}. Let's start your Financial Health Profile</a:t>
            </a:r>
            <a:endParaRPr lang="en-US" sz="1100" dirty="0"/>
          </a:p>
        </p:txBody>
      </p:sp>
      <p:sp>
        <p:nvSpPr>
          <p:cNvPr id="16" name="Text 14"/>
          <p:cNvSpPr txBox="1"/>
          <p:nvPr/>
        </p:nvSpPr>
        <p:spPr>
          <a:xfrm>
            <a:off x="4315968" y="1310132"/>
            <a:ext cx="3334360" cy="589788"/>
          </a:xfrm>
          <a:prstGeom prst="rect">
            <a:avLst/>
          </a:prstGeom>
          <a:noFill/>
          <a:ln/>
        </p:spPr>
        <p:txBody>
          <a:bodyPr wrap="square" lIns="0" tIns="0" rIns="0" bIns="0" rtlCol="0" anchor="t"/>
          <a:lstStyle/>
          <a:p>
            <a:pPr marL="0" indent="0">
              <a:lnSpc>
                <a:spcPct val="105000"/>
              </a:lnSpc>
              <a:buNone/>
            </a:pPr>
            <a:r>
              <a:rPr lang="en-US" sz="1200" dirty="0">
                <a:solidFill>
                  <a:srgbClr val="1B2230"/>
                </a:solidFill>
                <a:latin typeface="Cambria" pitchFamily="34" charset="0"/>
                <a:ea typeface="Cambria" pitchFamily="34" charset="-122"/>
                <a:cs typeface="Cambria" pitchFamily="34" charset="-120"/>
              </a:rPr>
              <a:t>Payment confirmed. It's 100 questions, about {{minutos_completo}} minutes. Answer based on how you are today; your progress saves itself.</a:t>
            </a:r>
            <a:endParaRPr lang="en-US" sz="1200" dirty="0"/>
          </a:p>
        </p:txBody>
      </p:sp>
      <p:sp>
        <p:nvSpPr>
          <p:cNvPr id="17" name="Shape 15"/>
          <p:cNvSpPr/>
          <p:nvPr/>
        </p:nvSpPr>
        <p:spPr>
          <a:xfrm>
            <a:off x="4315968" y="1991360"/>
            <a:ext cx="2329708" cy="232258"/>
          </a:xfrm>
          <a:prstGeom prst="roundRect">
            <a:avLst>
              <a:gd name="adj" fmla="val 50000"/>
            </a:avLst>
          </a:prstGeom>
          <a:solidFill>
            <a:srgbClr val="1B2230"/>
          </a:solidFill>
          <a:ln w="9525">
            <a:solidFill>
              <a:srgbClr val="1B2230"/>
            </a:solidFill>
            <a:prstDash val="solid"/>
          </a:ln>
        </p:spPr>
        <p:txBody>
          <a:bodyPr/>
          <a:lstStyle/>
          <a:p>
            <a:endParaRPr lang="en-MX"/>
          </a:p>
        </p:txBody>
      </p:sp>
      <p:sp>
        <p:nvSpPr>
          <p:cNvPr id="18" name="Text 16"/>
          <p:cNvSpPr txBox="1"/>
          <p:nvPr/>
        </p:nvSpPr>
        <p:spPr>
          <a:xfrm>
            <a:off x="4315968" y="1991360"/>
            <a:ext cx="2329708" cy="23225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Start my profile</a:t>
            </a:r>
            <a:endParaRPr lang="en-US" sz="900" dirty="0"/>
          </a:p>
        </p:txBody>
      </p:sp>
      <p:sp>
        <p:nvSpPr>
          <p:cNvPr id="19" name="Shape 17"/>
          <p:cNvSpPr/>
          <p:nvPr/>
        </p:nvSpPr>
        <p:spPr>
          <a:xfrm>
            <a:off x="7933792" y="530352"/>
            <a:ext cx="3645256" cy="1826768"/>
          </a:xfrm>
          <a:prstGeom prst="roundRect">
            <a:avLst>
              <a:gd name="adj" fmla="val 5006"/>
            </a:avLst>
          </a:prstGeom>
          <a:solidFill>
            <a:srgbClr val="FFFFFF"/>
          </a:solidFill>
          <a:ln w="9525">
            <a:solidFill>
              <a:srgbClr val="DDE1E8"/>
            </a:solidFill>
            <a:prstDash val="solid"/>
          </a:ln>
        </p:spPr>
        <p:txBody>
          <a:bodyPr/>
          <a:lstStyle/>
          <a:p>
            <a:endParaRPr lang="en-MX"/>
          </a:p>
        </p:txBody>
      </p:sp>
      <p:sp>
        <p:nvSpPr>
          <p:cNvPr id="20" name="Text 18"/>
          <p:cNvSpPr txBox="1"/>
          <p:nvPr/>
        </p:nvSpPr>
        <p:spPr>
          <a:xfrm>
            <a:off x="8089240" y="640080"/>
            <a:ext cx="457200" cy="219456"/>
          </a:xfrm>
          <a:prstGeom prst="rect">
            <a:avLst/>
          </a:prstGeom>
          <a:noFill/>
          <a:ln/>
        </p:spPr>
        <p:txBody>
          <a:bodyPr wrap="square" lIns="0" tIns="0" rIns="0" bIns="0" rtlCol="0" anchor="ctr"/>
          <a:lstStyle/>
          <a:p>
            <a:pPr marL="0" indent="0">
              <a:buNone/>
            </a:pPr>
            <a:r>
              <a:rPr lang="en-US" sz="1200" b="1" dirty="0">
                <a:solidFill>
                  <a:srgbClr val="1B2230"/>
                </a:solidFill>
                <a:latin typeface="Calibri" pitchFamily="34" charset="0"/>
                <a:ea typeface="Calibri" pitchFamily="34" charset="-122"/>
                <a:cs typeface="Calibri" pitchFamily="34" charset="-120"/>
              </a:rPr>
              <a:t>P2</a:t>
            </a:r>
            <a:endParaRPr lang="en-US" sz="1200" dirty="0"/>
          </a:p>
        </p:txBody>
      </p:sp>
      <p:sp>
        <p:nvSpPr>
          <p:cNvPr id="21" name="Text 19"/>
          <p:cNvSpPr txBox="1"/>
          <p:nvPr/>
        </p:nvSpPr>
        <p:spPr>
          <a:xfrm>
            <a:off x="8363560" y="640080"/>
            <a:ext cx="1962760" cy="219456"/>
          </a:xfrm>
          <a:prstGeom prst="rect">
            <a:avLst/>
          </a:prstGeom>
          <a:noFill/>
          <a:ln/>
        </p:spPr>
        <p:txBody>
          <a:bodyPr wrap="square" lIns="0" tIns="0" rIns="0" bIns="0" rtlCol="0" anchor="ctr"/>
          <a:lstStyle/>
          <a:p>
            <a:pPr marL="0" indent="0">
              <a:buNone/>
            </a:pPr>
            <a:r>
              <a:rPr lang="en-US" sz="950" dirty="0">
                <a:solidFill>
                  <a:srgbClr val="5B6475"/>
                </a:solidFill>
                <a:latin typeface="Calibri" pitchFamily="34" charset="0"/>
                <a:ea typeface="Calibri" pitchFamily="34" charset="-122"/>
                <a:cs typeface="Calibri" pitchFamily="34" charset="-120"/>
              </a:rPr>
              <a:t>After payment</a:t>
            </a:r>
            <a:endParaRPr lang="en-US" sz="950" dirty="0"/>
          </a:p>
        </p:txBody>
      </p:sp>
      <p:sp>
        <p:nvSpPr>
          <p:cNvPr id="22" name="Shape 20"/>
          <p:cNvSpPr/>
          <p:nvPr/>
        </p:nvSpPr>
        <p:spPr>
          <a:xfrm>
            <a:off x="10675986" y="658368"/>
            <a:ext cx="747613" cy="220370"/>
          </a:xfrm>
          <a:prstGeom prst="roundRect">
            <a:avLst>
              <a:gd name="adj" fmla="val 50000"/>
            </a:avLst>
          </a:prstGeom>
          <a:solidFill>
            <a:srgbClr val="E1F2EF"/>
          </a:solidFill>
          <a:ln w="9525">
            <a:solidFill>
              <a:srgbClr val="E1F2EF"/>
            </a:solidFill>
            <a:prstDash val="solid"/>
          </a:ln>
        </p:spPr>
        <p:txBody>
          <a:bodyPr/>
          <a:lstStyle/>
          <a:p>
            <a:endParaRPr lang="en-MX"/>
          </a:p>
        </p:txBody>
      </p:sp>
      <p:sp>
        <p:nvSpPr>
          <p:cNvPr id="23" name="Text 21"/>
          <p:cNvSpPr txBox="1"/>
          <p:nvPr/>
        </p:nvSpPr>
        <p:spPr>
          <a:xfrm>
            <a:off x="10675986" y="658368"/>
            <a:ext cx="747613" cy="220370"/>
          </a:xfrm>
          <a:prstGeom prst="rect">
            <a:avLst/>
          </a:prstGeom>
          <a:noFill/>
          <a:ln/>
        </p:spPr>
        <p:txBody>
          <a:bodyPr wrap="square" lIns="0" tIns="0" rIns="0" bIns="0" rtlCol="0" anchor="ctr"/>
          <a:lstStyle/>
          <a:p>
            <a:pPr marL="0" indent="0" algn="ctr">
              <a:buNone/>
            </a:pPr>
            <a:r>
              <a:rPr lang="en-US" sz="850" dirty="0">
                <a:solidFill>
                  <a:srgbClr val="1F7A70"/>
                </a:solidFill>
                <a:latin typeface="Calibri" pitchFamily="34" charset="0"/>
                <a:ea typeface="Calibri" pitchFamily="34" charset="-122"/>
                <a:cs typeface="Calibri" pitchFamily="34" charset="-120"/>
              </a:rPr>
              <a:t>WhatsApp</a:t>
            </a:r>
            <a:endParaRPr lang="en-US" sz="850" dirty="0"/>
          </a:p>
        </p:txBody>
      </p:sp>
      <p:sp>
        <p:nvSpPr>
          <p:cNvPr id="24" name="Text 22"/>
          <p:cNvSpPr txBox="1"/>
          <p:nvPr/>
        </p:nvSpPr>
        <p:spPr>
          <a:xfrm>
            <a:off x="8089240" y="914400"/>
            <a:ext cx="3334360" cy="589788"/>
          </a:xfrm>
          <a:prstGeom prst="rect">
            <a:avLst/>
          </a:prstGeom>
          <a:noFill/>
          <a:ln/>
        </p:spPr>
        <p:txBody>
          <a:bodyPr wrap="square" lIns="0" tIns="0" rIns="0" bIns="0" rtlCol="0" anchor="t"/>
          <a:lstStyle/>
          <a:p>
            <a:pPr marL="0" indent="0">
              <a:lnSpc>
                <a:spcPct val="105000"/>
              </a:lnSpc>
              <a:buNone/>
            </a:pPr>
            <a:r>
              <a:rPr lang="en-US" sz="1200" dirty="0">
                <a:solidFill>
                  <a:srgbClr val="1B2230"/>
                </a:solidFill>
                <a:latin typeface="Cambria" pitchFamily="34" charset="0"/>
                <a:ea typeface="Cambria" pitchFamily="34" charset="-122"/>
                <a:cs typeface="Cambria" pitchFamily="34" charset="-120"/>
              </a:rPr>
              <a:t>Payment confirmed, {{nombre}}. Your Financial Health Profile is active: 100 questions, and you can pause whenever you want.</a:t>
            </a:r>
            <a:endParaRPr lang="en-US" sz="1200" dirty="0"/>
          </a:p>
        </p:txBody>
      </p:sp>
      <p:sp>
        <p:nvSpPr>
          <p:cNvPr id="25" name="Shape 23"/>
          <p:cNvSpPr/>
          <p:nvPr/>
        </p:nvSpPr>
        <p:spPr>
          <a:xfrm>
            <a:off x="8089240" y="1595628"/>
            <a:ext cx="1115019" cy="232258"/>
          </a:xfrm>
          <a:prstGeom prst="roundRect">
            <a:avLst>
              <a:gd name="adj" fmla="val 50000"/>
            </a:avLst>
          </a:prstGeom>
          <a:solidFill>
            <a:srgbClr val="1B2230"/>
          </a:solidFill>
          <a:ln w="9525">
            <a:solidFill>
              <a:srgbClr val="1B2230"/>
            </a:solidFill>
            <a:prstDash val="solid"/>
          </a:ln>
        </p:spPr>
        <p:txBody>
          <a:bodyPr/>
          <a:lstStyle/>
          <a:p>
            <a:endParaRPr lang="en-MX"/>
          </a:p>
        </p:txBody>
      </p:sp>
      <p:sp>
        <p:nvSpPr>
          <p:cNvPr id="26" name="Text 24"/>
          <p:cNvSpPr txBox="1"/>
          <p:nvPr/>
        </p:nvSpPr>
        <p:spPr>
          <a:xfrm>
            <a:off x="8089240" y="1595628"/>
            <a:ext cx="1115019" cy="23225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Start now</a:t>
            </a:r>
            <a:endParaRPr lang="en-US" sz="900" dirty="0"/>
          </a:p>
        </p:txBody>
      </p:sp>
      <p:sp>
        <p:nvSpPr>
          <p:cNvPr id="27" name="Shape 25"/>
          <p:cNvSpPr/>
          <p:nvPr/>
        </p:nvSpPr>
        <p:spPr>
          <a:xfrm>
            <a:off x="9277411" y="1595628"/>
            <a:ext cx="1384950" cy="232258"/>
          </a:xfrm>
          <a:prstGeom prst="roundRect">
            <a:avLst>
              <a:gd name="adj" fmla="val 50000"/>
            </a:avLst>
          </a:prstGeom>
          <a:solidFill>
            <a:srgbClr val="FFFFFF"/>
          </a:solidFill>
          <a:ln w="9525">
            <a:solidFill>
              <a:srgbClr val="DDE1E8"/>
            </a:solidFill>
            <a:prstDash val="solid"/>
          </a:ln>
        </p:spPr>
        <p:txBody>
          <a:bodyPr/>
          <a:lstStyle/>
          <a:p>
            <a:endParaRPr lang="en-MX"/>
          </a:p>
        </p:txBody>
      </p:sp>
      <p:sp>
        <p:nvSpPr>
          <p:cNvPr id="28" name="Text 26"/>
          <p:cNvSpPr txBox="1"/>
          <p:nvPr/>
        </p:nvSpPr>
        <p:spPr>
          <a:xfrm>
            <a:off x="9277411" y="1595628"/>
            <a:ext cx="1384950" cy="232258"/>
          </a:xfrm>
          <a:prstGeom prst="rect">
            <a:avLst/>
          </a:prstGeom>
          <a:noFill/>
          <a:ln/>
        </p:spPr>
        <p:txBody>
          <a:bodyPr wrap="square" lIns="0" tIns="0" rIns="0" bIns="0" rtlCol="0" anchor="ctr"/>
          <a:lstStyle/>
          <a:p>
            <a:pPr marL="0" indent="0" algn="ctr">
              <a:buNone/>
            </a:pPr>
            <a:r>
              <a:rPr lang="en-US" sz="900" dirty="0">
                <a:solidFill>
                  <a:srgbClr val="1B2230"/>
                </a:solidFill>
                <a:latin typeface="Calibri" pitchFamily="34" charset="0"/>
                <a:ea typeface="Calibri" pitchFamily="34" charset="-122"/>
                <a:cs typeface="Calibri" pitchFamily="34" charset="-120"/>
              </a:rPr>
              <a:t>I'll do it later</a:t>
            </a:r>
            <a:endParaRPr lang="en-US" sz="900" dirty="0"/>
          </a:p>
        </p:txBody>
      </p:sp>
      <p:sp>
        <p:nvSpPr>
          <p:cNvPr id="29" name="Shape 27"/>
          <p:cNvSpPr/>
          <p:nvPr/>
        </p:nvSpPr>
        <p:spPr>
          <a:xfrm>
            <a:off x="4160520" y="2485136"/>
            <a:ext cx="3645256" cy="1656334"/>
          </a:xfrm>
          <a:prstGeom prst="roundRect">
            <a:avLst>
              <a:gd name="adj" fmla="val 5521"/>
            </a:avLst>
          </a:prstGeom>
          <a:solidFill>
            <a:srgbClr val="FFFFFF"/>
          </a:solidFill>
          <a:ln w="9525">
            <a:solidFill>
              <a:srgbClr val="DDE1E8"/>
            </a:solidFill>
            <a:prstDash val="solid"/>
          </a:ln>
        </p:spPr>
        <p:txBody>
          <a:bodyPr/>
          <a:lstStyle/>
          <a:p>
            <a:endParaRPr lang="en-MX"/>
          </a:p>
        </p:txBody>
      </p:sp>
      <p:sp>
        <p:nvSpPr>
          <p:cNvPr id="30" name="Text 28"/>
          <p:cNvSpPr txBox="1"/>
          <p:nvPr/>
        </p:nvSpPr>
        <p:spPr>
          <a:xfrm>
            <a:off x="4315968" y="2594864"/>
            <a:ext cx="457200" cy="219456"/>
          </a:xfrm>
          <a:prstGeom prst="rect">
            <a:avLst/>
          </a:prstGeom>
          <a:noFill/>
          <a:ln/>
        </p:spPr>
        <p:txBody>
          <a:bodyPr wrap="square" lIns="0" tIns="0" rIns="0" bIns="0" rtlCol="0" anchor="ctr"/>
          <a:lstStyle/>
          <a:p>
            <a:pPr marL="0" indent="0">
              <a:buNone/>
            </a:pPr>
            <a:r>
              <a:rPr lang="en-US" sz="1200" b="1" dirty="0">
                <a:solidFill>
                  <a:srgbClr val="1B2230"/>
                </a:solidFill>
                <a:latin typeface="Calibri" pitchFamily="34" charset="0"/>
                <a:ea typeface="Calibri" pitchFamily="34" charset="-122"/>
                <a:cs typeface="Calibri" pitchFamily="34" charset="-120"/>
              </a:rPr>
              <a:t>C1</a:t>
            </a:r>
            <a:endParaRPr lang="en-US" sz="1200" dirty="0"/>
          </a:p>
        </p:txBody>
      </p:sp>
      <p:sp>
        <p:nvSpPr>
          <p:cNvPr id="31" name="Text 29"/>
          <p:cNvSpPr txBox="1"/>
          <p:nvPr/>
        </p:nvSpPr>
        <p:spPr>
          <a:xfrm>
            <a:off x="4590288" y="2594864"/>
            <a:ext cx="1962760" cy="219456"/>
          </a:xfrm>
          <a:prstGeom prst="rect">
            <a:avLst/>
          </a:prstGeom>
          <a:noFill/>
          <a:ln/>
        </p:spPr>
        <p:txBody>
          <a:bodyPr wrap="square" lIns="0" tIns="0" rIns="0" bIns="0" rtlCol="0" anchor="ctr"/>
          <a:lstStyle/>
          <a:p>
            <a:pPr marL="0" indent="0">
              <a:buNone/>
            </a:pPr>
            <a:r>
              <a:rPr lang="en-US" sz="950" dirty="0">
                <a:solidFill>
                  <a:srgbClr val="5B6475"/>
                </a:solidFill>
                <a:latin typeface="Calibri" pitchFamily="34" charset="0"/>
                <a:ea typeface="Calibri" pitchFamily="34" charset="-122"/>
                <a:cs typeface="Calibri" pitchFamily="34" charset="-120"/>
              </a:rPr>
              <a:t>24 hours</a:t>
            </a:r>
            <a:endParaRPr lang="en-US" sz="950" dirty="0"/>
          </a:p>
        </p:txBody>
      </p:sp>
      <p:sp>
        <p:nvSpPr>
          <p:cNvPr id="32" name="Shape 30"/>
          <p:cNvSpPr/>
          <p:nvPr/>
        </p:nvSpPr>
        <p:spPr>
          <a:xfrm>
            <a:off x="7093915" y="2613152"/>
            <a:ext cx="556412" cy="220370"/>
          </a:xfrm>
          <a:prstGeom prst="roundRect">
            <a:avLst>
              <a:gd name="adj" fmla="val 50000"/>
            </a:avLst>
          </a:prstGeom>
          <a:solidFill>
            <a:srgbClr val="E9ECF6"/>
          </a:solidFill>
          <a:ln w="9525">
            <a:solidFill>
              <a:srgbClr val="E9ECF6"/>
            </a:solidFill>
            <a:prstDash val="solid"/>
          </a:ln>
        </p:spPr>
        <p:txBody>
          <a:bodyPr/>
          <a:lstStyle/>
          <a:p>
            <a:endParaRPr lang="en-MX"/>
          </a:p>
        </p:txBody>
      </p:sp>
      <p:sp>
        <p:nvSpPr>
          <p:cNvPr id="33" name="Text 31"/>
          <p:cNvSpPr txBox="1"/>
          <p:nvPr/>
        </p:nvSpPr>
        <p:spPr>
          <a:xfrm>
            <a:off x="7093915" y="2613152"/>
            <a:ext cx="556412" cy="220370"/>
          </a:xfrm>
          <a:prstGeom prst="rect">
            <a:avLst/>
          </a:prstGeom>
          <a:noFill/>
          <a:ln/>
        </p:spPr>
        <p:txBody>
          <a:bodyPr wrap="square" lIns="0" tIns="0" rIns="0" bIns="0" rtlCol="0" anchor="ctr"/>
          <a:lstStyle/>
          <a:p>
            <a:pPr marL="0" indent="0" algn="ctr">
              <a:buNone/>
            </a:pPr>
            <a:r>
              <a:rPr lang="en-US" sz="850" dirty="0">
                <a:solidFill>
                  <a:srgbClr val="3D4F86"/>
                </a:solidFill>
                <a:latin typeface="Calibri" pitchFamily="34" charset="0"/>
                <a:ea typeface="Calibri" pitchFamily="34" charset="-122"/>
                <a:cs typeface="Calibri" pitchFamily="34" charset="-120"/>
              </a:rPr>
              <a:t>Email</a:t>
            </a:r>
            <a:endParaRPr lang="en-US" sz="850" dirty="0"/>
          </a:p>
        </p:txBody>
      </p:sp>
      <p:sp>
        <p:nvSpPr>
          <p:cNvPr id="34" name="Text 32"/>
          <p:cNvSpPr txBox="1"/>
          <p:nvPr/>
        </p:nvSpPr>
        <p:spPr>
          <a:xfrm>
            <a:off x="4315968" y="2869184"/>
            <a:ext cx="3334360" cy="188722"/>
          </a:xfrm>
          <a:prstGeom prst="rect">
            <a:avLst/>
          </a:prstGeom>
          <a:noFill/>
          <a:ln/>
        </p:spPr>
        <p:txBody>
          <a:bodyPr wrap="square" lIns="0" tIns="0" rIns="0" bIns="0" rtlCol="0" anchor="t"/>
          <a:lstStyle/>
          <a:p>
            <a:pPr marL="0" indent="0">
              <a:buNone/>
            </a:pPr>
            <a:r>
              <a:rPr lang="en-US" sz="1100" b="1" dirty="0">
                <a:solidFill>
                  <a:srgbClr val="1B2230"/>
                </a:solidFill>
                <a:latin typeface="Calibri" pitchFamily="34" charset="0"/>
                <a:ea typeface="Calibri" pitchFamily="34" charset="-122"/>
                <a:cs typeface="Calibri" pitchFamily="34" charset="-120"/>
              </a:rPr>
              <a:t>Your chart is generated the moment you finish</a:t>
            </a:r>
            <a:endParaRPr lang="en-US" sz="1100" dirty="0"/>
          </a:p>
        </p:txBody>
      </p:sp>
      <p:sp>
        <p:nvSpPr>
          <p:cNvPr id="35" name="Text 33"/>
          <p:cNvSpPr txBox="1"/>
          <p:nvPr/>
        </p:nvSpPr>
        <p:spPr>
          <a:xfrm>
            <a:off x="4315968" y="3094482"/>
            <a:ext cx="3334360" cy="589788"/>
          </a:xfrm>
          <a:prstGeom prst="rect">
            <a:avLst/>
          </a:prstGeom>
          <a:noFill/>
          <a:ln/>
        </p:spPr>
        <p:txBody>
          <a:bodyPr wrap="square" lIns="0" tIns="0" rIns="0" bIns="0" rtlCol="0" anchor="t"/>
          <a:lstStyle/>
          <a:p>
            <a:pPr marL="0" indent="0">
              <a:lnSpc>
                <a:spcPct val="105000"/>
              </a:lnSpc>
              <a:buNone/>
            </a:pPr>
            <a:r>
              <a:rPr lang="en-US" sz="1200" dirty="0">
                <a:solidFill>
                  <a:srgbClr val="1B2230"/>
                </a:solidFill>
                <a:latin typeface="Cambria" pitchFamily="34" charset="0"/>
                <a:ea typeface="Cambria" pitchFamily="34" charset="-122"/>
                <a:cs typeface="Cambria" pitchFamily="34" charset="-120"/>
              </a:rPr>
              <a:t>The moment you answer the last question, your chart and report appear in your account on their own. Split it into two 10-minute sittings and you finish today.</a:t>
            </a:r>
            <a:endParaRPr lang="en-US" sz="1200" dirty="0"/>
          </a:p>
        </p:txBody>
      </p:sp>
      <p:sp>
        <p:nvSpPr>
          <p:cNvPr id="36" name="Shape 34"/>
          <p:cNvSpPr/>
          <p:nvPr/>
        </p:nvSpPr>
        <p:spPr>
          <a:xfrm>
            <a:off x="4315968" y="3775710"/>
            <a:ext cx="845088" cy="232258"/>
          </a:xfrm>
          <a:prstGeom prst="roundRect">
            <a:avLst>
              <a:gd name="adj" fmla="val 50000"/>
            </a:avLst>
          </a:prstGeom>
          <a:solidFill>
            <a:srgbClr val="1B2230"/>
          </a:solidFill>
          <a:ln w="9525">
            <a:solidFill>
              <a:srgbClr val="1B2230"/>
            </a:solidFill>
            <a:prstDash val="solid"/>
          </a:ln>
        </p:spPr>
        <p:txBody>
          <a:bodyPr/>
          <a:lstStyle/>
          <a:p>
            <a:endParaRPr lang="en-MX"/>
          </a:p>
        </p:txBody>
      </p:sp>
      <p:sp>
        <p:nvSpPr>
          <p:cNvPr id="37" name="Text 35"/>
          <p:cNvSpPr txBox="1"/>
          <p:nvPr/>
        </p:nvSpPr>
        <p:spPr>
          <a:xfrm>
            <a:off x="4315968" y="3775710"/>
            <a:ext cx="845088" cy="23225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Continue</a:t>
            </a:r>
            <a:endParaRPr lang="en-US" sz="900" dirty="0"/>
          </a:p>
        </p:txBody>
      </p:sp>
      <p:sp>
        <p:nvSpPr>
          <p:cNvPr id="38" name="Shape 36"/>
          <p:cNvSpPr/>
          <p:nvPr/>
        </p:nvSpPr>
        <p:spPr>
          <a:xfrm>
            <a:off x="7933792" y="2485136"/>
            <a:ext cx="3645256" cy="1656334"/>
          </a:xfrm>
          <a:prstGeom prst="roundRect">
            <a:avLst>
              <a:gd name="adj" fmla="val 5521"/>
            </a:avLst>
          </a:prstGeom>
          <a:solidFill>
            <a:srgbClr val="FFFFFF"/>
          </a:solidFill>
          <a:ln w="9525">
            <a:solidFill>
              <a:srgbClr val="DDE1E8"/>
            </a:solidFill>
            <a:prstDash val="solid"/>
          </a:ln>
        </p:spPr>
        <p:txBody>
          <a:bodyPr/>
          <a:lstStyle/>
          <a:p>
            <a:endParaRPr lang="en-MX"/>
          </a:p>
        </p:txBody>
      </p:sp>
      <p:sp>
        <p:nvSpPr>
          <p:cNvPr id="39" name="Text 37"/>
          <p:cNvSpPr txBox="1"/>
          <p:nvPr/>
        </p:nvSpPr>
        <p:spPr>
          <a:xfrm>
            <a:off x="8089240" y="2594864"/>
            <a:ext cx="457200" cy="219456"/>
          </a:xfrm>
          <a:prstGeom prst="rect">
            <a:avLst/>
          </a:prstGeom>
          <a:noFill/>
          <a:ln/>
        </p:spPr>
        <p:txBody>
          <a:bodyPr wrap="square" lIns="0" tIns="0" rIns="0" bIns="0" rtlCol="0" anchor="ctr"/>
          <a:lstStyle/>
          <a:p>
            <a:pPr marL="0" indent="0">
              <a:buNone/>
            </a:pPr>
            <a:r>
              <a:rPr lang="en-US" sz="1200" b="1" dirty="0">
                <a:solidFill>
                  <a:srgbClr val="1B2230"/>
                </a:solidFill>
                <a:latin typeface="Calibri" pitchFamily="34" charset="0"/>
                <a:ea typeface="Calibri" pitchFamily="34" charset="-122"/>
                <a:cs typeface="Calibri" pitchFamily="34" charset="-120"/>
              </a:rPr>
              <a:t>C2</a:t>
            </a:r>
            <a:endParaRPr lang="en-US" sz="1200" dirty="0"/>
          </a:p>
        </p:txBody>
      </p:sp>
      <p:sp>
        <p:nvSpPr>
          <p:cNvPr id="40" name="Text 38"/>
          <p:cNvSpPr txBox="1"/>
          <p:nvPr/>
        </p:nvSpPr>
        <p:spPr>
          <a:xfrm>
            <a:off x="8363560" y="2594864"/>
            <a:ext cx="1962760" cy="219456"/>
          </a:xfrm>
          <a:prstGeom prst="rect">
            <a:avLst/>
          </a:prstGeom>
          <a:noFill/>
          <a:ln/>
        </p:spPr>
        <p:txBody>
          <a:bodyPr wrap="square" lIns="0" tIns="0" rIns="0" bIns="0" rtlCol="0" anchor="ctr"/>
          <a:lstStyle/>
          <a:p>
            <a:pPr marL="0" indent="0">
              <a:buNone/>
            </a:pPr>
            <a:r>
              <a:rPr lang="en-US" sz="950" dirty="0">
                <a:solidFill>
                  <a:srgbClr val="5B6475"/>
                </a:solidFill>
                <a:latin typeface="Calibri" pitchFamily="34" charset="0"/>
                <a:ea typeface="Calibri" pitchFamily="34" charset="-122"/>
                <a:cs typeface="Calibri" pitchFamily="34" charset="-120"/>
              </a:rPr>
              <a:t>48 hours</a:t>
            </a:r>
            <a:endParaRPr lang="en-US" sz="950" dirty="0"/>
          </a:p>
        </p:txBody>
      </p:sp>
      <p:sp>
        <p:nvSpPr>
          <p:cNvPr id="41" name="Shape 39"/>
          <p:cNvSpPr/>
          <p:nvPr/>
        </p:nvSpPr>
        <p:spPr>
          <a:xfrm>
            <a:off x="10675986" y="2613152"/>
            <a:ext cx="747613" cy="220370"/>
          </a:xfrm>
          <a:prstGeom prst="roundRect">
            <a:avLst>
              <a:gd name="adj" fmla="val 50000"/>
            </a:avLst>
          </a:prstGeom>
          <a:solidFill>
            <a:srgbClr val="E1F2EF"/>
          </a:solidFill>
          <a:ln w="9525">
            <a:solidFill>
              <a:srgbClr val="E1F2EF"/>
            </a:solidFill>
            <a:prstDash val="solid"/>
          </a:ln>
        </p:spPr>
        <p:txBody>
          <a:bodyPr/>
          <a:lstStyle/>
          <a:p>
            <a:endParaRPr lang="en-MX"/>
          </a:p>
        </p:txBody>
      </p:sp>
      <p:sp>
        <p:nvSpPr>
          <p:cNvPr id="42" name="Text 40"/>
          <p:cNvSpPr txBox="1"/>
          <p:nvPr/>
        </p:nvSpPr>
        <p:spPr>
          <a:xfrm>
            <a:off x="10675986" y="2613152"/>
            <a:ext cx="747613" cy="220370"/>
          </a:xfrm>
          <a:prstGeom prst="rect">
            <a:avLst/>
          </a:prstGeom>
          <a:noFill/>
          <a:ln/>
        </p:spPr>
        <p:txBody>
          <a:bodyPr wrap="square" lIns="0" tIns="0" rIns="0" bIns="0" rtlCol="0" anchor="ctr"/>
          <a:lstStyle/>
          <a:p>
            <a:pPr marL="0" indent="0" algn="ctr">
              <a:buNone/>
            </a:pPr>
            <a:r>
              <a:rPr lang="en-US" sz="850" dirty="0">
                <a:solidFill>
                  <a:srgbClr val="1F7A70"/>
                </a:solidFill>
                <a:latin typeface="Calibri" pitchFamily="34" charset="0"/>
                <a:ea typeface="Calibri" pitchFamily="34" charset="-122"/>
                <a:cs typeface="Calibri" pitchFamily="34" charset="-120"/>
              </a:rPr>
              <a:t>WhatsApp</a:t>
            </a:r>
            <a:endParaRPr lang="en-US" sz="850" dirty="0"/>
          </a:p>
        </p:txBody>
      </p:sp>
      <p:sp>
        <p:nvSpPr>
          <p:cNvPr id="43" name="Text 41"/>
          <p:cNvSpPr txBox="1"/>
          <p:nvPr/>
        </p:nvSpPr>
        <p:spPr>
          <a:xfrm>
            <a:off x="8089240" y="2869184"/>
            <a:ext cx="3334360" cy="399288"/>
          </a:xfrm>
          <a:prstGeom prst="rect">
            <a:avLst/>
          </a:prstGeom>
          <a:noFill/>
          <a:ln/>
        </p:spPr>
        <p:txBody>
          <a:bodyPr wrap="square" lIns="0" tIns="0" rIns="0" bIns="0" rtlCol="0" anchor="t"/>
          <a:lstStyle/>
          <a:p>
            <a:pPr marL="0" indent="0">
              <a:lnSpc>
                <a:spcPct val="105000"/>
              </a:lnSpc>
              <a:buNone/>
            </a:pPr>
            <a:r>
              <a:rPr lang="en-US" sz="1200" dirty="0">
                <a:solidFill>
                  <a:srgbClr val="1B2230"/>
                </a:solidFill>
                <a:latin typeface="Cambria" pitchFamily="34" charset="0"/>
                <a:ea typeface="Cambria" pitchFamily="34" charset="-122"/>
                <a:cs typeface="Cambria" pitchFamily="34" charset="-120"/>
              </a:rPr>
              <a:t>Your profile is {{preguntas_restantes}} questions from being ready. Shall we keep going?</a:t>
            </a:r>
            <a:endParaRPr lang="en-US" sz="1200" dirty="0"/>
          </a:p>
        </p:txBody>
      </p:sp>
      <p:sp>
        <p:nvSpPr>
          <p:cNvPr id="44" name="Shape 42"/>
          <p:cNvSpPr/>
          <p:nvPr/>
        </p:nvSpPr>
        <p:spPr>
          <a:xfrm>
            <a:off x="8089240" y="3359912"/>
            <a:ext cx="845088" cy="232258"/>
          </a:xfrm>
          <a:prstGeom prst="roundRect">
            <a:avLst>
              <a:gd name="adj" fmla="val 50000"/>
            </a:avLst>
          </a:prstGeom>
          <a:solidFill>
            <a:srgbClr val="1B2230"/>
          </a:solidFill>
          <a:ln w="9525">
            <a:solidFill>
              <a:srgbClr val="1B2230"/>
            </a:solidFill>
            <a:prstDash val="solid"/>
          </a:ln>
        </p:spPr>
        <p:txBody>
          <a:bodyPr/>
          <a:lstStyle/>
          <a:p>
            <a:endParaRPr lang="en-MX"/>
          </a:p>
        </p:txBody>
      </p:sp>
      <p:sp>
        <p:nvSpPr>
          <p:cNvPr id="45" name="Text 43"/>
          <p:cNvSpPr txBox="1"/>
          <p:nvPr/>
        </p:nvSpPr>
        <p:spPr>
          <a:xfrm>
            <a:off x="8089240" y="3359912"/>
            <a:ext cx="845088" cy="23225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Continue</a:t>
            </a:r>
            <a:endParaRPr lang="en-US" sz="900" dirty="0"/>
          </a:p>
        </p:txBody>
      </p:sp>
      <p:sp>
        <p:nvSpPr>
          <p:cNvPr id="46" name="Shape 44"/>
          <p:cNvSpPr/>
          <p:nvPr/>
        </p:nvSpPr>
        <p:spPr>
          <a:xfrm>
            <a:off x="9007480" y="3359912"/>
            <a:ext cx="1182502" cy="232258"/>
          </a:xfrm>
          <a:prstGeom prst="roundRect">
            <a:avLst>
              <a:gd name="adj" fmla="val 50000"/>
            </a:avLst>
          </a:prstGeom>
          <a:solidFill>
            <a:srgbClr val="FFFFFF"/>
          </a:solidFill>
          <a:ln w="9525">
            <a:solidFill>
              <a:srgbClr val="DDE1E8"/>
            </a:solidFill>
            <a:prstDash val="solid"/>
          </a:ln>
        </p:spPr>
        <p:txBody>
          <a:bodyPr/>
          <a:lstStyle/>
          <a:p>
            <a:endParaRPr lang="en-MX"/>
          </a:p>
        </p:txBody>
      </p:sp>
      <p:sp>
        <p:nvSpPr>
          <p:cNvPr id="47" name="Text 45"/>
          <p:cNvSpPr txBox="1"/>
          <p:nvPr/>
        </p:nvSpPr>
        <p:spPr>
          <a:xfrm>
            <a:off x="9007480" y="3359912"/>
            <a:ext cx="1182502" cy="232258"/>
          </a:xfrm>
          <a:prstGeom prst="rect">
            <a:avLst/>
          </a:prstGeom>
          <a:noFill/>
          <a:ln/>
        </p:spPr>
        <p:txBody>
          <a:bodyPr wrap="square" lIns="0" tIns="0" rIns="0" bIns="0" rtlCol="0" anchor="ctr"/>
          <a:lstStyle/>
          <a:p>
            <a:pPr marL="0" indent="0" algn="ctr">
              <a:buNone/>
            </a:pPr>
            <a:r>
              <a:rPr lang="en-US" sz="900" dirty="0">
                <a:solidFill>
                  <a:srgbClr val="1B2230"/>
                </a:solidFill>
                <a:latin typeface="Calibri" pitchFamily="34" charset="0"/>
                <a:ea typeface="Calibri" pitchFamily="34" charset="-122"/>
                <a:cs typeface="Calibri" pitchFamily="34" charset="-120"/>
              </a:rPr>
              <a:t>I need help</a:t>
            </a:r>
            <a:endParaRPr lang="en-US" sz="900" dirty="0"/>
          </a:p>
        </p:txBody>
      </p:sp>
      <p:sp>
        <p:nvSpPr>
          <p:cNvPr id="48" name="Shape 46"/>
          <p:cNvSpPr/>
          <p:nvPr/>
        </p:nvSpPr>
        <p:spPr>
          <a:xfrm>
            <a:off x="4160520" y="4269486"/>
            <a:ext cx="3645256" cy="1449324"/>
          </a:xfrm>
          <a:prstGeom prst="roundRect">
            <a:avLst>
              <a:gd name="adj" fmla="val 6309"/>
            </a:avLst>
          </a:prstGeom>
          <a:solidFill>
            <a:srgbClr val="FFFFFF"/>
          </a:solidFill>
          <a:ln w="9525">
            <a:solidFill>
              <a:srgbClr val="DDE1E8"/>
            </a:solidFill>
            <a:prstDash val="solid"/>
          </a:ln>
        </p:spPr>
        <p:txBody>
          <a:bodyPr/>
          <a:lstStyle/>
          <a:p>
            <a:endParaRPr lang="en-MX"/>
          </a:p>
        </p:txBody>
      </p:sp>
      <p:sp>
        <p:nvSpPr>
          <p:cNvPr id="49" name="Text 47"/>
          <p:cNvSpPr txBox="1"/>
          <p:nvPr/>
        </p:nvSpPr>
        <p:spPr>
          <a:xfrm>
            <a:off x="4315968" y="4379214"/>
            <a:ext cx="457200" cy="219456"/>
          </a:xfrm>
          <a:prstGeom prst="rect">
            <a:avLst/>
          </a:prstGeom>
          <a:noFill/>
          <a:ln/>
        </p:spPr>
        <p:txBody>
          <a:bodyPr wrap="square" lIns="0" tIns="0" rIns="0" bIns="0" rtlCol="0" anchor="ctr"/>
          <a:lstStyle/>
          <a:p>
            <a:pPr marL="0" indent="0">
              <a:buNone/>
            </a:pPr>
            <a:r>
              <a:rPr lang="en-US" sz="1200" b="1" dirty="0">
                <a:solidFill>
                  <a:srgbClr val="1B2230"/>
                </a:solidFill>
                <a:latin typeface="Calibri" pitchFamily="34" charset="0"/>
                <a:ea typeface="Calibri" pitchFamily="34" charset="-122"/>
                <a:cs typeface="Calibri" pitchFamily="34" charset="-120"/>
              </a:rPr>
              <a:t>C3</a:t>
            </a:r>
            <a:endParaRPr lang="en-US" sz="1200" dirty="0"/>
          </a:p>
        </p:txBody>
      </p:sp>
      <p:sp>
        <p:nvSpPr>
          <p:cNvPr id="50" name="Text 48"/>
          <p:cNvSpPr txBox="1"/>
          <p:nvPr/>
        </p:nvSpPr>
        <p:spPr>
          <a:xfrm>
            <a:off x="4590288" y="4379214"/>
            <a:ext cx="1962760" cy="219456"/>
          </a:xfrm>
          <a:prstGeom prst="rect">
            <a:avLst/>
          </a:prstGeom>
          <a:noFill/>
          <a:ln/>
        </p:spPr>
        <p:txBody>
          <a:bodyPr wrap="square" lIns="0" tIns="0" rIns="0" bIns="0" rtlCol="0" anchor="ctr"/>
          <a:lstStyle/>
          <a:p>
            <a:pPr marL="0" indent="0">
              <a:buNone/>
            </a:pPr>
            <a:r>
              <a:rPr lang="en-US" sz="950" dirty="0">
                <a:solidFill>
                  <a:srgbClr val="5B6475"/>
                </a:solidFill>
                <a:latin typeface="Calibri" pitchFamily="34" charset="0"/>
                <a:ea typeface="Calibri" pitchFamily="34" charset="-122"/>
                <a:cs typeface="Calibri" pitchFamily="34" charset="-120"/>
              </a:rPr>
              <a:t>Day 5</a:t>
            </a:r>
            <a:endParaRPr lang="en-US" sz="950" dirty="0"/>
          </a:p>
        </p:txBody>
      </p:sp>
      <p:sp>
        <p:nvSpPr>
          <p:cNvPr id="51" name="Shape 49"/>
          <p:cNvSpPr/>
          <p:nvPr/>
        </p:nvSpPr>
        <p:spPr>
          <a:xfrm>
            <a:off x="6902714" y="4397502"/>
            <a:ext cx="747613" cy="220370"/>
          </a:xfrm>
          <a:prstGeom prst="roundRect">
            <a:avLst>
              <a:gd name="adj" fmla="val 50000"/>
            </a:avLst>
          </a:prstGeom>
          <a:solidFill>
            <a:srgbClr val="E1F2EF"/>
          </a:solidFill>
          <a:ln w="9525">
            <a:solidFill>
              <a:srgbClr val="E1F2EF"/>
            </a:solidFill>
            <a:prstDash val="solid"/>
          </a:ln>
        </p:spPr>
        <p:txBody>
          <a:bodyPr/>
          <a:lstStyle/>
          <a:p>
            <a:endParaRPr lang="en-MX"/>
          </a:p>
        </p:txBody>
      </p:sp>
      <p:sp>
        <p:nvSpPr>
          <p:cNvPr id="52" name="Text 50"/>
          <p:cNvSpPr txBox="1"/>
          <p:nvPr/>
        </p:nvSpPr>
        <p:spPr>
          <a:xfrm>
            <a:off x="6902714" y="4397502"/>
            <a:ext cx="747613" cy="220370"/>
          </a:xfrm>
          <a:prstGeom prst="rect">
            <a:avLst/>
          </a:prstGeom>
          <a:noFill/>
          <a:ln/>
        </p:spPr>
        <p:txBody>
          <a:bodyPr wrap="square" lIns="0" tIns="0" rIns="0" bIns="0" rtlCol="0" anchor="ctr"/>
          <a:lstStyle/>
          <a:p>
            <a:pPr marL="0" indent="0" algn="ctr">
              <a:buNone/>
            </a:pPr>
            <a:r>
              <a:rPr lang="en-US" sz="850" dirty="0">
                <a:solidFill>
                  <a:srgbClr val="1F7A70"/>
                </a:solidFill>
                <a:latin typeface="Calibri" pitchFamily="34" charset="0"/>
                <a:ea typeface="Calibri" pitchFamily="34" charset="-122"/>
                <a:cs typeface="Calibri" pitchFamily="34" charset="-120"/>
              </a:rPr>
              <a:t>WhatsApp</a:t>
            </a:r>
            <a:endParaRPr lang="en-US" sz="850" dirty="0"/>
          </a:p>
        </p:txBody>
      </p:sp>
      <p:sp>
        <p:nvSpPr>
          <p:cNvPr id="53" name="Text 51"/>
          <p:cNvSpPr txBox="1"/>
          <p:nvPr/>
        </p:nvSpPr>
        <p:spPr>
          <a:xfrm>
            <a:off x="4315968" y="4653534"/>
            <a:ext cx="3334360" cy="589788"/>
          </a:xfrm>
          <a:prstGeom prst="rect">
            <a:avLst/>
          </a:prstGeom>
          <a:noFill/>
          <a:ln/>
        </p:spPr>
        <p:txBody>
          <a:bodyPr wrap="square" lIns="0" tIns="0" rIns="0" bIns="0" rtlCol="0" anchor="t"/>
          <a:lstStyle/>
          <a:p>
            <a:pPr marL="0" indent="0">
              <a:lnSpc>
                <a:spcPct val="105000"/>
              </a:lnSpc>
              <a:buNone/>
            </a:pPr>
            <a:r>
              <a:rPr lang="en-US" sz="1200" dirty="0">
                <a:solidFill>
                  <a:srgbClr val="1B2230"/>
                </a:solidFill>
                <a:latin typeface="Cambria" pitchFamily="34" charset="0"/>
                <a:ea typeface="Cambria" pitchFamily="34" charset="-122"/>
                <a:cs typeface="Cambria" pitchFamily="34" charset="-120"/>
              </a:rPr>
              <a:t>One-minute video: answer with what you actually do, not with what you know you should. Direct link to where you left off.</a:t>
            </a:r>
            <a:endParaRPr lang="en-US" sz="1200" dirty="0"/>
          </a:p>
        </p:txBody>
      </p:sp>
      <p:sp>
        <p:nvSpPr>
          <p:cNvPr id="54" name="Shape 52"/>
          <p:cNvSpPr/>
          <p:nvPr/>
        </p:nvSpPr>
        <p:spPr>
          <a:xfrm>
            <a:off x="4315968" y="5334762"/>
            <a:ext cx="1654881" cy="232258"/>
          </a:xfrm>
          <a:prstGeom prst="roundRect">
            <a:avLst>
              <a:gd name="adj" fmla="val 50000"/>
            </a:avLst>
          </a:prstGeom>
          <a:solidFill>
            <a:srgbClr val="1B2230"/>
          </a:solidFill>
          <a:ln w="9525">
            <a:solidFill>
              <a:srgbClr val="1B2230"/>
            </a:solidFill>
            <a:prstDash val="solid"/>
          </a:ln>
        </p:spPr>
        <p:txBody>
          <a:bodyPr/>
          <a:lstStyle/>
          <a:p>
            <a:endParaRPr lang="en-MX"/>
          </a:p>
        </p:txBody>
      </p:sp>
      <p:sp>
        <p:nvSpPr>
          <p:cNvPr id="55" name="Text 53"/>
          <p:cNvSpPr txBox="1"/>
          <p:nvPr/>
        </p:nvSpPr>
        <p:spPr>
          <a:xfrm>
            <a:off x="4315968" y="5334762"/>
            <a:ext cx="1654881" cy="23225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Watch and continue</a:t>
            </a:r>
            <a:endParaRPr lang="en-US" sz="900" dirty="0"/>
          </a:p>
        </p:txBody>
      </p:sp>
      <p:sp>
        <p:nvSpPr>
          <p:cNvPr id="56" name="Shape 54"/>
          <p:cNvSpPr/>
          <p:nvPr/>
        </p:nvSpPr>
        <p:spPr>
          <a:xfrm>
            <a:off x="7933792" y="4269486"/>
            <a:ext cx="3645256" cy="1449324"/>
          </a:xfrm>
          <a:prstGeom prst="roundRect">
            <a:avLst>
              <a:gd name="adj" fmla="val 6309"/>
            </a:avLst>
          </a:prstGeom>
          <a:solidFill>
            <a:srgbClr val="FFFFFF"/>
          </a:solidFill>
          <a:ln w="9525">
            <a:solidFill>
              <a:srgbClr val="DDE1E8"/>
            </a:solidFill>
            <a:prstDash val="solid"/>
          </a:ln>
        </p:spPr>
        <p:txBody>
          <a:bodyPr/>
          <a:lstStyle/>
          <a:p>
            <a:endParaRPr lang="en-MX"/>
          </a:p>
        </p:txBody>
      </p:sp>
      <p:sp>
        <p:nvSpPr>
          <p:cNvPr id="57" name="Text 55"/>
          <p:cNvSpPr txBox="1"/>
          <p:nvPr/>
        </p:nvSpPr>
        <p:spPr>
          <a:xfrm>
            <a:off x="8089240" y="4379214"/>
            <a:ext cx="457200" cy="219456"/>
          </a:xfrm>
          <a:prstGeom prst="rect">
            <a:avLst/>
          </a:prstGeom>
          <a:noFill/>
          <a:ln/>
        </p:spPr>
        <p:txBody>
          <a:bodyPr wrap="square" lIns="0" tIns="0" rIns="0" bIns="0" rtlCol="0" anchor="ctr"/>
          <a:lstStyle/>
          <a:p>
            <a:pPr marL="0" indent="0">
              <a:buNone/>
            </a:pPr>
            <a:r>
              <a:rPr lang="en-US" sz="1200" b="1" dirty="0">
                <a:solidFill>
                  <a:srgbClr val="1B2230"/>
                </a:solidFill>
                <a:latin typeface="Calibri" pitchFamily="34" charset="0"/>
                <a:ea typeface="Calibri" pitchFamily="34" charset="-122"/>
                <a:cs typeface="Calibri" pitchFamily="34" charset="-120"/>
              </a:rPr>
              <a:t>C4</a:t>
            </a:r>
            <a:endParaRPr lang="en-US" sz="1200" dirty="0"/>
          </a:p>
        </p:txBody>
      </p:sp>
      <p:sp>
        <p:nvSpPr>
          <p:cNvPr id="58" name="Text 56"/>
          <p:cNvSpPr txBox="1"/>
          <p:nvPr/>
        </p:nvSpPr>
        <p:spPr>
          <a:xfrm>
            <a:off x="8363560" y="4379214"/>
            <a:ext cx="1962760" cy="219456"/>
          </a:xfrm>
          <a:prstGeom prst="rect">
            <a:avLst/>
          </a:prstGeom>
          <a:noFill/>
          <a:ln/>
        </p:spPr>
        <p:txBody>
          <a:bodyPr wrap="square" lIns="0" tIns="0" rIns="0" bIns="0" rtlCol="0" anchor="ctr"/>
          <a:lstStyle/>
          <a:p>
            <a:pPr marL="0" indent="0">
              <a:buNone/>
            </a:pPr>
            <a:r>
              <a:rPr lang="en-US" sz="950" dirty="0">
                <a:solidFill>
                  <a:srgbClr val="5B6475"/>
                </a:solidFill>
                <a:latin typeface="Calibri" pitchFamily="34" charset="0"/>
                <a:ea typeface="Calibri" pitchFamily="34" charset="-122"/>
                <a:cs typeface="Calibri" pitchFamily="34" charset="-120"/>
              </a:rPr>
              <a:t>Day 10</a:t>
            </a:r>
            <a:endParaRPr lang="en-US" sz="950" dirty="0"/>
          </a:p>
        </p:txBody>
      </p:sp>
      <p:sp>
        <p:nvSpPr>
          <p:cNvPr id="59" name="Shape 57"/>
          <p:cNvSpPr/>
          <p:nvPr/>
        </p:nvSpPr>
        <p:spPr>
          <a:xfrm>
            <a:off x="10867187" y="4397502"/>
            <a:ext cx="556412" cy="220370"/>
          </a:xfrm>
          <a:prstGeom prst="roundRect">
            <a:avLst>
              <a:gd name="adj" fmla="val 50000"/>
            </a:avLst>
          </a:prstGeom>
          <a:solidFill>
            <a:srgbClr val="E9ECF6"/>
          </a:solidFill>
          <a:ln w="9525">
            <a:solidFill>
              <a:srgbClr val="E9ECF6"/>
            </a:solidFill>
            <a:prstDash val="solid"/>
          </a:ln>
        </p:spPr>
        <p:txBody>
          <a:bodyPr/>
          <a:lstStyle/>
          <a:p>
            <a:endParaRPr lang="en-MX"/>
          </a:p>
        </p:txBody>
      </p:sp>
      <p:sp>
        <p:nvSpPr>
          <p:cNvPr id="60" name="Text 58"/>
          <p:cNvSpPr txBox="1"/>
          <p:nvPr/>
        </p:nvSpPr>
        <p:spPr>
          <a:xfrm>
            <a:off x="10867187" y="4397502"/>
            <a:ext cx="556412" cy="220370"/>
          </a:xfrm>
          <a:prstGeom prst="rect">
            <a:avLst/>
          </a:prstGeom>
          <a:noFill/>
          <a:ln/>
        </p:spPr>
        <p:txBody>
          <a:bodyPr wrap="square" lIns="0" tIns="0" rIns="0" bIns="0" rtlCol="0" anchor="ctr"/>
          <a:lstStyle/>
          <a:p>
            <a:pPr marL="0" indent="0" algn="ctr">
              <a:buNone/>
            </a:pPr>
            <a:r>
              <a:rPr lang="en-US" sz="850" dirty="0">
                <a:solidFill>
                  <a:srgbClr val="3D4F86"/>
                </a:solidFill>
                <a:latin typeface="Calibri" pitchFamily="34" charset="0"/>
                <a:ea typeface="Calibri" pitchFamily="34" charset="-122"/>
                <a:cs typeface="Calibri" pitchFamily="34" charset="-120"/>
              </a:rPr>
              <a:t>Email</a:t>
            </a:r>
            <a:endParaRPr lang="en-US" sz="850" dirty="0"/>
          </a:p>
        </p:txBody>
      </p:sp>
      <p:sp>
        <p:nvSpPr>
          <p:cNvPr id="61" name="Text 59"/>
          <p:cNvSpPr txBox="1"/>
          <p:nvPr/>
        </p:nvSpPr>
        <p:spPr>
          <a:xfrm>
            <a:off x="8089240" y="4653534"/>
            <a:ext cx="3334360" cy="188722"/>
          </a:xfrm>
          <a:prstGeom prst="rect">
            <a:avLst/>
          </a:prstGeom>
          <a:noFill/>
          <a:ln/>
        </p:spPr>
        <p:txBody>
          <a:bodyPr wrap="square" lIns="0" tIns="0" rIns="0" bIns="0" rtlCol="0" anchor="t"/>
          <a:lstStyle/>
          <a:p>
            <a:pPr marL="0" indent="0">
              <a:buNone/>
            </a:pPr>
            <a:r>
              <a:rPr lang="en-US" sz="1100" b="1" dirty="0">
                <a:solidFill>
                  <a:srgbClr val="1B2230"/>
                </a:solidFill>
                <a:latin typeface="Calibri" pitchFamily="34" charset="0"/>
                <a:ea typeface="Calibri" pitchFamily="34" charset="-122"/>
                <a:cs typeface="Calibri" pitchFamily="34" charset="-120"/>
              </a:rPr>
              <a:t>Your profile is still waiting for you</a:t>
            </a:r>
            <a:endParaRPr lang="en-US" sz="1100" dirty="0"/>
          </a:p>
        </p:txBody>
      </p:sp>
      <p:sp>
        <p:nvSpPr>
          <p:cNvPr id="62" name="Text 60"/>
          <p:cNvSpPr txBox="1"/>
          <p:nvPr/>
        </p:nvSpPr>
        <p:spPr>
          <a:xfrm>
            <a:off x="8089240" y="4878832"/>
            <a:ext cx="3334360" cy="589788"/>
          </a:xfrm>
          <a:prstGeom prst="rect">
            <a:avLst/>
          </a:prstGeom>
          <a:noFill/>
          <a:ln/>
        </p:spPr>
        <p:txBody>
          <a:bodyPr wrap="square" lIns="0" tIns="0" rIns="0" bIns="0" rtlCol="0" anchor="t"/>
          <a:lstStyle/>
          <a:p>
            <a:pPr marL="0" indent="0">
              <a:lnSpc>
                <a:spcPct val="105000"/>
              </a:lnSpc>
              <a:buNone/>
            </a:pPr>
            <a:r>
              <a:rPr lang="en-US" sz="1200" dirty="0">
                <a:solidFill>
                  <a:srgbClr val="1B2230"/>
                </a:solidFill>
                <a:latin typeface="Cambria" pitchFamily="34" charset="0"/>
                <a:ea typeface="Cambria" pitchFamily="34" charset="-122"/>
                <a:cs typeface="Cambria" pitchFamily="34" charset="-120"/>
              </a:rPr>
              <a:t>On the other side are your chart, your report, your Financial Fitness Workbook and Alan C. Walter's audio lesson. Your access is still active.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7F9"/>
        </a:solidFill>
        <a:effectLst/>
      </p:bgPr>
    </p:bg>
    <p:spTree>
      <p:nvGrpSpPr>
        <p:cNvPr id="1" name=""/>
        <p:cNvGrpSpPr/>
        <p:nvPr/>
      </p:nvGrpSpPr>
      <p:grpSpPr>
        <a:xfrm>
          <a:off x="0" y="0"/>
          <a:ext cx="0" cy="0"/>
          <a:chOff x="0" y="0"/>
          <a:chExt cx="0" cy="0"/>
        </a:xfrm>
      </p:grpSpPr>
      <p:sp>
        <p:nvSpPr>
          <p:cNvPr id="2" name="Text 0"/>
          <p:cNvSpPr txBox="1"/>
          <p:nvPr/>
        </p:nvSpPr>
        <p:spPr>
          <a:xfrm>
            <a:off x="612648" y="6446520"/>
            <a:ext cx="4572000" cy="228600"/>
          </a:xfrm>
          <a:prstGeom prst="rect">
            <a:avLst/>
          </a:prstGeom>
          <a:noFill/>
          <a:ln/>
        </p:spPr>
        <p:txBody>
          <a:bodyPr wrap="square" lIns="0" tIns="0" rIns="0" bIns="0" rtlCol="0" anchor="ctr"/>
          <a:lstStyle/>
          <a:p>
            <a:pPr marL="0" indent="0">
              <a:buNone/>
            </a:pPr>
            <a:r>
              <a:rPr lang="en-US" sz="900" dirty="0">
                <a:solidFill>
                  <a:srgbClr val="5B6475"/>
                </a:solidFill>
                <a:latin typeface="Calibri" pitchFamily="34" charset="0"/>
                <a:ea typeface="Calibri" pitchFamily="34" charset="-122"/>
                <a:cs typeface="Calibri" pitchFamily="34" charset="-120"/>
              </a:rPr>
              <a:t>Zones of Life: funnels and copy</a:t>
            </a:r>
            <a:endParaRPr lang="en-US" sz="900" dirty="0"/>
          </a:p>
        </p:txBody>
      </p:sp>
      <p:sp>
        <p:nvSpPr>
          <p:cNvPr id="3" name="Text 1"/>
          <p:cNvSpPr txBox="1"/>
          <p:nvPr/>
        </p:nvSpPr>
        <p:spPr>
          <a:xfrm>
            <a:off x="10881360" y="6446520"/>
            <a:ext cx="694944" cy="228600"/>
          </a:xfrm>
          <a:prstGeom prst="rect">
            <a:avLst/>
          </a:prstGeom>
          <a:noFill/>
          <a:ln/>
        </p:spPr>
        <p:txBody>
          <a:bodyPr wrap="square" lIns="0" tIns="0" rIns="0" bIns="0" rtlCol="0" anchor="ctr"/>
          <a:lstStyle/>
          <a:p>
            <a:pPr marL="0" indent="0" algn="r">
              <a:buNone/>
            </a:pPr>
            <a:r>
              <a:rPr lang="en-US" sz="900" dirty="0">
                <a:solidFill>
                  <a:srgbClr val="5B6475"/>
                </a:solidFill>
                <a:latin typeface="Calibri" pitchFamily="34" charset="0"/>
                <a:ea typeface="Calibri" pitchFamily="34" charset="-122"/>
                <a:cs typeface="Calibri" pitchFamily="34" charset="-120"/>
              </a:rPr>
              <a:t>9</a:t>
            </a:r>
            <a:endParaRPr lang="en-US" sz="900" dirty="0"/>
          </a:p>
        </p:txBody>
      </p:sp>
      <p:sp>
        <p:nvSpPr>
          <p:cNvPr id="4" name="Shape 2"/>
          <p:cNvSpPr/>
          <p:nvPr/>
        </p:nvSpPr>
        <p:spPr>
          <a:xfrm>
            <a:off x="612648" y="530352"/>
            <a:ext cx="1737360" cy="256032"/>
          </a:xfrm>
          <a:prstGeom prst="roundRect">
            <a:avLst>
              <a:gd name="adj" fmla="val 50000"/>
            </a:avLst>
          </a:prstGeom>
          <a:solidFill>
            <a:srgbClr val="F5E6EE"/>
          </a:solidFill>
          <a:ln w="9525">
            <a:solidFill>
              <a:srgbClr val="F5E6EE"/>
            </a:solidFill>
            <a:prstDash val="solid"/>
          </a:ln>
        </p:spPr>
        <p:txBody>
          <a:bodyPr/>
          <a:lstStyle/>
          <a:p>
            <a:endParaRPr lang="en-MX"/>
          </a:p>
        </p:txBody>
      </p:sp>
      <p:sp>
        <p:nvSpPr>
          <p:cNvPr id="5" name="Text 3"/>
          <p:cNvSpPr txBox="1"/>
          <p:nvPr/>
        </p:nvSpPr>
        <p:spPr>
          <a:xfrm>
            <a:off x="612648" y="530352"/>
            <a:ext cx="1737360" cy="256032"/>
          </a:xfrm>
          <a:prstGeom prst="rect">
            <a:avLst/>
          </a:prstGeom>
          <a:noFill/>
          <a:ln/>
        </p:spPr>
        <p:txBody>
          <a:bodyPr wrap="square" lIns="0" tIns="0" rIns="0" bIns="0" rtlCol="0" anchor="ctr"/>
          <a:lstStyle/>
          <a:p>
            <a:pPr marL="0" indent="0" algn="ctr">
              <a:buNone/>
            </a:pPr>
            <a:r>
              <a:rPr lang="en-US" sz="1000" b="1" dirty="0">
                <a:solidFill>
                  <a:srgbClr val="9A3D6A"/>
                </a:solidFill>
                <a:latin typeface="Calibri" pitchFamily="34" charset="0"/>
                <a:ea typeface="Calibri" pitchFamily="34" charset="-122"/>
                <a:cs typeface="Calibri" pitchFamily="34" charset="-120"/>
              </a:rPr>
              <a:t>Recovery, 1 of 2</a:t>
            </a:r>
            <a:endParaRPr lang="en-US" sz="1000" dirty="0"/>
          </a:p>
        </p:txBody>
      </p:sp>
      <p:sp>
        <p:nvSpPr>
          <p:cNvPr id="6" name="Text 4"/>
          <p:cNvSpPr txBox="1"/>
          <p:nvPr/>
        </p:nvSpPr>
        <p:spPr>
          <a:xfrm>
            <a:off x="612648" y="941832"/>
            <a:ext cx="3200400" cy="1197864"/>
          </a:xfrm>
          <a:prstGeom prst="rect">
            <a:avLst/>
          </a:prstGeom>
          <a:noFill/>
          <a:ln/>
        </p:spPr>
        <p:txBody>
          <a:bodyPr wrap="square" lIns="0" tIns="0" rIns="0" bIns="0" rtlCol="0" anchor="t"/>
          <a:lstStyle/>
          <a:p>
            <a:pPr marL="0" indent="0">
              <a:lnSpc>
                <a:spcPct val="95000"/>
              </a:lnSpc>
              <a:buNone/>
            </a:pPr>
            <a:r>
              <a:rPr lang="en-US" sz="2800" dirty="0">
                <a:solidFill>
                  <a:srgbClr val="1B2230"/>
                </a:solidFill>
                <a:latin typeface="Cambria" pitchFamily="34" charset="0"/>
                <a:ea typeface="Cambria" pitchFamily="34" charset="-122"/>
                <a:cs typeface="Cambria" pitchFamily="34" charset="-120"/>
              </a:rPr>
              <a:t>Flow D: profile ready, no booking</a:t>
            </a:r>
            <a:endParaRPr lang="en-US" sz="2800" dirty="0"/>
          </a:p>
        </p:txBody>
      </p:sp>
      <p:sp>
        <p:nvSpPr>
          <p:cNvPr id="7" name="Text 5"/>
          <p:cNvSpPr txBox="1"/>
          <p:nvPr/>
        </p:nvSpPr>
        <p:spPr>
          <a:xfrm>
            <a:off x="612648" y="2304288"/>
            <a:ext cx="3200400" cy="423926"/>
          </a:xfrm>
          <a:prstGeom prst="rect">
            <a:avLst/>
          </a:prstGeom>
          <a:noFill/>
          <a:ln/>
        </p:spPr>
        <p:txBody>
          <a:bodyPr wrap="square" lIns="0" tIns="0" rIns="0" bIns="0" rtlCol="0" anchor="t"/>
          <a:lstStyle/>
          <a:p>
            <a:pPr marL="0" indent="0">
              <a:buNone/>
            </a:pPr>
            <a:r>
              <a:rPr lang="en-US" sz="1250" b="1" dirty="0">
                <a:solidFill>
                  <a:srgbClr val="1B2230"/>
                </a:solidFill>
                <a:latin typeface="Calibri" pitchFamily="34" charset="0"/>
                <a:ea typeface="Calibri" pitchFamily="34" charset="-122"/>
                <a:cs typeface="Calibri" pitchFamily="34" charset="-120"/>
              </a:rPr>
              <a:t>Enters</a:t>
            </a:r>
            <a:endParaRPr lang="en-US" sz="1250" dirty="0"/>
          </a:p>
          <a:p>
            <a:pPr marL="0" indent="0">
              <a:buNone/>
            </a:pPr>
            <a:r>
              <a:rPr lang="en-US" sz="1250" dirty="0">
                <a:solidFill>
                  <a:srgbClr val="5B6475"/>
                </a:solidFill>
                <a:latin typeface="Calibri" pitchFamily="34" charset="0"/>
                <a:ea typeface="Calibri" pitchFamily="34" charset="-122"/>
                <a:cs typeface="Calibri" pitchFamily="34" charset="-120"/>
              </a:rPr>
              <a:t>Received their chart and report</a:t>
            </a:r>
            <a:endParaRPr lang="en-US" sz="1250" dirty="0"/>
          </a:p>
        </p:txBody>
      </p:sp>
      <p:sp>
        <p:nvSpPr>
          <p:cNvPr id="8" name="Text 6"/>
          <p:cNvSpPr txBox="1"/>
          <p:nvPr/>
        </p:nvSpPr>
        <p:spPr>
          <a:xfrm>
            <a:off x="612648" y="2856230"/>
            <a:ext cx="3200400" cy="423926"/>
          </a:xfrm>
          <a:prstGeom prst="rect">
            <a:avLst/>
          </a:prstGeom>
          <a:noFill/>
          <a:ln/>
        </p:spPr>
        <p:txBody>
          <a:bodyPr wrap="square" lIns="0" tIns="0" rIns="0" bIns="0" rtlCol="0" anchor="t"/>
          <a:lstStyle/>
          <a:p>
            <a:pPr marL="0" indent="0">
              <a:buNone/>
            </a:pPr>
            <a:r>
              <a:rPr lang="en-US" sz="1250" b="1" dirty="0">
                <a:solidFill>
                  <a:srgbClr val="1B2230"/>
                </a:solidFill>
                <a:latin typeface="Calibri" pitchFamily="34" charset="0"/>
                <a:ea typeface="Calibri" pitchFamily="34" charset="-122"/>
                <a:cs typeface="Calibri" pitchFamily="34" charset="-120"/>
              </a:rPr>
              <a:t>Exits</a:t>
            </a:r>
            <a:endParaRPr lang="en-US" sz="1250" dirty="0"/>
          </a:p>
          <a:p>
            <a:pPr marL="0" indent="0">
              <a:buNone/>
            </a:pPr>
            <a:r>
              <a:rPr lang="en-US" sz="1250" dirty="0">
                <a:solidFill>
                  <a:srgbClr val="5B6475"/>
                </a:solidFill>
                <a:latin typeface="Calibri" pitchFamily="34" charset="0"/>
                <a:ea typeface="Calibri" pitchFamily="34" charset="-122"/>
                <a:cs typeface="Calibri" pitchFamily="34" charset="-120"/>
              </a:rPr>
              <a:t>Books the Private Review</a:t>
            </a:r>
            <a:endParaRPr lang="en-US" sz="1250" dirty="0"/>
          </a:p>
        </p:txBody>
      </p:sp>
      <p:sp>
        <p:nvSpPr>
          <p:cNvPr id="9" name="Text 7"/>
          <p:cNvSpPr txBox="1"/>
          <p:nvPr/>
        </p:nvSpPr>
        <p:spPr>
          <a:xfrm>
            <a:off x="612648" y="3408172"/>
            <a:ext cx="3200400" cy="423926"/>
          </a:xfrm>
          <a:prstGeom prst="rect">
            <a:avLst/>
          </a:prstGeom>
          <a:noFill/>
          <a:ln/>
        </p:spPr>
        <p:txBody>
          <a:bodyPr wrap="square" lIns="0" tIns="0" rIns="0" bIns="0" rtlCol="0" anchor="t"/>
          <a:lstStyle/>
          <a:p>
            <a:pPr marL="0" indent="0">
              <a:buNone/>
            </a:pPr>
            <a:r>
              <a:rPr lang="en-US" sz="1250" b="1" dirty="0">
                <a:solidFill>
                  <a:srgbClr val="1B2230"/>
                </a:solidFill>
                <a:latin typeface="Calibri" pitchFamily="34" charset="0"/>
                <a:ea typeface="Calibri" pitchFamily="34" charset="-122"/>
                <a:cs typeface="Calibri" pitchFamily="34" charset="-120"/>
              </a:rPr>
              <a:t>If no reply</a:t>
            </a:r>
            <a:endParaRPr lang="en-US" sz="1250" dirty="0"/>
          </a:p>
          <a:p>
            <a:pPr marL="0" indent="0">
              <a:buNone/>
            </a:pPr>
            <a:r>
              <a:rPr lang="en-US" sz="1250" dirty="0">
                <a:solidFill>
                  <a:srgbClr val="5B6475"/>
                </a:solidFill>
                <a:latin typeface="Calibri" pitchFamily="34" charset="0"/>
                <a:ea typeface="Calibri" pitchFamily="34" charset="-122"/>
                <a:cs typeface="Calibri" pitchFamily="34" charset="-120"/>
              </a:rPr>
              <a:t>Monthly nurture and 90-day re-assessment</a:t>
            </a:r>
            <a:endParaRPr lang="en-US" sz="1250" dirty="0"/>
          </a:p>
        </p:txBody>
      </p:sp>
      <p:sp>
        <p:nvSpPr>
          <p:cNvPr id="10" name="Shape 8"/>
          <p:cNvSpPr/>
          <p:nvPr/>
        </p:nvSpPr>
        <p:spPr>
          <a:xfrm>
            <a:off x="4160520" y="530352"/>
            <a:ext cx="7418527" cy="1465834"/>
          </a:xfrm>
          <a:prstGeom prst="roundRect">
            <a:avLst>
              <a:gd name="adj" fmla="val 6238"/>
            </a:avLst>
          </a:prstGeom>
          <a:solidFill>
            <a:srgbClr val="FFFFFF"/>
          </a:solidFill>
          <a:ln w="9525">
            <a:solidFill>
              <a:srgbClr val="DDE1E8"/>
            </a:solidFill>
            <a:prstDash val="solid"/>
          </a:ln>
        </p:spPr>
        <p:txBody>
          <a:bodyPr/>
          <a:lstStyle/>
          <a:p>
            <a:endParaRPr lang="en-MX"/>
          </a:p>
        </p:txBody>
      </p:sp>
      <p:sp>
        <p:nvSpPr>
          <p:cNvPr id="11" name="Text 9"/>
          <p:cNvSpPr txBox="1"/>
          <p:nvPr/>
        </p:nvSpPr>
        <p:spPr>
          <a:xfrm>
            <a:off x="4315968" y="640080"/>
            <a:ext cx="457200" cy="219456"/>
          </a:xfrm>
          <a:prstGeom prst="rect">
            <a:avLst/>
          </a:prstGeom>
          <a:noFill/>
          <a:ln/>
        </p:spPr>
        <p:txBody>
          <a:bodyPr wrap="square" lIns="0" tIns="0" rIns="0" bIns="0" rtlCol="0" anchor="ctr"/>
          <a:lstStyle/>
          <a:p>
            <a:pPr marL="0" indent="0">
              <a:buNone/>
            </a:pPr>
            <a:r>
              <a:rPr lang="en-US" sz="1200" b="1" dirty="0">
                <a:solidFill>
                  <a:srgbClr val="1B2230"/>
                </a:solidFill>
                <a:latin typeface="Calibri" pitchFamily="34" charset="0"/>
                <a:ea typeface="Calibri" pitchFamily="34" charset="-122"/>
                <a:cs typeface="Calibri" pitchFamily="34" charset="-120"/>
              </a:rPr>
              <a:t>D1</a:t>
            </a:r>
            <a:endParaRPr lang="en-US" sz="1200" dirty="0"/>
          </a:p>
        </p:txBody>
      </p:sp>
      <p:sp>
        <p:nvSpPr>
          <p:cNvPr id="12" name="Text 10"/>
          <p:cNvSpPr txBox="1"/>
          <p:nvPr/>
        </p:nvSpPr>
        <p:spPr>
          <a:xfrm>
            <a:off x="4590288" y="640080"/>
            <a:ext cx="5736031" cy="219456"/>
          </a:xfrm>
          <a:prstGeom prst="rect">
            <a:avLst/>
          </a:prstGeom>
          <a:noFill/>
          <a:ln/>
        </p:spPr>
        <p:txBody>
          <a:bodyPr wrap="square" lIns="0" tIns="0" rIns="0" bIns="0" rtlCol="0" anchor="ctr"/>
          <a:lstStyle/>
          <a:p>
            <a:pPr marL="0" indent="0">
              <a:buNone/>
            </a:pPr>
            <a:r>
              <a:rPr lang="en-US" sz="950" dirty="0">
                <a:solidFill>
                  <a:srgbClr val="5B6475"/>
                </a:solidFill>
                <a:latin typeface="Calibri" pitchFamily="34" charset="0"/>
                <a:ea typeface="Calibri" pitchFamily="34" charset="-122"/>
                <a:cs typeface="Calibri" pitchFamily="34" charset="-120"/>
              </a:rPr>
              <a:t>Immediate</a:t>
            </a:r>
            <a:endParaRPr lang="en-US" sz="950" dirty="0"/>
          </a:p>
        </p:txBody>
      </p:sp>
      <p:sp>
        <p:nvSpPr>
          <p:cNvPr id="13" name="Shape 11"/>
          <p:cNvSpPr/>
          <p:nvPr/>
        </p:nvSpPr>
        <p:spPr>
          <a:xfrm>
            <a:off x="10867187" y="658368"/>
            <a:ext cx="556412" cy="220370"/>
          </a:xfrm>
          <a:prstGeom prst="roundRect">
            <a:avLst>
              <a:gd name="adj" fmla="val 50000"/>
            </a:avLst>
          </a:prstGeom>
          <a:solidFill>
            <a:srgbClr val="E9ECF6"/>
          </a:solidFill>
          <a:ln w="9525">
            <a:solidFill>
              <a:srgbClr val="E9ECF6"/>
            </a:solidFill>
            <a:prstDash val="solid"/>
          </a:ln>
        </p:spPr>
        <p:txBody>
          <a:bodyPr/>
          <a:lstStyle/>
          <a:p>
            <a:endParaRPr lang="en-MX"/>
          </a:p>
        </p:txBody>
      </p:sp>
      <p:sp>
        <p:nvSpPr>
          <p:cNvPr id="14" name="Text 12"/>
          <p:cNvSpPr txBox="1"/>
          <p:nvPr/>
        </p:nvSpPr>
        <p:spPr>
          <a:xfrm>
            <a:off x="10867187" y="658368"/>
            <a:ext cx="556412" cy="220370"/>
          </a:xfrm>
          <a:prstGeom prst="rect">
            <a:avLst/>
          </a:prstGeom>
          <a:noFill/>
          <a:ln/>
        </p:spPr>
        <p:txBody>
          <a:bodyPr wrap="square" lIns="0" tIns="0" rIns="0" bIns="0" rtlCol="0" anchor="ctr"/>
          <a:lstStyle/>
          <a:p>
            <a:pPr marL="0" indent="0" algn="ctr">
              <a:buNone/>
            </a:pPr>
            <a:r>
              <a:rPr lang="en-US" sz="850" dirty="0">
                <a:solidFill>
                  <a:srgbClr val="3D4F86"/>
                </a:solidFill>
                <a:latin typeface="Calibri" pitchFamily="34" charset="0"/>
                <a:ea typeface="Calibri" pitchFamily="34" charset="-122"/>
                <a:cs typeface="Calibri" pitchFamily="34" charset="-120"/>
              </a:rPr>
              <a:t>Email</a:t>
            </a:r>
            <a:endParaRPr lang="en-US" sz="850" dirty="0"/>
          </a:p>
        </p:txBody>
      </p:sp>
      <p:sp>
        <p:nvSpPr>
          <p:cNvPr id="15" name="Text 13"/>
          <p:cNvSpPr txBox="1"/>
          <p:nvPr/>
        </p:nvSpPr>
        <p:spPr>
          <a:xfrm>
            <a:off x="4315968" y="914400"/>
            <a:ext cx="7107631" cy="188722"/>
          </a:xfrm>
          <a:prstGeom prst="rect">
            <a:avLst/>
          </a:prstGeom>
          <a:noFill/>
          <a:ln/>
        </p:spPr>
        <p:txBody>
          <a:bodyPr wrap="square" lIns="0" tIns="0" rIns="0" bIns="0" rtlCol="0" anchor="t"/>
          <a:lstStyle/>
          <a:p>
            <a:pPr marL="0" indent="0">
              <a:buNone/>
            </a:pPr>
            <a:r>
              <a:rPr lang="en-US" sz="1100" b="1" dirty="0">
                <a:solidFill>
                  <a:srgbClr val="3D4F86"/>
                </a:solidFill>
                <a:latin typeface="Calibri" pitchFamily="34" charset="0"/>
                <a:ea typeface="Calibri" pitchFamily="34" charset="-122"/>
                <a:cs typeface="Calibri" pitchFamily="34" charset="-120"/>
              </a:rPr>
              <a:t>{{nombre}}, your Financial Health Profile is ready</a:t>
            </a:r>
            <a:endParaRPr lang="en-US" sz="1100" dirty="0"/>
          </a:p>
        </p:txBody>
      </p:sp>
      <p:sp>
        <p:nvSpPr>
          <p:cNvPr id="16" name="Text 14"/>
          <p:cNvSpPr txBox="1"/>
          <p:nvPr/>
        </p:nvSpPr>
        <p:spPr>
          <a:xfrm>
            <a:off x="4315968" y="1139698"/>
            <a:ext cx="7107631" cy="399288"/>
          </a:xfrm>
          <a:prstGeom prst="rect">
            <a:avLst/>
          </a:prstGeom>
          <a:noFill/>
          <a:ln/>
        </p:spPr>
        <p:txBody>
          <a:bodyPr wrap="square" lIns="0" tIns="0" rIns="0" bIns="0" rtlCol="0" anchor="t"/>
          <a:lstStyle/>
          <a:p>
            <a:pPr marL="0" indent="0">
              <a:lnSpc>
                <a:spcPct val="105000"/>
              </a:lnSpc>
              <a:buNone/>
            </a:pPr>
            <a:r>
              <a:rPr lang="en-US" sz="1200" dirty="0">
                <a:solidFill>
                  <a:srgbClr val="1B2230"/>
                </a:solidFill>
                <a:latin typeface="Cambria" pitchFamily="34" charset="0"/>
                <a:ea typeface="Cambria" pitchFamily="34" charset="-122"/>
                <a:cs typeface="Cambria" pitchFamily="34" charset="-120"/>
              </a:rPr>
              <a:t>Chart, report, workbook and audio lesson. Finish the workbook and you'll have your 90-day plan. The Private Review with a coach: {{duracion_sesion}} minutes, {{precio_sesion}}.</a:t>
            </a:r>
            <a:endParaRPr lang="en-US" sz="1200" dirty="0"/>
          </a:p>
        </p:txBody>
      </p:sp>
      <p:sp>
        <p:nvSpPr>
          <p:cNvPr id="17" name="Shape 15"/>
          <p:cNvSpPr/>
          <p:nvPr/>
        </p:nvSpPr>
        <p:spPr>
          <a:xfrm>
            <a:off x="4315968" y="1630426"/>
            <a:ext cx="1182502" cy="232258"/>
          </a:xfrm>
          <a:prstGeom prst="roundRect">
            <a:avLst>
              <a:gd name="adj" fmla="val 50000"/>
            </a:avLst>
          </a:prstGeom>
          <a:solidFill>
            <a:srgbClr val="1B2230"/>
          </a:solidFill>
          <a:ln w="9525">
            <a:solidFill>
              <a:srgbClr val="1B2230"/>
            </a:solidFill>
            <a:prstDash val="solid"/>
          </a:ln>
        </p:spPr>
        <p:txBody>
          <a:bodyPr/>
          <a:lstStyle/>
          <a:p>
            <a:endParaRPr lang="en-MX"/>
          </a:p>
        </p:txBody>
      </p:sp>
      <p:sp>
        <p:nvSpPr>
          <p:cNvPr id="18" name="Text 16"/>
          <p:cNvSpPr txBox="1"/>
          <p:nvPr/>
        </p:nvSpPr>
        <p:spPr>
          <a:xfrm>
            <a:off x="4315968" y="1630426"/>
            <a:ext cx="1182502" cy="23225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See my profile</a:t>
            </a:r>
            <a:endParaRPr lang="en-US" sz="900" dirty="0"/>
          </a:p>
        </p:txBody>
      </p:sp>
      <p:sp>
        <p:nvSpPr>
          <p:cNvPr id="19" name="Shape 17"/>
          <p:cNvSpPr/>
          <p:nvPr/>
        </p:nvSpPr>
        <p:spPr>
          <a:xfrm>
            <a:off x="5571622" y="1630426"/>
            <a:ext cx="1384950" cy="232258"/>
          </a:xfrm>
          <a:prstGeom prst="roundRect">
            <a:avLst>
              <a:gd name="adj" fmla="val 50000"/>
            </a:avLst>
          </a:prstGeom>
          <a:solidFill>
            <a:srgbClr val="FFFFFF"/>
          </a:solidFill>
          <a:ln w="9525">
            <a:solidFill>
              <a:srgbClr val="DDE1E8"/>
            </a:solidFill>
            <a:prstDash val="solid"/>
          </a:ln>
        </p:spPr>
        <p:txBody>
          <a:bodyPr/>
          <a:lstStyle/>
          <a:p>
            <a:endParaRPr lang="en-MX"/>
          </a:p>
        </p:txBody>
      </p:sp>
      <p:sp>
        <p:nvSpPr>
          <p:cNvPr id="20" name="Text 18"/>
          <p:cNvSpPr txBox="1"/>
          <p:nvPr/>
        </p:nvSpPr>
        <p:spPr>
          <a:xfrm>
            <a:off x="5571622" y="1630426"/>
            <a:ext cx="1384950" cy="232258"/>
          </a:xfrm>
          <a:prstGeom prst="rect">
            <a:avLst/>
          </a:prstGeom>
          <a:noFill/>
          <a:ln/>
        </p:spPr>
        <p:txBody>
          <a:bodyPr wrap="square" lIns="0" tIns="0" rIns="0" bIns="0" rtlCol="0" anchor="ctr"/>
          <a:lstStyle/>
          <a:p>
            <a:pPr marL="0" indent="0" algn="ctr">
              <a:buNone/>
            </a:pPr>
            <a:r>
              <a:rPr lang="en-US" sz="900" dirty="0">
                <a:solidFill>
                  <a:srgbClr val="1B2230"/>
                </a:solidFill>
                <a:latin typeface="Calibri" pitchFamily="34" charset="0"/>
                <a:ea typeface="Calibri" pitchFamily="34" charset="-122"/>
                <a:cs typeface="Calibri" pitchFamily="34" charset="-120"/>
              </a:rPr>
              <a:t>See the Private Review</a:t>
            </a:r>
            <a:endParaRPr lang="en-US" sz="900" dirty="0"/>
          </a:p>
        </p:txBody>
      </p:sp>
      <p:sp>
        <p:nvSpPr>
          <p:cNvPr id="21" name="Shape 19"/>
          <p:cNvSpPr/>
          <p:nvPr/>
        </p:nvSpPr>
        <p:spPr>
          <a:xfrm>
            <a:off x="4160520" y="2124202"/>
            <a:ext cx="7418527" cy="1258824"/>
          </a:xfrm>
          <a:prstGeom prst="roundRect">
            <a:avLst>
              <a:gd name="adj" fmla="val 7264"/>
            </a:avLst>
          </a:prstGeom>
          <a:solidFill>
            <a:srgbClr val="FFFFFF"/>
          </a:solidFill>
          <a:ln w="9525">
            <a:solidFill>
              <a:srgbClr val="DDE1E8"/>
            </a:solidFill>
            <a:prstDash val="solid"/>
          </a:ln>
        </p:spPr>
        <p:txBody>
          <a:bodyPr/>
          <a:lstStyle/>
          <a:p>
            <a:endParaRPr lang="en-MX"/>
          </a:p>
        </p:txBody>
      </p:sp>
      <p:sp>
        <p:nvSpPr>
          <p:cNvPr id="22" name="Text 20"/>
          <p:cNvSpPr txBox="1"/>
          <p:nvPr/>
        </p:nvSpPr>
        <p:spPr>
          <a:xfrm>
            <a:off x="4315968" y="2233930"/>
            <a:ext cx="457200" cy="219456"/>
          </a:xfrm>
          <a:prstGeom prst="rect">
            <a:avLst/>
          </a:prstGeom>
          <a:noFill/>
          <a:ln/>
        </p:spPr>
        <p:txBody>
          <a:bodyPr wrap="square" lIns="0" tIns="0" rIns="0" bIns="0" rtlCol="0" anchor="ctr"/>
          <a:lstStyle/>
          <a:p>
            <a:pPr marL="0" indent="0">
              <a:buNone/>
            </a:pPr>
            <a:r>
              <a:rPr lang="en-US" sz="1200" b="1" dirty="0">
                <a:solidFill>
                  <a:srgbClr val="1B2230"/>
                </a:solidFill>
                <a:latin typeface="Calibri" pitchFamily="34" charset="0"/>
                <a:ea typeface="Calibri" pitchFamily="34" charset="-122"/>
                <a:cs typeface="Calibri" pitchFamily="34" charset="-120"/>
              </a:rPr>
              <a:t>D2</a:t>
            </a:r>
            <a:endParaRPr lang="en-US" sz="1200" dirty="0"/>
          </a:p>
        </p:txBody>
      </p:sp>
      <p:sp>
        <p:nvSpPr>
          <p:cNvPr id="23" name="Text 21"/>
          <p:cNvSpPr txBox="1"/>
          <p:nvPr/>
        </p:nvSpPr>
        <p:spPr>
          <a:xfrm>
            <a:off x="4590288" y="2233930"/>
            <a:ext cx="5736031" cy="219456"/>
          </a:xfrm>
          <a:prstGeom prst="rect">
            <a:avLst/>
          </a:prstGeom>
          <a:noFill/>
          <a:ln/>
        </p:spPr>
        <p:txBody>
          <a:bodyPr wrap="square" lIns="0" tIns="0" rIns="0" bIns="0" rtlCol="0" anchor="ctr"/>
          <a:lstStyle/>
          <a:p>
            <a:pPr marL="0" indent="0">
              <a:buNone/>
            </a:pPr>
            <a:r>
              <a:rPr lang="en-US" sz="950" dirty="0">
                <a:solidFill>
                  <a:srgbClr val="5B6475"/>
                </a:solidFill>
                <a:latin typeface="Calibri" pitchFamily="34" charset="0"/>
                <a:ea typeface="Calibri" pitchFamily="34" charset="-122"/>
                <a:cs typeface="Calibri" pitchFamily="34" charset="-120"/>
              </a:rPr>
              <a:t>Immediate</a:t>
            </a:r>
            <a:endParaRPr lang="en-US" sz="950" dirty="0"/>
          </a:p>
        </p:txBody>
      </p:sp>
      <p:sp>
        <p:nvSpPr>
          <p:cNvPr id="24" name="Shape 22"/>
          <p:cNvSpPr/>
          <p:nvPr/>
        </p:nvSpPr>
        <p:spPr>
          <a:xfrm>
            <a:off x="10675986" y="2252218"/>
            <a:ext cx="747613" cy="220370"/>
          </a:xfrm>
          <a:prstGeom prst="roundRect">
            <a:avLst>
              <a:gd name="adj" fmla="val 50000"/>
            </a:avLst>
          </a:prstGeom>
          <a:solidFill>
            <a:srgbClr val="E1F2EF"/>
          </a:solidFill>
          <a:ln w="9525">
            <a:solidFill>
              <a:srgbClr val="E1F2EF"/>
            </a:solidFill>
            <a:prstDash val="solid"/>
          </a:ln>
        </p:spPr>
        <p:txBody>
          <a:bodyPr/>
          <a:lstStyle/>
          <a:p>
            <a:endParaRPr lang="en-MX"/>
          </a:p>
        </p:txBody>
      </p:sp>
      <p:sp>
        <p:nvSpPr>
          <p:cNvPr id="25" name="Text 23"/>
          <p:cNvSpPr txBox="1"/>
          <p:nvPr/>
        </p:nvSpPr>
        <p:spPr>
          <a:xfrm>
            <a:off x="10675986" y="2252218"/>
            <a:ext cx="747613" cy="220370"/>
          </a:xfrm>
          <a:prstGeom prst="rect">
            <a:avLst/>
          </a:prstGeom>
          <a:noFill/>
          <a:ln/>
        </p:spPr>
        <p:txBody>
          <a:bodyPr wrap="square" lIns="0" tIns="0" rIns="0" bIns="0" rtlCol="0" anchor="ctr"/>
          <a:lstStyle/>
          <a:p>
            <a:pPr marL="0" indent="0" algn="ctr">
              <a:buNone/>
            </a:pPr>
            <a:r>
              <a:rPr lang="en-US" sz="850" dirty="0">
                <a:solidFill>
                  <a:srgbClr val="1F7A70"/>
                </a:solidFill>
                <a:latin typeface="Calibri" pitchFamily="34" charset="0"/>
                <a:ea typeface="Calibri" pitchFamily="34" charset="-122"/>
                <a:cs typeface="Calibri" pitchFamily="34" charset="-120"/>
              </a:rPr>
              <a:t>WhatsApp</a:t>
            </a:r>
            <a:endParaRPr lang="en-US" sz="850" dirty="0"/>
          </a:p>
        </p:txBody>
      </p:sp>
      <p:sp>
        <p:nvSpPr>
          <p:cNvPr id="26" name="Text 24"/>
          <p:cNvSpPr txBox="1"/>
          <p:nvPr/>
        </p:nvSpPr>
        <p:spPr>
          <a:xfrm>
            <a:off x="4315968" y="2508250"/>
            <a:ext cx="7107631" cy="399288"/>
          </a:xfrm>
          <a:prstGeom prst="rect">
            <a:avLst/>
          </a:prstGeom>
          <a:noFill/>
          <a:ln/>
        </p:spPr>
        <p:txBody>
          <a:bodyPr wrap="square" lIns="0" tIns="0" rIns="0" bIns="0" rtlCol="0" anchor="t"/>
          <a:lstStyle/>
          <a:p>
            <a:pPr marL="0" indent="0">
              <a:lnSpc>
                <a:spcPct val="105000"/>
              </a:lnSpc>
              <a:buNone/>
            </a:pPr>
            <a:r>
              <a:rPr lang="en-US" sz="1200" dirty="0">
                <a:solidFill>
                  <a:srgbClr val="3D4F86"/>
                </a:solidFill>
                <a:latin typeface="Calibri" pitchFamily="34" charset="0"/>
                <a:ea typeface="Calibri" pitchFamily="34" charset="-122"/>
                <a:cs typeface="Calibri" pitchFamily="34" charset="-120"/>
              </a:rPr>
              <a:t>{{nombre}}, your Financial Health Profile is in your account: chart, report and workbook. If you want to read it with a coach, the Private Review costs {{precio_sesion}}.</a:t>
            </a:r>
            <a:endParaRPr lang="en-US" sz="1200" dirty="0"/>
          </a:p>
        </p:txBody>
      </p:sp>
      <p:sp>
        <p:nvSpPr>
          <p:cNvPr id="27" name="Shape 25"/>
          <p:cNvSpPr/>
          <p:nvPr/>
        </p:nvSpPr>
        <p:spPr>
          <a:xfrm>
            <a:off x="4315968" y="2998978"/>
            <a:ext cx="1182502" cy="232258"/>
          </a:xfrm>
          <a:prstGeom prst="roundRect">
            <a:avLst>
              <a:gd name="adj" fmla="val 50000"/>
            </a:avLst>
          </a:prstGeom>
          <a:solidFill>
            <a:srgbClr val="1B2230"/>
          </a:solidFill>
          <a:ln w="9525">
            <a:solidFill>
              <a:srgbClr val="1B2230"/>
            </a:solidFill>
            <a:prstDash val="solid"/>
          </a:ln>
        </p:spPr>
        <p:txBody>
          <a:bodyPr/>
          <a:lstStyle/>
          <a:p>
            <a:endParaRPr lang="en-MX"/>
          </a:p>
        </p:txBody>
      </p:sp>
      <p:sp>
        <p:nvSpPr>
          <p:cNvPr id="28" name="Text 26"/>
          <p:cNvSpPr txBox="1"/>
          <p:nvPr/>
        </p:nvSpPr>
        <p:spPr>
          <a:xfrm>
            <a:off x="4315968" y="2998978"/>
            <a:ext cx="1182502" cy="23225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See my profile</a:t>
            </a:r>
            <a:endParaRPr lang="en-US" sz="900" dirty="0"/>
          </a:p>
        </p:txBody>
      </p:sp>
      <p:sp>
        <p:nvSpPr>
          <p:cNvPr id="29" name="Shape 27"/>
          <p:cNvSpPr/>
          <p:nvPr/>
        </p:nvSpPr>
        <p:spPr>
          <a:xfrm>
            <a:off x="5571622" y="2998978"/>
            <a:ext cx="1182502" cy="232258"/>
          </a:xfrm>
          <a:prstGeom prst="roundRect">
            <a:avLst>
              <a:gd name="adj" fmla="val 50000"/>
            </a:avLst>
          </a:prstGeom>
          <a:solidFill>
            <a:srgbClr val="FFFFFF"/>
          </a:solidFill>
          <a:ln w="9525">
            <a:solidFill>
              <a:srgbClr val="DDE1E8"/>
            </a:solidFill>
            <a:prstDash val="solid"/>
          </a:ln>
        </p:spPr>
        <p:txBody>
          <a:bodyPr/>
          <a:lstStyle/>
          <a:p>
            <a:endParaRPr lang="en-MX"/>
          </a:p>
        </p:txBody>
      </p:sp>
      <p:sp>
        <p:nvSpPr>
          <p:cNvPr id="30" name="Text 28"/>
          <p:cNvSpPr txBox="1"/>
          <p:nvPr/>
        </p:nvSpPr>
        <p:spPr>
          <a:xfrm>
            <a:off x="5571622" y="2998978"/>
            <a:ext cx="1182502" cy="232258"/>
          </a:xfrm>
          <a:prstGeom prst="rect">
            <a:avLst/>
          </a:prstGeom>
          <a:noFill/>
          <a:ln/>
        </p:spPr>
        <p:txBody>
          <a:bodyPr wrap="square" lIns="0" tIns="0" rIns="0" bIns="0" rtlCol="0" anchor="ctr"/>
          <a:lstStyle/>
          <a:p>
            <a:pPr marL="0" indent="0" algn="ctr">
              <a:buNone/>
            </a:pPr>
            <a:r>
              <a:rPr lang="en-US" sz="900" dirty="0">
                <a:solidFill>
                  <a:srgbClr val="1B2230"/>
                </a:solidFill>
                <a:latin typeface="Calibri" pitchFamily="34" charset="0"/>
                <a:ea typeface="Calibri" pitchFamily="34" charset="-122"/>
                <a:cs typeface="Calibri" pitchFamily="34" charset="-120"/>
              </a:rPr>
              <a:t>See the session</a:t>
            </a:r>
            <a:endParaRPr lang="en-US" sz="900" dirty="0"/>
          </a:p>
        </p:txBody>
      </p:sp>
      <p:sp>
        <p:nvSpPr>
          <p:cNvPr id="31" name="Shape 29"/>
          <p:cNvSpPr/>
          <p:nvPr/>
        </p:nvSpPr>
        <p:spPr>
          <a:xfrm>
            <a:off x="4160520" y="3511042"/>
            <a:ext cx="7418527" cy="1118362"/>
          </a:xfrm>
          <a:prstGeom prst="roundRect">
            <a:avLst>
              <a:gd name="adj" fmla="val 8176"/>
            </a:avLst>
          </a:prstGeom>
          <a:solidFill>
            <a:srgbClr val="FFFFFF"/>
          </a:solidFill>
          <a:ln w="9525">
            <a:solidFill>
              <a:srgbClr val="DDE1E8"/>
            </a:solidFill>
            <a:prstDash val="solid"/>
          </a:ln>
        </p:spPr>
        <p:txBody>
          <a:bodyPr/>
          <a:lstStyle/>
          <a:p>
            <a:endParaRPr lang="en-MX"/>
          </a:p>
        </p:txBody>
      </p:sp>
      <p:sp>
        <p:nvSpPr>
          <p:cNvPr id="32" name="Text 30"/>
          <p:cNvSpPr txBox="1"/>
          <p:nvPr/>
        </p:nvSpPr>
        <p:spPr>
          <a:xfrm>
            <a:off x="4315968" y="3620770"/>
            <a:ext cx="457200" cy="219456"/>
          </a:xfrm>
          <a:prstGeom prst="rect">
            <a:avLst/>
          </a:prstGeom>
          <a:noFill/>
          <a:ln/>
        </p:spPr>
        <p:txBody>
          <a:bodyPr wrap="square" lIns="0" tIns="0" rIns="0" bIns="0" rtlCol="0" anchor="ctr"/>
          <a:lstStyle/>
          <a:p>
            <a:pPr marL="0" indent="0">
              <a:buNone/>
            </a:pPr>
            <a:r>
              <a:rPr lang="en-US" sz="1200" b="1" dirty="0">
                <a:solidFill>
                  <a:srgbClr val="1B2230"/>
                </a:solidFill>
                <a:latin typeface="Calibri" pitchFamily="34" charset="0"/>
                <a:ea typeface="Calibri" pitchFamily="34" charset="-122"/>
                <a:cs typeface="Calibri" pitchFamily="34" charset="-120"/>
              </a:rPr>
              <a:t>D3</a:t>
            </a:r>
            <a:endParaRPr lang="en-US" sz="1200" dirty="0"/>
          </a:p>
        </p:txBody>
      </p:sp>
      <p:sp>
        <p:nvSpPr>
          <p:cNvPr id="33" name="Text 31"/>
          <p:cNvSpPr txBox="1"/>
          <p:nvPr/>
        </p:nvSpPr>
        <p:spPr>
          <a:xfrm>
            <a:off x="4590288" y="3620770"/>
            <a:ext cx="5736031" cy="219456"/>
          </a:xfrm>
          <a:prstGeom prst="rect">
            <a:avLst/>
          </a:prstGeom>
          <a:noFill/>
          <a:ln/>
        </p:spPr>
        <p:txBody>
          <a:bodyPr wrap="square" lIns="0" tIns="0" rIns="0" bIns="0" rtlCol="0" anchor="ctr"/>
          <a:lstStyle/>
          <a:p>
            <a:pPr marL="0" indent="0">
              <a:buNone/>
            </a:pPr>
            <a:r>
              <a:rPr lang="en-US" sz="950" dirty="0">
                <a:solidFill>
                  <a:srgbClr val="5B6475"/>
                </a:solidFill>
                <a:latin typeface="Calibri" pitchFamily="34" charset="0"/>
                <a:ea typeface="Calibri" pitchFamily="34" charset="-122"/>
                <a:cs typeface="Calibri" pitchFamily="34" charset="-120"/>
              </a:rPr>
              <a:t>Day 2</a:t>
            </a:r>
            <a:endParaRPr lang="en-US" sz="950" dirty="0"/>
          </a:p>
        </p:txBody>
      </p:sp>
      <p:sp>
        <p:nvSpPr>
          <p:cNvPr id="34" name="Shape 32"/>
          <p:cNvSpPr/>
          <p:nvPr/>
        </p:nvSpPr>
        <p:spPr>
          <a:xfrm>
            <a:off x="10867187" y="3639058"/>
            <a:ext cx="556412" cy="220370"/>
          </a:xfrm>
          <a:prstGeom prst="roundRect">
            <a:avLst>
              <a:gd name="adj" fmla="val 50000"/>
            </a:avLst>
          </a:prstGeom>
          <a:solidFill>
            <a:srgbClr val="E9ECF6"/>
          </a:solidFill>
          <a:ln w="9525">
            <a:solidFill>
              <a:srgbClr val="E9ECF6"/>
            </a:solidFill>
            <a:prstDash val="solid"/>
          </a:ln>
        </p:spPr>
        <p:txBody>
          <a:bodyPr/>
          <a:lstStyle/>
          <a:p>
            <a:endParaRPr lang="en-MX"/>
          </a:p>
        </p:txBody>
      </p:sp>
      <p:sp>
        <p:nvSpPr>
          <p:cNvPr id="35" name="Text 33"/>
          <p:cNvSpPr txBox="1"/>
          <p:nvPr/>
        </p:nvSpPr>
        <p:spPr>
          <a:xfrm>
            <a:off x="10867187" y="3639058"/>
            <a:ext cx="556412" cy="220370"/>
          </a:xfrm>
          <a:prstGeom prst="rect">
            <a:avLst/>
          </a:prstGeom>
          <a:noFill/>
          <a:ln/>
        </p:spPr>
        <p:txBody>
          <a:bodyPr wrap="square" lIns="0" tIns="0" rIns="0" bIns="0" rtlCol="0" anchor="ctr"/>
          <a:lstStyle/>
          <a:p>
            <a:pPr marL="0" indent="0" algn="ctr">
              <a:buNone/>
            </a:pPr>
            <a:r>
              <a:rPr lang="en-US" sz="850" dirty="0">
                <a:solidFill>
                  <a:srgbClr val="3D4F86"/>
                </a:solidFill>
                <a:latin typeface="Calibri" pitchFamily="34" charset="0"/>
                <a:ea typeface="Calibri" pitchFamily="34" charset="-122"/>
                <a:cs typeface="Calibri" pitchFamily="34" charset="-120"/>
              </a:rPr>
              <a:t>Email</a:t>
            </a:r>
            <a:endParaRPr lang="en-US" sz="850" dirty="0"/>
          </a:p>
        </p:txBody>
      </p:sp>
      <p:sp>
        <p:nvSpPr>
          <p:cNvPr id="36" name="Text 34"/>
          <p:cNvSpPr txBox="1"/>
          <p:nvPr/>
        </p:nvSpPr>
        <p:spPr>
          <a:xfrm>
            <a:off x="4315968" y="3895090"/>
            <a:ext cx="7107631" cy="188722"/>
          </a:xfrm>
          <a:prstGeom prst="rect">
            <a:avLst/>
          </a:prstGeom>
          <a:noFill/>
          <a:ln/>
        </p:spPr>
        <p:txBody>
          <a:bodyPr wrap="square" lIns="0" tIns="0" rIns="0" bIns="0" rtlCol="0" anchor="t"/>
          <a:lstStyle/>
          <a:p>
            <a:pPr marL="0" indent="0">
              <a:buNone/>
            </a:pPr>
            <a:r>
              <a:rPr lang="en-US" sz="1100" b="1" dirty="0">
                <a:solidFill>
                  <a:srgbClr val="1B2230"/>
                </a:solidFill>
                <a:latin typeface="Calibri" pitchFamily="34" charset="0"/>
                <a:ea typeface="Calibri" pitchFamily="34" charset="-122"/>
                <a:cs typeface="Calibri" pitchFamily="34" charset="-120"/>
              </a:rPr>
              <a:t>How to read your chart (and how far reading it alone gets you)</a:t>
            </a:r>
            <a:endParaRPr lang="en-US" sz="1100" dirty="0"/>
          </a:p>
        </p:txBody>
      </p:sp>
      <p:sp>
        <p:nvSpPr>
          <p:cNvPr id="37" name="Text 35"/>
          <p:cNvSpPr txBox="1"/>
          <p:nvPr/>
        </p:nvSpPr>
        <p:spPr>
          <a:xfrm>
            <a:off x="4315968" y="4120388"/>
            <a:ext cx="7107631" cy="399288"/>
          </a:xfrm>
          <a:prstGeom prst="rect">
            <a:avLst/>
          </a:prstGeom>
          <a:noFill/>
          <a:ln/>
        </p:spPr>
        <p:txBody>
          <a:bodyPr wrap="square" lIns="0" tIns="0" rIns="0" bIns="0" rtlCol="0" anchor="t"/>
          <a:lstStyle/>
          <a:p>
            <a:pPr marL="0" indent="0">
              <a:lnSpc>
                <a:spcPct val="105000"/>
              </a:lnSpc>
              <a:buNone/>
            </a:pPr>
            <a:r>
              <a:rPr lang="en-US" sz="1200" dirty="0">
                <a:solidFill>
                  <a:srgbClr val="1B2230"/>
                </a:solidFill>
                <a:latin typeface="Cambria" pitchFamily="34" charset="0"/>
                <a:ea typeface="Cambria" pitchFamily="34" charset="-122"/>
                <a:cs typeface="Cambria" pitchFamily="34" charset="-120"/>
              </a:rPr>
              <a:t>Three-minute video: what the zones mean and why creating wealth is the average of the other five. Reading it tells you what's happening; deciding what to do is the part almost nobody solves alone.</a:t>
            </a:r>
            <a:endParaRPr lang="en-US" sz="1200" dirty="0"/>
          </a:p>
        </p:txBody>
      </p:sp>
      <p:sp>
        <p:nvSpPr>
          <p:cNvPr id="38" name="Shape 36"/>
          <p:cNvSpPr/>
          <p:nvPr/>
        </p:nvSpPr>
        <p:spPr>
          <a:xfrm>
            <a:off x="4160520" y="4757420"/>
            <a:ext cx="7418527" cy="1118362"/>
          </a:xfrm>
          <a:prstGeom prst="roundRect">
            <a:avLst>
              <a:gd name="adj" fmla="val 8176"/>
            </a:avLst>
          </a:prstGeom>
          <a:solidFill>
            <a:srgbClr val="FFFFFF"/>
          </a:solidFill>
          <a:ln w="9525">
            <a:solidFill>
              <a:srgbClr val="DDE1E8"/>
            </a:solidFill>
            <a:prstDash val="solid"/>
          </a:ln>
        </p:spPr>
        <p:txBody>
          <a:bodyPr/>
          <a:lstStyle/>
          <a:p>
            <a:endParaRPr lang="en-MX"/>
          </a:p>
        </p:txBody>
      </p:sp>
      <p:sp>
        <p:nvSpPr>
          <p:cNvPr id="39" name="Text 37"/>
          <p:cNvSpPr txBox="1"/>
          <p:nvPr/>
        </p:nvSpPr>
        <p:spPr>
          <a:xfrm>
            <a:off x="4315968" y="4867148"/>
            <a:ext cx="457200" cy="219456"/>
          </a:xfrm>
          <a:prstGeom prst="rect">
            <a:avLst/>
          </a:prstGeom>
          <a:noFill/>
          <a:ln/>
        </p:spPr>
        <p:txBody>
          <a:bodyPr wrap="square" lIns="0" tIns="0" rIns="0" bIns="0" rtlCol="0" anchor="ctr"/>
          <a:lstStyle/>
          <a:p>
            <a:pPr marL="0" indent="0">
              <a:buNone/>
            </a:pPr>
            <a:r>
              <a:rPr lang="en-US" sz="1200" b="1" dirty="0">
                <a:solidFill>
                  <a:srgbClr val="1B2230"/>
                </a:solidFill>
                <a:latin typeface="Calibri" pitchFamily="34" charset="0"/>
                <a:ea typeface="Calibri" pitchFamily="34" charset="-122"/>
                <a:cs typeface="Calibri" pitchFamily="34" charset="-120"/>
              </a:rPr>
              <a:t>D4</a:t>
            </a:r>
            <a:endParaRPr lang="en-US" sz="1200" dirty="0"/>
          </a:p>
        </p:txBody>
      </p:sp>
      <p:sp>
        <p:nvSpPr>
          <p:cNvPr id="40" name="Text 38"/>
          <p:cNvSpPr txBox="1"/>
          <p:nvPr/>
        </p:nvSpPr>
        <p:spPr>
          <a:xfrm>
            <a:off x="4590288" y="4867148"/>
            <a:ext cx="5736031" cy="219456"/>
          </a:xfrm>
          <a:prstGeom prst="rect">
            <a:avLst/>
          </a:prstGeom>
          <a:noFill/>
          <a:ln/>
        </p:spPr>
        <p:txBody>
          <a:bodyPr wrap="square" lIns="0" tIns="0" rIns="0" bIns="0" rtlCol="0" anchor="ctr"/>
          <a:lstStyle/>
          <a:p>
            <a:pPr marL="0" indent="0">
              <a:buNone/>
            </a:pPr>
            <a:r>
              <a:rPr lang="en-US" sz="950" dirty="0">
                <a:solidFill>
                  <a:srgbClr val="5B6475"/>
                </a:solidFill>
                <a:latin typeface="Calibri" pitchFamily="34" charset="0"/>
                <a:ea typeface="Calibri" pitchFamily="34" charset="-122"/>
                <a:cs typeface="Calibri" pitchFamily="34" charset="-120"/>
              </a:rPr>
              <a:t>Day 4</a:t>
            </a:r>
            <a:endParaRPr lang="en-US" sz="950" dirty="0"/>
          </a:p>
        </p:txBody>
      </p:sp>
      <p:sp>
        <p:nvSpPr>
          <p:cNvPr id="41" name="Shape 39"/>
          <p:cNvSpPr/>
          <p:nvPr/>
        </p:nvSpPr>
        <p:spPr>
          <a:xfrm>
            <a:off x="10867187" y="4885436"/>
            <a:ext cx="556412" cy="220370"/>
          </a:xfrm>
          <a:prstGeom prst="roundRect">
            <a:avLst>
              <a:gd name="adj" fmla="val 50000"/>
            </a:avLst>
          </a:prstGeom>
          <a:solidFill>
            <a:srgbClr val="E9ECF6"/>
          </a:solidFill>
          <a:ln w="9525">
            <a:solidFill>
              <a:srgbClr val="E9ECF6"/>
            </a:solidFill>
            <a:prstDash val="solid"/>
          </a:ln>
        </p:spPr>
        <p:txBody>
          <a:bodyPr/>
          <a:lstStyle/>
          <a:p>
            <a:endParaRPr lang="en-MX"/>
          </a:p>
        </p:txBody>
      </p:sp>
      <p:sp>
        <p:nvSpPr>
          <p:cNvPr id="42" name="Text 40"/>
          <p:cNvSpPr txBox="1"/>
          <p:nvPr/>
        </p:nvSpPr>
        <p:spPr>
          <a:xfrm>
            <a:off x="10867187" y="4885436"/>
            <a:ext cx="556412" cy="220370"/>
          </a:xfrm>
          <a:prstGeom prst="rect">
            <a:avLst/>
          </a:prstGeom>
          <a:noFill/>
          <a:ln/>
        </p:spPr>
        <p:txBody>
          <a:bodyPr wrap="square" lIns="0" tIns="0" rIns="0" bIns="0" rtlCol="0" anchor="ctr"/>
          <a:lstStyle/>
          <a:p>
            <a:pPr marL="0" indent="0" algn="ctr">
              <a:buNone/>
            </a:pPr>
            <a:r>
              <a:rPr lang="en-US" sz="850" dirty="0">
                <a:solidFill>
                  <a:srgbClr val="3D4F86"/>
                </a:solidFill>
                <a:latin typeface="Calibri" pitchFamily="34" charset="0"/>
                <a:ea typeface="Calibri" pitchFamily="34" charset="-122"/>
                <a:cs typeface="Calibri" pitchFamily="34" charset="-120"/>
              </a:rPr>
              <a:t>Email</a:t>
            </a:r>
            <a:endParaRPr lang="en-US" sz="850" dirty="0"/>
          </a:p>
        </p:txBody>
      </p:sp>
      <p:sp>
        <p:nvSpPr>
          <p:cNvPr id="43" name="Text 41"/>
          <p:cNvSpPr txBox="1"/>
          <p:nvPr/>
        </p:nvSpPr>
        <p:spPr>
          <a:xfrm>
            <a:off x="4315968" y="5141468"/>
            <a:ext cx="7107631" cy="188722"/>
          </a:xfrm>
          <a:prstGeom prst="rect">
            <a:avLst/>
          </a:prstGeom>
          <a:noFill/>
          <a:ln/>
        </p:spPr>
        <p:txBody>
          <a:bodyPr wrap="square" lIns="0" tIns="0" rIns="0" bIns="0" rtlCol="0" anchor="t"/>
          <a:lstStyle/>
          <a:p>
            <a:pPr marL="0" indent="0">
              <a:buNone/>
            </a:pPr>
            <a:r>
              <a:rPr lang="en-US" sz="1100" b="1" dirty="0">
                <a:solidFill>
                  <a:srgbClr val="1B2230"/>
                </a:solidFill>
                <a:latin typeface="Calibri" pitchFamily="34" charset="0"/>
                <a:ea typeface="Calibri" pitchFamily="34" charset="-122"/>
                <a:cs typeface="Calibri" pitchFamily="34" charset="-120"/>
              </a:rPr>
              <a:t>From chart to plan: {{caso_nombre}}'s case</a:t>
            </a:r>
            <a:endParaRPr lang="en-US" sz="1100" dirty="0"/>
          </a:p>
        </p:txBody>
      </p:sp>
      <p:sp>
        <p:nvSpPr>
          <p:cNvPr id="44" name="Text 42"/>
          <p:cNvSpPr txBox="1"/>
          <p:nvPr/>
        </p:nvSpPr>
        <p:spPr>
          <a:xfrm>
            <a:off x="4315968" y="5366766"/>
            <a:ext cx="7107631" cy="399288"/>
          </a:xfrm>
          <a:prstGeom prst="rect">
            <a:avLst/>
          </a:prstGeom>
          <a:noFill/>
          <a:ln/>
        </p:spPr>
        <p:txBody>
          <a:bodyPr wrap="square" lIns="0" tIns="0" rIns="0" bIns="0" rtlCol="0" anchor="t"/>
          <a:lstStyle/>
          <a:p>
            <a:pPr marL="0" indent="0">
              <a:lnSpc>
                <a:spcPct val="105000"/>
              </a:lnSpc>
              <a:buNone/>
            </a:pPr>
            <a:r>
              <a:rPr lang="en-US" sz="1200" dirty="0">
                <a:solidFill>
                  <a:srgbClr val="1B2230"/>
                </a:solidFill>
                <a:latin typeface="Cambria" pitchFamily="34" charset="0"/>
                <a:ea typeface="Cambria" pitchFamily="34" charset="-122"/>
                <a:cs typeface="Cambria" pitchFamily="34" charset="-120"/>
              </a:rPr>
              <a:t>They had the chart, the report and a plan, and still weren't moving. In their Private Review, {{caso_hallazgo_sesion}} came up. Having the map isn't knowing how to walk it.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7F9"/>
        </a:solidFill>
        <a:effectLst/>
      </p:bgPr>
    </p:bg>
    <p:spTree>
      <p:nvGrpSpPr>
        <p:cNvPr id="1" name=""/>
        <p:cNvGrpSpPr/>
        <p:nvPr/>
      </p:nvGrpSpPr>
      <p:grpSpPr>
        <a:xfrm>
          <a:off x="0" y="0"/>
          <a:ext cx="0" cy="0"/>
          <a:chOff x="0" y="0"/>
          <a:chExt cx="0" cy="0"/>
        </a:xfrm>
      </p:grpSpPr>
      <p:sp>
        <p:nvSpPr>
          <p:cNvPr id="2" name="Text 0"/>
          <p:cNvSpPr txBox="1"/>
          <p:nvPr/>
        </p:nvSpPr>
        <p:spPr>
          <a:xfrm>
            <a:off x="612648" y="6446520"/>
            <a:ext cx="4572000" cy="228600"/>
          </a:xfrm>
          <a:prstGeom prst="rect">
            <a:avLst/>
          </a:prstGeom>
          <a:noFill/>
          <a:ln/>
        </p:spPr>
        <p:txBody>
          <a:bodyPr wrap="square" lIns="0" tIns="0" rIns="0" bIns="0" rtlCol="0" anchor="ctr"/>
          <a:lstStyle/>
          <a:p>
            <a:pPr marL="0" indent="0">
              <a:buNone/>
            </a:pPr>
            <a:r>
              <a:rPr lang="en-US" sz="900" dirty="0">
                <a:solidFill>
                  <a:srgbClr val="5B6475"/>
                </a:solidFill>
                <a:latin typeface="Calibri" pitchFamily="34" charset="0"/>
                <a:ea typeface="Calibri" pitchFamily="34" charset="-122"/>
                <a:cs typeface="Calibri" pitchFamily="34" charset="-120"/>
              </a:rPr>
              <a:t>Zones of Life: funnels and copy</a:t>
            </a:r>
            <a:endParaRPr lang="en-US" sz="900" dirty="0"/>
          </a:p>
        </p:txBody>
      </p:sp>
      <p:sp>
        <p:nvSpPr>
          <p:cNvPr id="3" name="Text 1"/>
          <p:cNvSpPr txBox="1"/>
          <p:nvPr/>
        </p:nvSpPr>
        <p:spPr>
          <a:xfrm>
            <a:off x="10881360" y="6446520"/>
            <a:ext cx="694944" cy="228600"/>
          </a:xfrm>
          <a:prstGeom prst="rect">
            <a:avLst/>
          </a:prstGeom>
          <a:noFill/>
          <a:ln/>
        </p:spPr>
        <p:txBody>
          <a:bodyPr wrap="square" lIns="0" tIns="0" rIns="0" bIns="0" rtlCol="0" anchor="ctr"/>
          <a:lstStyle/>
          <a:p>
            <a:pPr marL="0" indent="0" algn="r">
              <a:buNone/>
            </a:pPr>
            <a:r>
              <a:rPr lang="en-US" sz="900" dirty="0">
                <a:solidFill>
                  <a:srgbClr val="5B6475"/>
                </a:solidFill>
                <a:latin typeface="Calibri" pitchFamily="34" charset="0"/>
                <a:ea typeface="Calibri" pitchFamily="34" charset="-122"/>
                <a:cs typeface="Calibri" pitchFamily="34" charset="-120"/>
              </a:rPr>
              <a:t>10</a:t>
            </a:r>
            <a:endParaRPr lang="en-US" sz="900" dirty="0"/>
          </a:p>
        </p:txBody>
      </p:sp>
      <p:sp>
        <p:nvSpPr>
          <p:cNvPr id="4" name="Shape 2"/>
          <p:cNvSpPr/>
          <p:nvPr/>
        </p:nvSpPr>
        <p:spPr>
          <a:xfrm>
            <a:off x="612648" y="530352"/>
            <a:ext cx="1737360" cy="256032"/>
          </a:xfrm>
          <a:prstGeom prst="roundRect">
            <a:avLst>
              <a:gd name="adj" fmla="val 50000"/>
            </a:avLst>
          </a:prstGeom>
          <a:solidFill>
            <a:srgbClr val="F5E6EE"/>
          </a:solidFill>
          <a:ln w="9525">
            <a:solidFill>
              <a:srgbClr val="F5E6EE"/>
            </a:solidFill>
            <a:prstDash val="solid"/>
          </a:ln>
        </p:spPr>
        <p:txBody>
          <a:bodyPr/>
          <a:lstStyle/>
          <a:p>
            <a:endParaRPr lang="en-MX"/>
          </a:p>
        </p:txBody>
      </p:sp>
      <p:sp>
        <p:nvSpPr>
          <p:cNvPr id="5" name="Text 3"/>
          <p:cNvSpPr txBox="1"/>
          <p:nvPr/>
        </p:nvSpPr>
        <p:spPr>
          <a:xfrm>
            <a:off x="612648" y="530352"/>
            <a:ext cx="1737360" cy="256032"/>
          </a:xfrm>
          <a:prstGeom prst="rect">
            <a:avLst/>
          </a:prstGeom>
          <a:noFill/>
          <a:ln/>
        </p:spPr>
        <p:txBody>
          <a:bodyPr wrap="square" lIns="0" tIns="0" rIns="0" bIns="0" rtlCol="0" anchor="ctr"/>
          <a:lstStyle/>
          <a:p>
            <a:pPr marL="0" indent="0" algn="ctr">
              <a:buNone/>
            </a:pPr>
            <a:r>
              <a:rPr lang="en-US" sz="1000" b="1" dirty="0">
                <a:solidFill>
                  <a:srgbClr val="9A3D6A"/>
                </a:solidFill>
                <a:latin typeface="Calibri" pitchFamily="34" charset="0"/>
                <a:ea typeface="Calibri" pitchFamily="34" charset="-122"/>
                <a:cs typeface="Calibri" pitchFamily="34" charset="-120"/>
              </a:rPr>
              <a:t>Recovery, 2 of 2</a:t>
            </a:r>
            <a:endParaRPr lang="en-US" sz="1000" dirty="0"/>
          </a:p>
        </p:txBody>
      </p:sp>
      <p:sp>
        <p:nvSpPr>
          <p:cNvPr id="6" name="Text 4"/>
          <p:cNvSpPr txBox="1"/>
          <p:nvPr/>
        </p:nvSpPr>
        <p:spPr>
          <a:xfrm>
            <a:off x="612648" y="941832"/>
            <a:ext cx="3200400" cy="1197864"/>
          </a:xfrm>
          <a:prstGeom prst="rect">
            <a:avLst/>
          </a:prstGeom>
          <a:noFill/>
          <a:ln/>
        </p:spPr>
        <p:txBody>
          <a:bodyPr wrap="square" lIns="0" tIns="0" rIns="0" bIns="0" rtlCol="0" anchor="t"/>
          <a:lstStyle/>
          <a:p>
            <a:pPr marL="0" indent="0">
              <a:lnSpc>
                <a:spcPct val="95000"/>
              </a:lnSpc>
              <a:buNone/>
            </a:pPr>
            <a:r>
              <a:rPr lang="en-US" sz="2800" dirty="0">
                <a:solidFill>
                  <a:srgbClr val="1B2230"/>
                </a:solidFill>
                <a:latin typeface="Cambria" pitchFamily="34" charset="0"/>
                <a:ea typeface="Cambria" pitchFamily="34" charset="-122"/>
                <a:cs typeface="Cambria" pitchFamily="34" charset="-120"/>
              </a:rPr>
              <a:t>Flow D: profile ready, no booking</a:t>
            </a:r>
            <a:endParaRPr lang="en-US" sz="2800" dirty="0"/>
          </a:p>
        </p:txBody>
      </p:sp>
      <p:sp>
        <p:nvSpPr>
          <p:cNvPr id="7" name="Text 5"/>
          <p:cNvSpPr txBox="1"/>
          <p:nvPr/>
        </p:nvSpPr>
        <p:spPr>
          <a:xfrm>
            <a:off x="612648" y="2304288"/>
            <a:ext cx="3200400" cy="423926"/>
          </a:xfrm>
          <a:prstGeom prst="rect">
            <a:avLst/>
          </a:prstGeom>
          <a:noFill/>
          <a:ln/>
        </p:spPr>
        <p:txBody>
          <a:bodyPr wrap="square" lIns="0" tIns="0" rIns="0" bIns="0" rtlCol="0" anchor="t"/>
          <a:lstStyle/>
          <a:p>
            <a:pPr marL="0" indent="0">
              <a:buNone/>
            </a:pPr>
            <a:r>
              <a:rPr lang="en-US" sz="1250" b="1" dirty="0">
                <a:solidFill>
                  <a:srgbClr val="1B2230"/>
                </a:solidFill>
                <a:latin typeface="Calibri" pitchFamily="34" charset="0"/>
                <a:ea typeface="Calibri" pitchFamily="34" charset="-122"/>
                <a:cs typeface="Calibri" pitchFamily="34" charset="-120"/>
              </a:rPr>
              <a:t>Note</a:t>
            </a:r>
            <a:endParaRPr lang="en-US" sz="1250" dirty="0"/>
          </a:p>
          <a:p>
            <a:pPr marL="0" indent="0">
              <a:buNone/>
            </a:pPr>
            <a:r>
              <a:rPr lang="en-US" sz="1250" dirty="0">
                <a:solidFill>
                  <a:srgbClr val="5B6475"/>
                </a:solidFill>
                <a:latin typeface="Calibri" pitchFamily="34" charset="0"/>
                <a:ea typeface="Calibri" pitchFamily="34" charset="-122"/>
                <a:cs typeface="Calibri" pitchFamily="34" charset="-120"/>
              </a:rPr>
              <a:t>The openings in D5 come from the real calendar.</a:t>
            </a:r>
            <a:endParaRPr lang="en-US" sz="1250" dirty="0"/>
          </a:p>
        </p:txBody>
      </p:sp>
      <p:sp>
        <p:nvSpPr>
          <p:cNvPr id="8" name="Text 6"/>
          <p:cNvSpPr txBox="1"/>
          <p:nvPr/>
        </p:nvSpPr>
        <p:spPr>
          <a:xfrm>
            <a:off x="612648" y="2856230"/>
            <a:ext cx="3200400" cy="811276"/>
          </a:xfrm>
          <a:prstGeom prst="rect">
            <a:avLst/>
          </a:prstGeom>
          <a:noFill/>
          <a:ln/>
        </p:spPr>
        <p:txBody>
          <a:bodyPr wrap="square" lIns="0" tIns="0" rIns="0" bIns="0" rtlCol="0" anchor="t"/>
          <a:lstStyle/>
          <a:p>
            <a:pPr marL="0" indent="0">
              <a:buNone/>
            </a:pPr>
            <a:r>
              <a:rPr lang="en-US" sz="1250" b="1" dirty="0">
                <a:solidFill>
                  <a:srgbClr val="1B2230"/>
                </a:solidFill>
                <a:latin typeface="Calibri" pitchFamily="34" charset="0"/>
                <a:ea typeface="Calibri" pitchFamily="34" charset="-122"/>
                <a:cs typeface="Calibri" pitchFamily="34" charset="-120"/>
              </a:rPr>
              <a:t>D6</a:t>
            </a:r>
            <a:endParaRPr lang="en-US" sz="1250" dirty="0"/>
          </a:p>
          <a:p>
            <a:pPr marL="0" indent="0">
              <a:buNone/>
            </a:pPr>
            <a:r>
              <a:rPr lang="en-US" sz="1250" dirty="0">
                <a:solidFill>
                  <a:srgbClr val="5B6475"/>
                </a:solidFill>
                <a:latin typeface="Calibri" pitchFamily="34" charset="0"/>
                <a:ea typeface="Calibri" pitchFamily="34" charset="-122"/>
                <a:cs typeface="Calibri" pitchFamily="34" charset="-120"/>
              </a:rPr>
              <a:t>"I'd rather work on it alone" takes the lead out of the flow and schedules the 90-day re-assessment.</a:t>
            </a:r>
            <a:endParaRPr lang="en-US" sz="1250" dirty="0"/>
          </a:p>
        </p:txBody>
      </p:sp>
      <p:sp>
        <p:nvSpPr>
          <p:cNvPr id="9" name="Shape 7"/>
          <p:cNvSpPr/>
          <p:nvPr/>
        </p:nvSpPr>
        <p:spPr>
          <a:xfrm>
            <a:off x="4160520" y="530352"/>
            <a:ext cx="3645256" cy="1826768"/>
          </a:xfrm>
          <a:prstGeom prst="roundRect">
            <a:avLst>
              <a:gd name="adj" fmla="val 5006"/>
            </a:avLst>
          </a:prstGeom>
          <a:solidFill>
            <a:srgbClr val="FFFFFF"/>
          </a:solidFill>
          <a:ln w="9525">
            <a:solidFill>
              <a:srgbClr val="DDE1E8"/>
            </a:solidFill>
            <a:prstDash val="solid"/>
          </a:ln>
        </p:spPr>
        <p:txBody>
          <a:bodyPr/>
          <a:lstStyle/>
          <a:p>
            <a:endParaRPr lang="en-MX"/>
          </a:p>
        </p:txBody>
      </p:sp>
      <p:sp>
        <p:nvSpPr>
          <p:cNvPr id="10" name="Text 8"/>
          <p:cNvSpPr txBox="1"/>
          <p:nvPr/>
        </p:nvSpPr>
        <p:spPr>
          <a:xfrm>
            <a:off x="4315968" y="640080"/>
            <a:ext cx="457200" cy="219456"/>
          </a:xfrm>
          <a:prstGeom prst="rect">
            <a:avLst/>
          </a:prstGeom>
          <a:noFill/>
          <a:ln/>
        </p:spPr>
        <p:txBody>
          <a:bodyPr wrap="square" lIns="0" tIns="0" rIns="0" bIns="0" rtlCol="0" anchor="ctr"/>
          <a:lstStyle/>
          <a:p>
            <a:pPr marL="0" indent="0">
              <a:buNone/>
            </a:pPr>
            <a:r>
              <a:rPr lang="en-US" sz="1200" b="1" dirty="0">
                <a:solidFill>
                  <a:srgbClr val="1B2230"/>
                </a:solidFill>
                <a:latin typeface="Calibri" pitchFamily="34" charset="0"/>
                <a:ea typeface="Calibri" pitchFamily="34" charset="-122"/>
                <a:cs typeface="Calibri" pitchFamily="34" charset="-120"/>
              </a:rPr>
              <a:t>D5</a:t>
            </a:r>
            <a:endParaRPr lang="en-US" sz="1200" dirty="0"/>
          </a:p>
        </p:txBody>
      </p:sp>
      <p:sp>
        <p:nvSpPr>
          <p:cNvPr id="11" name="Text 9"/>
          <p:cNvSpPr txBox="1"/>
          <p:nvPr/>
        </p:nvSpPr>
        <p:spPr>
          <a:xfrm>
            <a:off x="4590288" y="640080"/>
            <a:ext cx="1962760" cy="219456"/>
          </a:xfrm>
          <a:prstGeom prst="rect">
            <a:avLst/>
          </a:prstGeom>
          <a:noFill/>
          <a:ln/>
        </p:spPr>
        <p:txBody>
          <a:bodyPr wrap="square" lIns="0" tIns="0" rIns="0" bIns="0" rtlCol="0" anchor="ctr"/>
          <a:lstStyle/>
          <a:p>
            <a:pPr marL="0" indent="0">
              <a:buNone/>
            </a:pPr>
            <a:r>
              <a:rPr lang="en-US" sz="950" dirty="0">
                <a:solidFill>
                  <a:srgbClr val="5B6475"/>
                </a:solidFill>
                <a:latin typeface="Calibri" pitchFamily="34" charset="0"/>
                <a:ea typeface="Calibri" pitchFamily="34" charset="-122"/>
                <a:cs typeface="Calibri" pitchFamily="34" charset="-120"/>
              </a:rPr>
              <a:t>Day 7 · conditional</a:t>
            </a:r>
            <a:endParaRPr lang="en-US" sz="950" dirty="0"/>
          </a:p>
        </p:txBody>
      </p:sp>
      <p:sp>
        <p:nvSpPr>
          <p:cNvPr id="12" name="Shape 10"/>
          <p:cNvSpPr/>
          <p:nvPr/>
        </p:nvSpPr>
        <p:spPr>
          <a:xfrm>
            <a:off x="7093915" y="658368"/>
            <a:ext cx="556412" cy="220370"/>
          </a:xfrm>
          <a:prstGeom prst="roundRect">
            <a:avLst>
              <a:gd name="adj" fmla="val 50000"/>
            </a:avLst>
          </a:prstGeom>
          <a:solidFill>
            <a:srgbClr val="E9ECF6"/>
          </a:solidFill>
          <a:ln w="9525">
            <a:solidFill>
              <a:srgbClr val="E9ECF6"/>
            </a:solidFill>
            <a:prstDash val="solid"/>
          </a:ln>
        </p:spPr>
        <p:txBody>
          <a:bodyPr/>
          <a:lstStyle/>
          <a:p>
            <a:endParaRPr lang="en-MX"/>
          </a:p>
        </p:txBody>
      </p:sp>
      <p:sp>
        <p:nvSpPr>
          <p:cNvPr id="13" name="Text 11"/>
          <p:cNvSpPr txBox="1"/>
          <p:nvPr/>
        </p:nvSpPr>
        <p:spPr>
          <a:xfrm>
            <a:off x="7093915" y="658368"/>
            <a:ext cx="556412" cy="220370"/>
          </a:xfrm>
          <a:prstGeom prst="rect">
            <a:avLst/>
          </a:prstGeom>
          <a:noFill/>
          <a:ln/>
        </p:spPr>
        <p:txBody>
          <a:bodyPr wrap="square" lIns="0" tIns="0" rIns="0" bIns="0" rtlCol="0" anchor="ctr"/>
          <a:lstStyle/>
          <a:p>
            <a:pPr marL="0" indent="0" algn="ctr">
              <a:buNone/>
            </a:pPr>
            <a:r>
              <a:rPr lang="en-US" sz="850" dirty="0">
                <a:solidFill>
                  <a:srgbClr val="3D4F86"/>
                </a:solidFill>
                <a:latin typeface="Calibri" pitchFamily="34" charset="0"/>
                <a:ea typeface="Calibri" pitchFamily="34" charset="-122"/>
                <a:cs typeface="Calibri" pitchFamily="34" charset="-120"/>
              </a:rPr>
              <a:t>Email</a:t>
            </a:r>
            <a:endParaRPr lang="en-US" sz="850" dirty="0"/>
          </a:p>
        </p:txBody>
      </p:sp>
      <p:sp>
        <p:nvSpPr>
          <p:cNvPr id="14" name="Text 12"/>
          <p:cNvSpPr txBox="1"/>
          <p:nvPr/>
        </p:nvSpPr>
        <p:spPr>
          <a:xfrm>
            <a:off x="4315968" y="914400"/>
            <a:ext cx="3334360" cy="359156"/>
          </a:xfrm>
          <a:prstGeom prst="rect">
            <a:avLst/>
          </a:prstGeom>
          <a:noFill/>
          <a:ln/>
        </p:spPr>
        <p:txBody>
          <a:bodyPr wrap="square" lIns="0" tIns="0" rIns="0" bIns="0" rtlCol="0" anchor="t"/>
          <a:lstStyle/>
          <a:p>
            <a:pPr marL="0" indent="0">
              <a:buNone/>
            </a:pPr>
            <a:r>
              <a:rPr lang="en-US" sz="1100" b="1" dirty="0">
                <a:solidFill>
                  <a:srgbClr val="3D4F86"/>
                </a:solidFill>
                <a:latin typeface="Calibri" pitchFamily="34" charset="0"/>
                <a:ea typeface="Calibri" pitchFamily="34" charset="-122"/>
                <a:cs typeface="Calibri" pitchFamily="34" charset="-120"/>
              </a:rPr>
              <a:t>{{cupos_semana}} openings this week</a:t>
            </a:r>
            <a:endParaRPr lang="en-US" sz="1100" dirty="0"/>
          </a:p>
        </p:txBody>
      </p:sp>
      <p:sp>
        <p:nvSpPr>
          <p:cNvPr id="15" name="Text 13"/>
          <p:cNvSpPr txBox="1"/>
          <p:nvPr/>
        </p:nvSpPr>
        <p:spPr>
          <a:xfrm>
            <a:off x="4315968" y="1310132"/>
            <a:ext cx="3334360" cy="589788"/>
          </a:xfrm>
          <a:prstGeom prst="rect">
            <a:avLst/>
          </a:prstGeom>
          <a:noFill/>
          <a:ln/>
        </p:spPr>
        <p:txBody>
          <a:bodyPr wrap="square" lIns="0" tIns="0" rIns="0" bIns="0" rtlCol="0" anchor="t"/>
          <a:lstStyle/>
          <a:p>
            <a:pPr marL="0" indent="0">
              <a:lnSpc>
                <a:spcPct val="105000"/>
              </a:lnSpc>
              <a:buNone/>
            </a:pPr>
            <a:r>
              <a:rPr lang="en-US" sz="1200" dirty="0">
                <a:solidFill>
                  <a:srgbClr val="1B2230"/>
                </a:solidFill>
                <a:latin typeface="Cambria" pitchFamily="34" charset="0"/>
                <a:ea typeface="Cambria" pitchFamily="34" charset="-122"/>
                <a:cs typeface="Cambria" pitchFamily="34" charset="-120"/>
              </a:rPr>
              <a:t>{{duracion_sesion}} minutes by video call, {{precio_sesion}}. You come in with your chart and your plan, and leave with three decisions.</a:t>
            </a:r>
            <a:endParaRPr lang="en-US" sz="1200" dirty="0"/>
          </a:p>
        </p:txBody>
      </p:sp>
      <p:sp>
        <p:nvSpPr>
          <p:cNvPr id="16" name="Shape 14"/>
          <p:cNvSpPr/>
          <p:nvPr/>
        </p:nvSpPr>
        <p:spPr>
          <a:xfrm>
            <a:off x="4315968" y="1991360"/>
            <a:ext cx="1384950" cy="232258"/>
          </a:xfrm>
          <a:prstGeom prst="roundRect">
            <a:avLst>
              <a:gd name="adj" fmla="val 50000"/>
            </a:avLst>
          </a:prstGeom>
          <a:solidFill>
            <a:srgbClr val="1B2230"/>
          </a:solidFill>
          <a:ln w="9525">
            <a:solidFill>
              <a:srgbClr val="1B2230"/>
            </a:solidFill>
            <a:prstDash val="solid"/>
          </a:ln>
        </p:spPr>
        <p:txBody>
          <a:bodyPr/>
          <a:lstStyle/>
          <a:p>
            <a:endParaRPr lang="en-MX"/>
          </a:p>
        </p:txBody>
      </p:sp>
      <p:sp>
        <p:nvSpPr>
          <p:cNvPr id="17" name="Text 15"/>
          <p:cNvSpPr txBox="1"/>
          <p:nvPr/>
        </p:nvSpPr>
        <p:spPr>
          <a:xfrm>
            <a:off x="4315968" y="1991360"/>
            <a:ext cx="1384950" cy="23225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See available times</a:t>
            </a:r>
            <a:endParaRPr lang="en-US" sz="900" dirty="0"/>
          </a:p>
        </p:txBody>
      </p:sp>
      <p:sp>
        <p:nvSpPr>
          <p:cNvPr id="18" name="Shape 16"/>
          <p:cNvSpPr/>
          <p:nvPr/>
        </p:nvSpPr>
        <p:spPr>
          <a:xfrm>
            <a:off x="7933792" y="530352"/>
            <a:ext cx="3645256" cy="1826768"/>
          </a:xfrm>
          <a:prstGeom prst="roundRect">
            <a:avLst>
              <a:gd name="adj" fmla="val 5006"/>
            </a:avLst>
          </a:prstGeom>
          <a:solidFill>
            <a:srgbClr val="FFFFFF"/>
          </a:solidFill>
          <a:ln w="9525">
            <a:solidFill>
              <a:srgbClr val="DDE1E8"/>
            </a:solidFill>
            <a:prstDash val="solid"/>
          </a:ln>
        </p:spPr>
        <p:txBody>
          <a:bodyPr/>
          <a:lstStyle/>
          <a:p>
            <a:endParaRPr lang="en-MX"/>
          </a:p>
        </p:txBody>
      </p:sp>
      <p:sp>
        <p:nvSpPr>
          <p:cNvPr id="19" name="Text 17"/>
          <p:cNvSpPr txBox="1"/>
          <p:nvPr/>
        </p:nvSpPr>
        <p:spPr>
          <a:xfrm>
            <a:off x="8089240" y="640080"/>
            <a:ext cx="457200" cy="219456"/>
          </a:xfrm>
          <a:prstGeom prst="rect">
            <a:avLst/>
          </a:prstGeom>
          <a:noFill/>
          <a:ln/>
        </p:spPr>
        <p:txBody>
          <a:bodyPr wrap="square" lIns="0" tIns="0" rIns="0" bIns="0" rtlCol="0" anchor="ctr"/>
          <a:lstStyle/>
          <a:p>
            <a:pPr marL="0" indent="0">
              <a:buNone/>
            </a:pPr>
            <a:r>
              <a:rPr lang="en-US" sz="1200" b="1" dirty="0">
                <a:solidFill>
                  <a:srgbClr val="1B2230"/>
                </a:solidFill>
                <a:latin typeface="Calibri" pitchFamily="34" charset="0"/>
                <a:ea typeface="Calibri" pitchFamily="34" charset="-122"/>
                <a:cs typeface="Calibri" pitchFamily="34" charset="-120"/>
              </a:rPr>
              <a:t>D6</a:t>
            </a:r>
            <a:endParaRPr lang="en-US" sz="1200" dirty="0"/>
          </a:p>
        </p:txBody>
      </p:sp>
      <p:sp>
        <p:nvSpPr>
          <p:cNvPr id="20" name="Text 18"/>
          <p:cNvSpPr txBox="1"/>
          <p:nvPr/>
        </p:nvSpPr>
        <p:spPr>
          <a:xfrm>
            <a:off x="8363560" y="640080"/>
            <a:ext cx="1962760" cy="219456"/>
          </a:xfrm>
          <a:prstGeom prst="rect">
            <a:avLst/>
          </a:prstGeom>
          <a:noFill/>
          <a:ln/>
        </p:spPr>
        <p:txBody>
          <a:bodyPr wrap="square" lIns="0" tIns="0" rIns="0" bIns="0" rtlCol="0" anchor="ctr"/>
          <a:lstStyle/>
          <a:p>
            <a:pPr marL="0" indent="0">
              <a:buNone/>
            </a:pPr>
            <a:r>
              <a:rPr lang="en-US" sz="950" dirty="0">
                <a:solidFill>
                  <a:srgbClr val="5B6475"/>
                </a:solidFill>
                <a:latin typeface="Calibri" pitchFamily="34" charset="0"/>
                <a:ea typeface="Calibri" pitchFamily="34" charset="-122"/>
                <a:cs typeface="Calibri" pitchFamily="34" charset="-120"/>
              </a:rPr>
              <a:t>Day 10</a:t>
            </a:r>
            <a:endParaRPr lang="en-US" sz="950" dirty="0"/>
          </a:p>
        </p:txBody>
      </p:sp>
      <p:sp>
        <p:nvSpPr>
          <p:cNvPr id="21" name="Shape 19"/>
          <p:cNvSpPr/>
          <p:nvPr/>
        </p:nvSpPr>
        <p:spPr>
          <a:xfrm>
            <a:off x="10675986" y="658368"/>
            <a:ext cx="747613" cy="220370"/>
          </a:xfrm>
          <a:prstGeom prst="roundRect">
            <a:avLst>
              <a:gd name="adj" fmla="val 50000"/>
            </a:avLst>
          </a:prstGeom>
          <a:solidFill>
            <a:srgbClr val="E1F2EF"/>
          </a:solidFill>
          <a:ln w="9525">
            <a:solidFill>
              <a:srgbClr val="E1F2EF"/>
            </a:solidFill>
            <a:prstDash val="solid"/>
          </a:ln>
        </p:spPr>
        <p:txBody>
          <a:bodyPr/>
          <a:lstStyle/>
          <a:p>
            <a:endParaRPr lang="en-MX"/>
          </a:p>
        </p:txBody>
      </p:sp>
      <p:sp>
        <p:nvSpPr>
          <p:cNvPr id="22" name="Text 20"/>
          <p:cNvSpPr txBox="1"/>
          <p:nvPr/>
        </p:nvSpPr>
        <p:spPr>
          <a:xfrm>
            <a:off x="10675986" y="658368"/>
            <a:ext cx="747613" cy="220370"/>
          </a:xfrm>
          <a:prstGeom prst="rect">
            <a:avLst/>
          </a:prstGeom>
          <a:noFill/>
          <a:ln/>
        </p:spPr>
        <p:txBody>
          <a:bodyPr wrap="square" lIns="0" tIns="0" rIns="0" bIns="0" rtlCol="0" anchor="ctr"/>
          <a:lstStyle/>
          <a:p>
            <a:pPr marL="0" indent="0" algn="ctr">
              <a:buNone/>
            </a:pPr>
            <a:r>
              <a:rPr lang="en-US" sz="850" dirty="0">
                <a:solidFill>
                  <a:srgbClr val="1F7A70"/>
                </a:solidFill>
                <a:latin typeface="Calibri" pitchFamily="34" charset="0"/>
                <a:ea typeface="Calibri" pitchFamily="34" charset="-122"/>
                <a:cs typeface="Calibri" pitchFamily="34" charset="-120"/>
              </a:rPr>
              <a:t>WhatsApp</a:t>
            </a:r>
            <a:endParaRPr lang="en-US" sz="850" dirty="0"/>
          </a:p>
        </p:txBody>
      </p:sp>
      <p:sp>
        <p:nvSpPr>
          <p:cNvPr id="23" name="Text 21"/>
          <p:cNvSpPr txBox="1"/>
          <p:nvPr/>
        </p:nvSpPr>
        <p:spPr>
          <a:xfrm>
            <a:off x="8089240" y="914400"/>
            <a:ext cx="3334360" cy="589788"/>
          </a:xfrm>
          <a:prstGeom prst="rect">
            <a:avLst/>
          </a:prstGeom>
          <a:noFill/>
          <a:ln/>
        </p:spPr>
        <p:txBody>
          <a:bodyPr wrap="square" lIns="0" tIns="0" rIns="0" bIns="0" rtlCol="0" anchor="t"/>
          <a:lstStyle/>
          <a:p>
            <a:pPr marL="0" indent="0">
              <a:lnSpc>
                <a:spcPct val="105000"/>
              </a:lnSpc>
              <a:buNone/>
            </a:pPr>
            <a:r>
              <a:rPr lang="en-US" sz="1200" dirty="0">
                <a:solidFill>
                  <a:srgbClr val="1B2230"/>
                </a:solidFill>
                <a:latin typeface="Cambria" pitchFamily="34" charset="0"/>
                <a:ea typeface="Cambria" pitchFamily="34" charset="-122"/>
                <a:cs typeface="Cambria" pitchFamily="34" charset="-120"/>
              </a:rPr>
              <a:t>What would you like to do with your Financial Health Profile? Each button leads to a written reply.</a:t>
            </a:r>
            <a:endParaRPr lang="en-US" sz="1200" dirty="0"/>
          </a:p>
        </p:txBody>
      </p:sp>
      <p:sp>
        <p:nvSpPr>
          <p:cNvPr id="24" name="Shape 22"/>
          <p:cNvSpPr/>
          <p:nvPr/>
        </p:nvSpPr>
        <p:spPr>
          <a:xfrm>
            <a:off x="8089240" y="1595628"/>
            <a:ext cx="1182502" cy="232258"/>
          </a:xfrm>
          <a:prstGeom prst="roundRect">
            <a:avLst>
              <a:gd name="adj" fmla="val 50000"/>
            </a:avLst>
          </a:prstGeom>
          <a:solidFill>
            <a:srgbClr val="1B2230"/>
          </a:solidFill>
          <a:ln w="9525">
            <a:solidFill>
              <a:srgbClr val="1B2230"/>
            </a:solidFill>
            <a:prstDash val="solid"/>
          </a:ln>
        </p:spPr>
        <p:txBody>
          <a:bodyPr/>
          <a:lstStyle/>
          <a:p>
            <a:endParaRPr lang="en-MX"/>
          </a:p>
        </p:txBody>
      </p:sp>
      <p:sp>
        <p:nvSpPr>
          <p:cNvPr id="25" name="Text 23"/>
          <p:cNvSpPr txBox="1"/>
          <p:nvPr/>
        </p:nvSpPr>
        <p:spPr>
          <a:xfrm>
            <a:off x="8089240" y="1595628"/>
            <a:ext cx="1182502" cy="23225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Book my review</a:t>
            </a:r>
            <a:endParaRPr lang="en-US" sz="900" dirty="0"/>
          </a:p>
        </p:txBody>
      </p:sp>
      <p:sp>
        <p:nvSpPr>
          <p:cNvPr id="26" name="Shape 24"/>
          <p:cNvSpPr/>
          <p:nvPr/>
        </p:nvSpPr>
        <p:spPr>
          <a:xfrm>
            <a:off x="9344894" y="1595628"/>
            <a:ext cx="1452433" cy="232258"/>
          </a:xfrm>
          <a:prstGeom prst="roundRect">
            <a:avLst>
              <a:gd name="adj" fmla="val 50000"/>
            </a:avLst>
          </a:prstGeom>
          <a:solidFill>
            <a:srgbClr val="FFFFFF"/>
          </a:solidFill>
          <a:ln w="9525">
            <a:solidFill>
              <a:srgbClr val="DDE1E8"/>
            </a:solidFill>
            <a:prstDash val="solid"/>
          </a:ln>
        </p:spPr>
        <p:txBody>
          <a:bodyPr/>
          <a:lstStyle/>
          <a:p>
            <a:endParaRPr lang="en-MX"/>
          </a:p>
        </p:txBody>
      </p:sp>
      <p:sp>
        <p:nvSpPr>
          <p:cNvPr id="27" name="Text 25"/>
          <p:cNvSpPr txBox="1"/>
          <p:nvPr/>
        </p:nvSpPr>
        <p:spPr>
          <a:xfrm>
            <a:off x="9344894" y="1595628"/>
            <a:ext cx="1452433" cy="232258"/>
          </a:xfrm>
          <a:prstGeom prst="rect">
            <a:avLst/>
          </a:prstGeom>
          <a:noFill/>
          <a:ln/>
        </p:spPr>
        <p:txBody>
          <a:bodyPr wrap="square" lIns="0" tIns="0" rIns="0" bIns="0" rtlCol="0" anchor="ctr"/>
          <a:lstStyle/>
          <a:p>
            <a:pPr marL="0" indent="0" algn="ctr">
              <a:buNone/>
            </a:pPr>
            <a:r>
              <a:rPr lang="en-US" sz="900" dirty="0">
                <a:solidFill>
                  <a:srgbClr val="1B2230"/>
                </a:solidFill>
                <a:latin typeface="Calibri" pitchFamily="34" charset="0"/>
                <a:ea typeface="Calibri" pitchFamily="34" charset="-122"/>
                <a:cs typeface="Calibri" pitchFamily="34" charset="-120"/>
              </a:rPr>
              <a:t>Questions about the session</a:t>
            </a:r>
            <a:endParaRPr lang="en-US" sz="900" dirty="0"/>
          </a:p>
        </p:txBody>
      </p:sp>
      <p:sp>
        <p:nvSpPr>
          <p:cNvPr id="28" name="Shape 26"/>
          <p:cNvSpPr/>
          <p:nvPr/>
        </p:nvSpPr>
        <p:spPr>
          <a:xfrm>
            <a:off x="8089240" y="1869948"/>
            <a:ext cx="1249985" cy="232258"/>
          </a:xfrm>
          <a:prstGeom prst="roundRect">
            <a:avLst>
              <a:gd name="adj" fmla="val 50000"/>
            </a:avLst>
          </a:prstGeom>
          <a:solidFill>
            <a:srgbClr val="FFFFFF"/>
          </a:solidFill>
          <a:ln w="9525">
            <a:solidFill>
              <a:srgbClr val="DDE1E8"/>
            </a:solidFill>
            <a:prstDash val="solid"/>
          </a:ln>
        </p:spPr>
        <p:txBody>
          <a:bodyPr/>
          <a:lstStyle/>
          <a:p>
            <a:endParaRPr lang="en-MX"/>
          </a:p>
        </p:txBody>
      </p:sp>
      <p:sp>
        <p:nvSpPr>
          <p:cNvPr id="29" name="Text 27"/>
          <p:cNvSpPr txBox="1"/>
          <p:nvPr/>
        </p:nvSpPr>
        <p:spPr>
          <a:xfrm>
            <a:off x="8089240" y="1869948"/>
            <a:ext cx="1249985" cy="232258"/>
          </a:xfrm>
          <a:prstGeom prst="rect">
            <a:avLst/>
          </a:prstGeom>
          <a:noFill/>
          <a:ln/>
        </p:spPr>
        <p:txBody>
          <a:bodyPr wrap="square" lIns="0" tIns="0" rIns="0" bIns="0" rtlCol="0" anchor="ctr"/>
          <a:lstStyle/>
          <a:p>
            <a:pPr marL="0" indent="0" algn="ctr">
              <a:buNone/>
            </a:pPr>
            <a:r>
              <a:rPr lang="en-US" sz="900" dirty="0">
                <a:solidFill>
                  <a:srgbClr val="1B2230"/>
                </a:solidFill>
                <a:latin typeface="Calibri" pitchFamily="34" charset="0"/>
                <a:ea typeface="Calibri" pitchFamily="34" charset="-122"/>
                <a:cs typeface="Calibri" pitchFamily="34" charset="-120"/>
              </a:rPr>
              <a:t>Work on it alone</a:t>
            </a:r>
            <a:endParaRPr lang="en-US" sz="900" dirty="0"/>
          </a:p>
        </p:txBody>
      </p:sp>
      <p:sp>
        <p:nvSpPr>
          <p:cNvPr id="30" name="Shape 28"/>
          <p:cNvSpPr/>
          <p:nvPr/>
        </p:nvSpPr>
        <p:spPr>
          <a:xfrm>
            <a:off x="4160520" y="2485136"/>
            <a:ext cx="3645256" cy="1669796"/>
          </a:xfrm>
          <a:prstGeom prst="roundRect">
            <a:avLst>
              <a:gd name="adj" fmla="val 5476"/>
            </a:avLst>
          </a:prstGeom>
          <a:solidFill>
            <a:srgbClr val="FFFFFF"/>
          </a:solidFill>
          <a:ln w="9525">
            <a:solidFill>
              <a:srgbClr val="DDE1E8"/>
            </a:solidFill>
            <a:prstDash val="solid"/>
          </a:ln>
        </p:spPr>
        <p:txBody>
          <a:bodyPr/>
          <a:lstStyle/>
          <a:p>
            <a:endParaRPr lang="en-MX"/>
          </a:p>
        </p:txBody>
      </p:sp>
      <p:sp>
        <p:nvSpPr>
          <p:cNvPr id="31" name="Text 29"/>
          <p:cNvSpPr txBox="1"/>
          <p:nvPr/>
        </p:nvSpPr>
        <p:spPr>
          <a:xfrm>
            <a:off x="4315968" y="2594864"/>
            <a:ext cx="457200" cy="219456"/>
          </a:xfrm>
          <a:prstGeom prst="rect">
            <a:avLst/>
          </a:prstGeom>
          <a:noFill/>
          <a:ln/>
        </p:spPr>
        <p:txBody>
          <a:bodyPr wrap="square" lIns="0" tIns="0" rIns="0" bIns="0" rtlCol="0" anchor="ctr"/>
          <a:lstStyle/>
          <a:p>
            <a:pPr marL="0" indent="0">
              <a:buNone/>
            </a:pPr>
            <a:r>
              <a:rPr lang="en-US" sz="1200" b="1" dirty="0">
                <a:solidFill>
                  <a:srgbClr val="1B2230"/>
                </a:solidFill>
                <a:latin typeface="Calibri" pitchFamily="34" charset="0"/>
                <a:ea typeface="Calibri" pitchFamily="34" charset="-122"/>
                <a:cs typeface="Calibri" pitchFamily="34" charset="-120"/>
              </a:rPr>
              <a:t>D7</a:t>
            </a:r>
            <a:endParaRPr lang="en-US" sz="1200" dirty="0"/>
          </a:p>
        </p:txBody>
      </p:sp>
      <p:sp>
        <p:nvSpPr>
          <p:cNvPr id="32" name="Text 30"/>
          <p:cNvSpPr txBox="1"/>
          <p:nvPr/>
        </p:nvSpPr>
        <p:spPr>
          <a:xfrm>
            <a:off x="4590288" y="2594864"/>
            <a:ext cx="1962760" cy="219456"/>
          </a:xfrm>
          <a:prstGeom prst="rect">
            <a:avLst/>
          </a:prstGeom>
          <a:noFill/>
          <a:ln/>
        </p:spPr>
        <p:txBody>
          <a:bodyPr wrap="square" lIns="0" tIns="0" rIns="0" bIns="0" rtlCol="0" anchor="ctr"/>
          <a:lstStyle/>
          <a:p>
            <a:pPr marL="0" indent="0">
              <a:buNone/>
            </a:pPr>
            <a:r>
              <a:rPr lang="en-US" sz="950" dirty="0">
                <a:solidFill>
                  <a:srgbClr val="5B6475"/>
                </a:solidFill>
                <a:latin typeface="Calibri" pitchFamily="34" charset="0"/>
                <a:ea typeface="Calibri" pitchFamily="34" charset="-122"/>
                <a:cs typeface="Calibri" pitchFamily="34" charset="-120"/>
              </a:rPr>
              <a:t>Day 14</a:t>
            </a:r>
            <a:endParaRPr lang="en-US" sz="950" dirty="0"/>
          </a:p>
        </p:txBody>
      </p:sp>
      <p:sp>
        <p:nvSpPr>
          <p:cNvPr id="33" name="Shape 31"/>
          <p:cNvSpPr/>
          <p:nvPr/>
        </p:nvSpPr>
        <p:spPr>
          <a:xfrm>
            <a:off x="7093915" y="2613152"/>
            <a:ext cx="556412" cy="220370"/>
          </a:xfrm>
          <a:prstGeom prst="roundRect">
            <a:avLst>
              <a:gd name="adj" fmla="val 50000"/>
            </a:avLst>
          </a:prstGeom>
          <a:solidFill>
            <a:srgbClr val="E9ECF6"/>
          </a:solidFill>
          <a:ln w="9525">
            <a:solidFill>
              <a:srgbClr val="E9ECF6"/>
            </a:solidFill>
            <a:prstDash val="solid"/>
          </a:ln>
        </p:spPr>
        <p:txBody>
          <a:bodyPr/>
          <a:lstStyle/>
          <a:p>
            <a:endParaRPr lang="en-MX"/>
          </a:p>
        </p:txBody>
      </p:sp>
      <p:sp>
        <p:nvSpPr>
          <p:cNvPr id="34" name="Text 32"/>
          <p:cNvSpPr txBox="1"/>
          <p:nvPr/>
        </p:nvSpPr>
        <p:spPr>
          <a:xfrm>
            <a:off x="7093915" y="2613152"/>
            <a:ext cx="556412" cy="220370"/>
          </a:xfrm>
          <a:prstGeom prst="rect">
            <a:avLst/>
          </a:prstGeom>
          <a:noFill/>
          <a:ln/>
        </p:spPr>
        <p:txBody>
          <a:bodyPr wrap="square" lIns="0" tIns="0" rIns="0" bIns="0" rtlCol="0" anchor="ctr"/>
          <a:lstStyle/>
          <a:p>
            <a:pPr marL="0" indent="0" algn="ctr">
              <a:buNone/>
            </a:pPr>
            <a:r>
              <a:rPr lang="en-US" sz="850" dirty="0">
                <a:solidFill>
                  <a:srgbClr val="3D4F86"/>
                </a:solidFill>
                <a:latin typeface="Calibri" pitchFamily="34" charset="0"/>
                <a:ea typeface="Calibri" pitchFamily="34" charset="-122"/>
                <a:cs typeface="Calibri" pitchFamily="34" charset="-120"/>
              </a:rPr>
              <a:t>Email</a:t>
            </a:r>
            <a:endParaRPr lang="en-US" sz="850" dirty="0"/>
          </a:p>
        </p:txBody>
      </p:sp>
      <p:sp>
        <p:nvSpPr>
          <p:cNvPr id="35" name="Text 33"/>
          <p:cNvSpPr txBox="1"/>
          <p:nvPr/>
        </p:nvSpPr>
        <p:spPr>
          <a:xfrm>
            <a:off x="4315968" y="2869184"/>
            <a:ext cx="3334360" cy="359156"/>
          </a:xfrm>
          <a:prstGeom prst="rect">
            <a:avLst/>
          </a:prstGeom>
          <a:noFill/>
          <a:ln/>
        </p:spPr>
        <p:txBody>
          <a:bodyPr wrap="square" lIns="0" tIns="0" rIns="0" bIns="0" rtlCol="0" anchor="t"/>
          <a:lstStyle/>
          <a:p>
            <a:pPr marL="0" indent="0">
              <a:buNone/>
            </a:pPr>
            <a:r>
              <a:rPr lang="en-US" sz="1100" b="1" dirty="0">
                <a:solidFill>
                  <a:srgbClr val="1B2230"/>
                </a:solidFill>
                <a:latin typeface="Calibri" pitchFamily="34" charset="0"/>
                <a:ea typeface="Calibri" pitchFamily="34" charset="-122"/>
                <a:cs typeface="Calibri" pitchFamily="34" charset="-120"/>
              </a:rPr>
              <a:t>The three doubts that stall the Private Review most</a:t>
            </a:r>
            <a:endParaRPr lang="en-US" sz="1100" dirty="0"/>
          </a:p>
        </p:txBody>
      </p:sp>
      <p:sp>
        <p:nvSpPr>
          <p:cNvPr id="36" name="Text 34"/>
          <p:cNvSpPr txBox="1"/>
          <p:nvPr/>
        </p:nvSpPr>
        <p:spPr>
          <a:xfrm>
            <a:off x="4315968" y="3264916"/>
            <a:ext cx="3334360" cy="780288"/>
          </a:xfrm>
          <a:prstGeom prst="rect">
            <a:avLst/>
          </a:prstGeom>
          <a:noFill/>
          <a:ln/>
        </p:spPr>
        <p:txBody>
          <a:bodyPr wrap="square" lIns="0" tIns="0" rIns="0" bIns="0" rtlCol="0" anchor="t"/>
          <a:lstStyle/>
          <a:p>
            <a:pPr marL="0" indent="0">
              <a:lnSpc>
                <a:spcPct val="105000"/>
              </a:lnSpc>
              <a:buNone/>
            </a:pPr>
            <a:r>
              <a:rPr lang="en-US" sz="1200" dirty="0">
                <a:solidFill>
                  <a:srgbClr val="1B2230"/>
                </a:solidFill>
                <a:latin typeface="Cambria" pitchFamily="34" charset="0"/>
                <a:ea typeface="Cambria" pitchFamily="34" charset="-122"/>
                <a:cs typeface="Cambria" pitchFamily="34" charset="-120"/>
              </a:rPr>
              <a:t>"I already paid for the profile": the profile is the measurement; the session is a coach's time reading it with you. "I don't have time": {{duracion_sesion}} minutes. "I already know what to do": usually not the first thing.</a:t>
            </a:r>
            <a:endParaRPr lang="en-US" sz="1200" dirty="0"/>
          </a:p>
        </p:txBody>
      </p:sp>
      <p:sp>
        <p:nvSpPr>
          <p:cNvPr id="37" name="Shape 35"/>
          <p:cNvSpPr/>
          <p:nvPr/>
        </p:nvSpPr>
        <p:spPr>
          <a:xfrm>
            <a:off x="7933792" y="2485136"/>
            <a:ext cx="3645256" cy="1669796"/>
          </a:xfrm>
          <a:prstGeom prst="roundRect">
            <a:avLst>
              <a:gd name="adj" fmla="val 5476"/>
            </a:avLst>
          </a:prstGeom>
          <a:solidFill>
            <a:srgbClr val="FFFFFF"/>
          </a:solidFill>
          <a:ln w="9525">
            <a:solidFill>
              <a:srgbClr val="DDE1E8"/>
            </a:solidFill>
            <a:prstDash val="solid"/>
          </a:ln>
        </p:spPr>
        <p:txBody>
          <a:bodyPr/>
          <a:lstStyle/>
          <a:p>
            <a:endParaRPr lang="en-MX"/>
          </a:p>
        </p:txBody>
      </p:sp>
      <p:sp>
        <p:nvSpPr>
          <p:cNvPr id="38" name="Text 36"/>
          <p:cNvSpPr txBox="1"/>
          <p:nvPr/>
        </p:nvSpPr>
        <p:spPr>
          <a:xfrm>
            <a:off x="8089240" y="2594864"/>
            <a:ext cx="457200" cy="219456"/>
          </a:xfrm>
          <a:prstGeom prst="rect">
            <a:avLst/>
          </a:prstGeom>
          <a:noFill/>
          <a:ln/>
        </p:spPr>
        <p:txBody>
          <a:bodyPr wrap="square" lIns="0" tIns="0" rIns="0" bIns="0" rtlCol="0" anchor="ctr"/>
          <a:lstStyle/>
          <a:p>
            <a:pPr marL="0" indent="0">
              <a:buNone/>
            </a:pPr>
            <a:r>
              <a:rPr lang="en-US" sz="1200" b="1" dirty="0">
                <a:solidFill>
                  <a:srgbClr val="1B2230"/>
                </a:solidFill>
                <a:latin typeface="Calibri" pitchFamily="34" charset="0"/>
                <a:ea typeface="Calibri" pitchFamily="34" charset="-122"/>
                <a:cs typeface="Calibri" pitchFamily="34" charset="-120"/>
              </a:rPr>
              <a:t>D8</a:t>
            </a:r>
            <a:endParaRPr lang="en-US" sz="1200" dirty="0"/>
          </a:p>
        </p:txBody>
      </p:sp>
      <p:sp>
        <p:nvSpPr>
          <p:cNvPr id="39" name="Text 37"/>
          <p:cNvSpPr txBox="1"/>
          <p:nvPr/>
        </p:nvSpPr>
        <p:spPr>
          <a:xfrm>
            <a:off x="8363560" y="2594864"/>
            <a:ext cx="1962760" cy="219456"/>
          </a:xfrm>
          <a:prstGeom prst="rect">
            <a:avLst/>
          </a:prstGeom>
          <a:noFill/>
          <a:ln/>
        </p:spPr>
        <p:txBody>
          <a:bodyPr wrap="square" lIns="0" tIns="0" rIns="0" bIns="0" rtlCol="0" anchor="ctr"/>
          <a:lstStyle/>
          <a:p>
            <a:pPr marL="0" indent="0">
              <a:buNone/>
            </a:pPr>
            <a:r>
              <a:rPr lang="en-US" sz="950" dirty="0">
                <a:solidFill>
                  <a:srgbClr val="5B6475"/>
                </a:solidFill>
                <a:latin typeface="Calibri" pitchFamily="34" charset="0"/>
                <a:ea typeface="Calibri" pitchFamily="34" charset="-122"/>
                <a:cs typeface="Calibri" pitchFamily="34" charset="-120"/>
              </a:rPr>
              <a:t>Day 21</a:t>
            </a:r>
            <a:endParaRPr lang="en-US" sz="950" dirty="0"/>
          </a:p>
        </p:txBody>
      </p:sp>
      <p:sp>
        <p:nvSpPr>
          <p:cNvPr id="40" name="Shape 38"/>
          <p:cNvSpPr/>
          <p:nvPr/>
        </p:nvSpPr>
        <p:spPr>
          <a:xfrm>
            <a:off x="10867187" y="2613152"/>
            <a:ext cx="556412" cy="220370"/>
          </a:xfrm>
          <a:prstGeom prst="roundRect">
            <a:avLst>
              <a:gd name="adj" fmla="val 50000"/>
            </a:avLst>
          </a:prstGeom>
          <a:solidFill>
            <a:srgbClr val="E9ECF6"/>
          </a:solidFill>
          <a:ln w="9525">
            <a:solidFill>
              <a:srgbClr val="E9ECF6"/>
            </a:solidFill>
            <a:prstDash val="solid"/>
          </a:ln>
        </p:spPr>
        <p:txBody>
          <a:bodyPr/>
          <a:lstStyle/>
          <a:p>
            <a:endParaRPr lang="en-MX"/>
          </a:p>
        </p:txBody>
      </p:sp>
      <p:sp>
        <p:nvSpPr>
          <p:cNvPr id="41" name="Text 39"/>
          <p:cNvSpPr txBox="1"/>
          <p:nvPr/>
        </p:nvSpPr>
        <p:spPr>
          <a:xfrm>
            <a:off x="10867187" y="2613152"/>
            <a:ext cx="556412" cy="220370"/>
          </a:xfrm>
          <a:prstGeom prst="rect">
            <a:avLst/>
          </a:prstGeom>
          <a:noFill/>
          <a:ln/>
        </p:spPr>
        <p:txBody>
          <a:bodyPr wrap="square" lIns="0" tIns="0" rIns="0" bIns="0" rtlCol="0" anchor="ctr"/>
          <a:lstStyle/>
          <a:p>
            <a:pPr marL="0" indent="0" algn="ctr">
              <a:buNone/>
            </a:pPr>
            <a:r>
              <a:rPr lang="en-US" sz="850" dirty="0">
                <a:solidFill>
                  <a:srgbClr val="3D4F86"/>
                </a:solidFill>
                <a:latin typeface="Calibri" pitchFamily="34" charset="0"/>
                <a:ea typeface="Calibri" pitchFamily="34" charset="-122"/>
                <a:cs typeface="Calibri" pitchFamily="34" charset="-120"/>
              </a:rPr>
              <a:t>Email</a:t>
            </a:r>
            <a:endParaRPr lang="en-US" sz="850" dirty="0"/>
          </a:p>
        </p:txBody>
      </p:sp>
      <p:sp>
        <p:nvSpPr>
          <p:cNvPr id="42" name="Text 40"/>
          <p:cNvSpPr txBox="1"/>
          <p:nvPr/>
        </p:nvSpPr>
        <p:spPr>
          <a:xfrm>
            <a:off x="8089240" y="2869184"/>
            <a:ext cx="3334360" cy="188722"/>
          </a:xfrm>
          <a:prstGeom prst="rect">
            <a:avLst/>
          </a:prstGeom>
          <a:noFill/>
          <a:ln/>
        </p:spPr>
        <p:txBody>
          <a:bodyPr wrap="square" lIns="0" tIns="0" rIns="0" bIns="0" rtlCol="0" anchor="t"/>
          <a:lstStyle/>
          <a:p>
            <a:pPr marL="0" indent="0">
              <a:buNone/>
            </a:pPr>
            <a:r>
              <a:rPr lang="en-US" sz="1100" b="1" dirty="0">
                <a:solidFill>
                  <a:srgbClr val="1B2230"/>
                </a:solidFill>
                <a:latin typeface="Calibri" pitchFamily="34" charset="0"/>
                <a:ea typeface="Calibri" pitchFamily="34" charset="-122"/>
                <a:cs typeface="Calibri" pitchFamily="34" charset="-120"/>
              </a:rPr>
              <a:t>Your profile doesn't expire, but your moment does</a:t>
            </a:r>
            <a:endParaRPr lang="en-US" sz="1100" dirty="0"/>
          </a:p>
        </p:txBody>
      </p:sp>
      <p:sp>
        <p:nvSpPr>
          <p:cNvPr id="43" name="Text 41"/>
          <p:cNvSpPr txBox="1"/>
          <p:nvPr/>
        </p:nvSpPr>
        <p:spPr>
          <a:xfrm>
            <a:off x="8089240" y="3094482"/>
            <a:ext cx="3334360" cy="589788"/>
          </a:xfrm>
          <a:prstGeom prst="rect">
            <a:avLst/>
          </a:prstGeom>
          <a:noFill/>
          <a:ln/>
        </p:spPr>
        <p:txBody>
          <a:bodyPr wrap="square" lIns="0" tIns="0" rIns="0" bIns="0" rtlCol="0" anchor="t"/>
          <a:lstStyle/>
          <a:p>
            <a:pPr marL="0" indent="0">
              <a:lnSpc>
                <a:spcPct val="105000"/>
              </a:lnSpc>
              <a:buNone/>
            </a:pPr>
            <a:r>
              <a:rPr lang="en-US" sz="1200" dirty="0">
                <a:solidFill>
                  <a:srgbClr val="1B2230"/>
                </a:solidFill>
                <a:latin typeface="Cambria" pitchFamily="34" charset="0"/>
                <a:ea typeface="Cambria" pitchFamily="34" charset="-122"/>
                <a:cs typeface="Cambria" pitchFamily="34" charset="-120"/>
              </a:rPr>
              <a:t>Last email about the Private Review. In 90 days we'll invite you to your re-assessment; the calendar stays open.</a:t>
            </a:r>
            <a:endParaRPr lang="en-US" sz="1200" dirty="0"/>
          </a:p>
        </p:txBody>
      </p:sp>
      <p:sp>
        <p:nvSpPr>
          <p:cNvPr id="44" name="Shape 42"/>
          <p:cNvSpPr/>
          <p:nvPr/>
        </p:nvSpPr>
        <p:spPr>
          <a:xfrm>
            <a:off x="8089240" y="3775710"/>
            <a:ext cx="1384950" cy="232258"/>
          </a:xfrm>
          <a:prstGeom prst="roundRect">
            <a:avLst>
              <a:gd name="adj" fmla="val 50000"/>
            </a:avLst>
          </a:prstGeom>
          <a:solidFill>
            <a:srgbClr val="1B2230"/>
          </a:solidFill>
          <a:ln w="9525">
            <a:solidFill>
              <a:srgbClr val="1B2230"/>
            </a:solidFill>
            <a:prstDash val="solid"/>
          </a:ln>
        </p:spPr>
        <p:txBody>
          <a:bodyPr/>
          <a:lstStyle/>
          <a:p>
            <a:endParaRPr lang="en-MX"/>
          </a:p>
        </p:txBody>
      </p:sp>
      <p:sp>
        <p:nvSpPr>
          <p:cNvPr id="45" name="Text 43"/>
          <p:cNvSpPr txBox="1"/>
          <p:nvPr/>
        </p:nvSpPr>
        <p:spPr>
          <a:xfrm>
            <a:off x="8089240" y="3775710"/>
            <a:ext cx="1384950" cy="23225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Book my Private Review</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7F9"/>
        </a:solidFill>
        <a:effectLst/>
      </p:bgPr>
    </p:bg>
    <p:spTree>
      <p:nvGrpSpPr>
        <p:cNvPr id="1" name=""/>
        <p:cNvGrpSpPr/>
        <p:nvPr/>
      </p:nvGrpSpPr>
      <p:grpSpPr>
        <a:xfrm>
          <a:off x="0" y="0"/>
          <a:ext cx="0" cy="0"/>
          <a:chOff x="0" y="0"/>
          <a:chExt cx="0" cy="0"/>
        </a:xfrm>
      </p:grpSpPr>
      <p:sp>
        <p:nvSpPr>
          <p:cNvPr id="2" name="Text 0"/>
          <p:cNvSpPr txBox="1"/>
          <p:nvPr/>
        </p:nvSpPr>
        <p:spPr>
          <a:xfrm>
            <a:off x="612648" y="6446520"/>
            <a:ext cx="4572000" cy="228600"/>
          </a:xfrm>
          <a:prstGeom prst="rect">
            <a:avLst/>
          </a:prstGeom>
          <a:noFill/>
          <a:ln/>
        </p:spPr>
        <p:txBody>
          <a:bodyPr wrap="square" lIns="0" tIns="0" rIns="0" bIns="0" rtlCol="0" anchor="ctr"/>
          <a:lstStyle/>
          <a:p>
            <a:pPr marL="0" indent="0">
              <a:buNone/>
            </a:pPr>
            <a:r>
              <a:rPr lang="en-US" sz="900" dirty="0">
                <a:solidFill>
                  <a:srgbClr val="5B6475"/>
                </a:solidFill>
                <a:latin typeface="Calibri" pitchFamily="34" charset="0"/>
                <a:ea typeface="Calibri" pitchFamily="34" charset="-122"/>
                <a:cs typeface="Calibri" pitchFamily="34" charset="-120"/>
              </a:rPr>
              <a:t>Zones of Life: funnels and copy</a:t>
            </a:r>
            <a:endParaRPr lang="en-US" sz="900" dirty="0"/>
          </a:p>
        </p:txBody>
      </p:sp>
      <p:sp>
        <p:nvSpPr>
          <p:cNvPr id="3" name="Text 1"/>
          <p:cNvSpPr txBox="1"/>
          <p:nvPr/>
        </p:nvSpPr>
        <p:spPr>
          <a:xfrm>
            <a:off x="10881360" y="6446520"/>
            <a:ext cx="694944" cy="228600"/>
          </a:xfrm>
          <a:prstGeom prst="rect">
            <a:avLst/>
          </a:prstGeom>
          <a:noFill/>
          <a:ln/>
        </p:spPr>
        <p:txBody>
          <a:bodyPr wrap="square" lIns="0" tIns="0" rIns="0" bIns="0" rtlCol="0" anchor="ctr"/>
          <a:lstStyle/>
          <a:p>
            <a:pPr marL="0" indent="0" algn="r">
              <a:buNone/>
            </a:pPr>
            <a:r>
              <a:rPr lang="en-US" sz="900" dirty="0">
                <a:solidFill>
                  <a:srgbClr val="5B6475"/>
                </a:solidFill>
                <a:latin typeface="Calibri" pitchFamily="34" charset="0"/>
                <a:ea typeface="Calibri" pitchFamily="34" charset="-122"/>
                <a:cs typeface="Calibri" pitchFamily="34" charset="-120"/>
              </a:rPr>
              <a:t>11</a:t>
            </a:r>
            <a:endParaRPr lang="en-US" sz="900" dirty="0"/>
          </a:p>
        </p:txBody>
      </p:sp>
      <p:sp>
        <p:nvSpPr>
          <p:cNvPr id="4" name="Shape 2"/>
          <p:cNvSpPr/>
          <p:nvPr/>
        </p:nvSpPr>
        <p:spPr>
          <a:xfrm>
            <a:off x="612648" y="530352"/>
            <a:ext cx="687629" cy="256032"/>
          </a:xfrm>
          <a:prstGeom prst="roundRect">
            <a:avLst>
              <a:gd name="adj" fmla="val 50000"/>
            </a:avLst>
          </a:prstGeom>
          <a:solidFill>
            <a:srgbClr val="E9ECF6"/>
          </a:solidFill>
          <a:ln w="9525">
            <a:solidFill>
              <a:srgbClr val="E9ECF6"/>
            </a:solidFill>
            <a:prstDash val="solid"/>
          </a:ln>
        </p:spPr>
        <p:txBody>
          <a:bodyPr/>
          <a:lstStyle/>
          <a:p>
            <a:endParaRPr lang="en-MX"/>
          </a:p>
        </p:txBody>
      </p:sp>
      <p:sp>
        <p:nvSpPr>
          <p:cNvPr id="5" name="Text 3"/>
          <p:cNvSpPr txBox="1"/>
          <p:nvPr/>
        </p:nvSpPr>
        <p:spPr>
          <a:xfrm>
            <a:off x="612648" y="530352"/>
            <a:ext cx="687629" cy="256032"/>
          </a:xfrm>
          <a:prstGeom prst="rect">
            <a:avLst/>
          </a:prstGeom>
          <a:noFill/>
          <a:ln/>
        </p:spPr>
        <p:txBody>
          <a:bodyPr wrap="square" lIns="0" tIns="0" rIns="0" bIns="0" rtlCol="0" anchor="ctr"/>
          <a:lstStyle/>
          <a:p>
            <a:pPr marL="0" indent="0" algn="ctr">
              <a:buNone/>
            </a:pPr>
            <a:r>
              <a:rPr lang="en-US" sz="1000" b="1" dirty="0">
                <a:solidFill>
                  <a:srgbClr val="3D4F86"/>
                </a:solidFill>
                <a:latin typeface="Calibri" pitchFamily="34" charset="0"/>
                <a:ea typeface="Calibri" pitchFamily="34" charset="-122"/>
                <a:cs typeface="Calibri" pitchFamily="34" charset="-120"/>
              </a:rPr>
              <a:t>Session</a:t>
            </a:r>
            <a:endParaRPr lang="en-US" sz="1000" dirty="0"/>
          </a:p>
        </p:txBody>
      </p:sp>
      <p:sp>
        <p:nvSpPr>
          <p:cNvPr id="6" name="Text 4"/>
          <p:cNvSpPr txBox="1"/>
          <p:nvPr/>
        </p:nvSpPr>
        <p:spPr>
          <a:xfrm>
            <a:off x="612648" y="941832"/>
            <a:ext cx="3200400" cy="813816"/>
          </a:xfrm>
          <a:prstGeom prst="rect">
            <a:avLst/>
          </a:prstGeom>
          <a:noFill/>
          <a:ln/>
        </p:spPr>
        <p:txBody>
          <a:bodyPr wrap="square" lIns="0" tIns="0" rIns="0" bIns="0" rtlCol="0" anchor="t"/>
          <a:lstStyle/>
          <a:p>
            <a:pPr marL="0" indent="0">
              <a:lnSpc>
                <a:spcPct val="95000"/>
              </a:lnSpc>
              <a:buNone/>
            </a:pPr>
            <a:r>
              <a:rPr lang="en-US" sz="2800" dirty="0">
                <a:solidFill>
                  <a:srgbClr val="1B2230"/>
                </a:solidFill>
                <a:latin typeface="Cambria" pitchFamily="34" charset="0"/>
                <a:ea typeface="Cambria" pitchFamily="34" charset="-122"/>
                <a:cs typeface="Cambria" pitchFamily="34" charset="-120"/>
              </a:rPr>
              <a:t>Confirmation and reminders</a:t>
            </a:r>
            <a:endParaRPr lang="en-US" sz="2800" dirty="0"/>
          </a:p>
        </p:txBody>
      </p:sp>
      <p:sp>
        <p:nvSpPr>
          <p:cNvPr id="7" name="Text 5"/>
          <p:cNvSpPr txBox="1"/>
          <p:nvPr/>
        </p:nvSpPr>
        <p:spPr>
          <a:xfrm>
            <a:off x="612648" y="1920240"/>
            <a:ext cx="3200400" cy="423926"/>
          </a:xfrm>
          <a:prstGeom prst="rect">
            <a:avLst/>
          </a:prstGeom>
          <a:noFill/>
          <a:ln/>
        </p:spPr>
        <p:txBody>
          <a:bodyPr wrap="square" lIns="0" tIns="0" rIns="0" bIns="0" rtlCol="0" anchor="t"/>
          <a:lstStyle/>
          <a:p>
            <a:pPr marL="0" indent="0">
              <a:buNone/>
            </a:pPr>
            <a:r>
              <a:rPr lang="en-US" sz="1250" b="1" dirty="0">
                <a:solidFill>
                  <a:srgbClr val="1B2230"/>
                </a:solidFill>
                <a:latin typeface="Calibri" pitchFamily="34" charset="0"/>
                <a:ea typeface="Calibri" pitchFamily="34" charset="-122"/>
                <a:cs typeface="Calibri" pitchFamily="34" charset="-120"/>
              </a:rPr>
              <a:t>Enters</a:t>
            </a:r>
            <a:endParaRPr lang="en-US" sz="1250" dirty="0"/>
          </a:p>
          <a:p>
            <a:pPr marL="0" indent="0">
              <a:buNone/>
            </a:pPr>
            <a:r>
              <a:rPr lang="en-US" sz="1250" dirty="0">
                <a:solidFill>
                  <a:srgbClr val="5B6475"/>
                </a:solidFill>
                <a:latin typeface="Calibri" pitchFamily="34" charset="0"/>
                <a:ea typeface="Calibri" pitchFamily="34" charset="-122"/>
                <a:cs typeface="Calibri" pitchFamily="34" charset="-120"/>
              </a:rPr>
              <a:t>Books the Private Review</a:t>
            </a:r>
            <a:endParaRPr lang="en-US" sz="1250" dirty="0"/>
          </a:p>
        </p:txBody>
      </p:sp>
      <p:sp>
        <p:nvSpPr>
          <p:cNvPr id="8" name="Text 6"/>
          <p:cNvSpPr txBox="1"/>
          <p:nvPr/>
        </p:nvSpPr>
        <p:spPr>
          <a:xfrm>
            <a:off x="612648" y="2472182"/>
            <a:ext cx="3200400" cy="423926"/>
          </a:xfrm>
          <a:prstGeom prst="rect">
            <a:avLst/>
          </a:prstGeom>
          <a:noFill/>
          <a:ln/>
        </p:spPr>
        <p:txBody>
          <a:bodyPr wrap="square" lIns="0" tIns="0" rIns="0" bIns="0" rtlCol="0" anchor="t"/>
          <a:lstStyle/>
          <a:p>
            <a:pPr marL="0" indent="0">
              <a:buNone/>
            </a:pPr>
            <a:r>
              <a:rPr lang="en-US" sz="1250" b="1" dirty="0">
                <a:solidFill>
                  <a:srgbClr val="1B2230"/>
                </a:solidFill>
                <a:latin typeface="Calibri" pitchFamily="34" charset="0"/>
                <a:ea typeface="Calibri" pitchFamily="34" charset="-122"/>
                <a:cs typeface="Calibri" pitchFamily="34" charset="-120"/>
              </a:rPr>
              <a:t>Exits</a:t>
            </a:r>
            <a:endParaRPr lang="en-US" sz="1250" dirty="0"/>
          </a:p>
          <a:p>
            <a:pPr marL="0" indent="0">
              <a:buNone/>
            </a:pPr>
            <a:r>
              <a:rPr lang="en-US" sz="1250" dirty="0">
                <a:solidFill>
                  <a:srgbClr val="5B6475"/>
                </a:solidFill>
                <a:latin typeface="Calibri" pitchFamily="34" charset="0"/>
                <a:ea typeface="Calibri" pitchFamily="34" charset="-122"/>
                <a:cs typeface="Calibri" pitchFamily="34" charset="-120"/>
              </a:rPr>
              <a:t>Attends or no-shows</a:t>
            </a:r>
            <a:endParaRPr lang="en-US" sz="1250" dirty="0"/>
          </a:p>
        </p:txBody>
      </p:sp>
      <p:sp>
        <p:nvSpPr>
          <p:cNvPr id="9" name="Shape 7"/>
          <p:cNvSpPr/>
          <p:nvPr/>
        </p:nvSpPr>
        <p:spPr>
          <a:xfrm>
            <a:off x="4160520" y="530352"/>
            <a:ext cx="3645256" cy="1826768"/>
          </a:xfrm>
          <a:prstGeom prst="roundRect">
            <a:avLst>
              <a:gd name="adj" fmla="val 5006"/>
            </a:avLst>
          </a:prstGeom>
          <a:solidFill>
            <a:srgbClr val="FFFFFF"/>
          </a:solidFill>
          <a:ln w="9525">
            <a:solidFill>
              <a:srgbClr val="DDE1E8"/>
            </a:solidFill>
            <a:prstDash val="solid"/>
          </a:ln>
        </p:spPr>
        <p:txBody>
          <a:bodyPr/>
          <a:lstStyle/>
          <a:p>
            <a:endParaRPr lang="en-MX"/>
          </a:p>
        </p:txBody>
      </p:sp>
      <p:sp>
        <p:nvSpPr>
          <p:cNvPr id="10" name="Text 8"/>
          <p:cNvSpPr txBox="1"/>
          <p:nvPr/>
        </p:nvSpPr>
        <p:spPr>
          <a:xfrm>
            <a:off x="4315968" y="640080"/>
            <a:ext cx="457200" cy="219456"/>
          </a:xfrm>
          <a:prstGeom prst="rect">
            <a:avLst/>
          </a:prstGeom>
          <a:noFill/>
          <a:ln/>
        </p:spPr>
        <p:txBody>
          <a:bodyPr wrap="square" lIns="0" tIns="0" rIns="0" bIns="0" rtlCol="0" anchor="ctr"/>
          <a:lstStyle/>
          <a:p>
            <a:pPr marL="0" indent="0">
              <a:buNone/>
            </a:pPr>
            <a:r>
              <a:rPr lang="en-US" sz="1200" b="1" dirty="0">
                <a:solidFill>
                  <a:srgbClr val="1B2230"/>
                </a:solidFill>
                <a:latin typeface="Calibri" pitchFamily="34" charset="0"/>
                <a:ea typeface="Calibri" pitchFamily="34" charset="-122"/>
                <a:cs typeface="Calibri" pitchFamily="34" charset="-120"/>
              </a:rPr>
              <a:t>S1</a:t>
            </a:r>
            <a:endParaRPr lang="en-US" sz="1200" dirty="0"/>
          </a:p>
        </p:txBody>
      </p:sp>
      <p:sp>
        <p:nvSpPr>
          <p:cNvPr id="11" name="Text 9"/>
          <p:cNvSpPr txBox="1"/>
          <p:nvPr/>
        </p:nvSpPr>
        <p:spPr>
          <a:xfrm>
            <a:off x="4590288" y="640080"/>
            <a:ext cx="1962760" cy="219456"/>
          </a:xfrm>
          <a:prstGeom prst="rect">
            <a:avLst/>
          </a:prstGeom>
          <a:noFill/>
          <a:ln/>
        </p:spPr>
        <p:txBody>
          <a:bodyPr wrap="square" lIns="0" tIns="0" rIns="0" bIns="0" rtlCol="0" anchor="ctr"/>
          <a:lstStyle/>
          <a:p>
            <a:pPr marL="0" indent="0">
              <a:buNone/>
            </a:pPr>
            <a:r>
              <a:rPr lang="en-US" sz="950" dirty="0">
                <a:solidFill>
                  <a:srgbClr val="5B6475"/>
                </a:solidFill>
                <a:latin typeface="Calibri" pitchFamily="34" charset="0"/>
                <a:ea typeface="Calibri" pitchFamily="34" charset="-122"/>
                <a:cs typeface="Calibri" pitchFamily="34" charset="-120"/>
              </a:rPr>
              <a:t>On booking</a:t>
            </a:r>
            <a:endParaRPr lang="en-US" sz="950" dirty="0"/>
          </a:p>
        </p:txBody>
      </p:sp>
      <p:sp>
        <p:nvSpPr>
          <p:cNvPr id="12" name="Shape 10"/>
          <p:cNvSpPr/>
          <p:nvPr/>
        </p:nvSpPr>
        <p:spPr>
          <a:xfrm>
            <a:off x="7093915" y="658368"/>
            <a:ext cx="556412" cy="220370"/>
          </a:xfrm>
          <a:prstGeom prst="roundRect">
            <a:avLst>
              <a:gd name="adj" fmla="val 50000"/>
            </a:avLst>
          </a:prstGeom>
          <a:solidFill>
            <a:srgbClr val="E9ECF6"/>
          </a:solidFill>
          <a:ln w="9525">
            <a:solidFill>
              <a:srgbClr val="E9ECF6"/>
            </a:solidFill>
            <a:prstDash val="solid"/>
          </a:ln>
        </p:spPr>
        <p:txBody>
          <a:bodyPr/>
          <a:lstStyle/>
          <a:p>
            <a:endParaRPr lang="en-MX"/>
          </a:p>
        </p:txBody>
      </p:sp>
      <p:sp>
        <p:nvSpPr>
          <p:cNvPr id="13" name="Text 11"/>
          <p:cNvSpPr txBox="1"/>
          <p:nvPr/>
        </p:nvSpPr>
        <p:spPr>
          <a:xfrm>
            <a:off x="7093915" y="658368"/>
            <a:ext cx="556412" cy="220370"/>
          </a:xfrm>
          <a:prstGeom prst="rect">
            <a:avLst/>
          </a:prstGeom>
          <a:noFill/>
          <a:ln/>
        </p:spPr>
        <p:txBody>
          <a:bodyPr wrap="square" lIns="0" tIns="0" rIns="0" bIns="0" rtlCol="0" anchor="ctr"/>
          <a:lstStyle/>
          <a:p>
            <a:pPr marL="0" indent="0" algn="ctr">
              <a:buNone/>
            </a:pPr>
            <a:r>
              <a:rPr lang="en-US" sz="850" dirty="0">
                <a:solidFill>
                  <a:srgbClr val="3D4F86"/>
                </a:solidFill>
                <a:latin typeface="Calibri" pitchFamily="34" charset="0"/>
                <a:ea typeface="Calibri" pitchFamily="34" charset="-122"/>
                <a:cs typeface="Calibri" pitchFamily="34" charset="-120"/>
              </a:rPr>
              <a:t>Email</a:t>
            </a:r>
            <a:endParaRPr lang="en-US" sz="850" dirty="0"/>
          </a:p>
        </p:txBody>
      </p:sp>
      <p:sp>
        <p:nvSpPr>
          <p:cNvPr id="14" name="Text 12"/>
          <p:cNvSpPr txBox="1"/>
          <p:nvPr/>
        </p:nvSpPr>
        <p:spPr>
          <a:xfrm>
            <a:off x="4315968" y="914400"/>
            <a:ext cx="3334360" cy="359156"/>
          </a:xfrm>
          <a:prstGeom prst="rect">
            <a:avLst/>
          </a:prstGeom>
          <a:noFill/>
          <a:ln/>
        </p:spPr>
        <p:txBody>
          <a:bodyPr wrap="square" lIns="0" tIns="0" rIns="0" bIns="0" rtlCol="0" anchor="t"/>
          <a:lstStyle/>
          <a:p>
            <a:pPr marL="0" indent="0">
              <a:buNone/>
            </a:pPr>
            <a:r>
              <a:rPr lang="en-US" sz="1100" b="1" dirty="0">
                <a:solidFill>
                  <a:srgbClr val="1B2230"/>
                </a:solidFill>
                <a:latin typeface="Calibri" pitchFamily="34" charset="0"/>
                <a:ea typeface="Calibri" pitchFamily="34" charset="-122"/>
                <a:cs typeface="Calibri" pitchFamily="34" charset="-120"/>
              </a:rPr>
              <a:t>Payment confirmed: {{fecha_sesion}}, {{hora_sesion}}</a:t>
            </a:r>
            <a:endParaRPr lang="en-US" sz="1100" dirty="0"/>
          </a:p>
        </p:txBody>
      </p:sp>
      <p:sp>
        <p:nvSpPr>
          <p:cNvPr id="15" name="Text 13"/>
          <p:cNvSpPr txBox="1"/>
          <p:nvPr/>
        </p:nvSpPr>
        <p:spPr>
          <a:xfrm>
            <a:off x="4315968" y="1310132"/>
            <a:ext cx="3334360" cy="589788"/>
          </a:xfrm>
          <a:prstGeom prst="rect">
            <a:avLst/>
          </a:prstGeom>
          <a:noFill/>
          <a:ln/>
        </p:spPr>
        <p:txBody>
          <a:bodyPr wrap="square" lIns="0" tIns="0" rIns="0" bIns="0" rtlCol="0" anchor="t"/>
          <a:lstStyle/>
          <a:p>
            <a:pPr marL="0" indent="0">
              <a:lnSpc>
                <a:spcPct val="105000"/>
              </a:lnSpc>
              <a:buNone/>
            </a:pPr>
            <a:r>
              <a:rPr lang="en-US" sz="1200" dirty="0">
                <a:solidFill>
                  <a:srgbClr val="1B2230"/>
                </a:solidFill>
                <a:latin typeface="Cambria" pitchFamily="34" charset="0"/>
                <a:ea typeface="Cambria" pitchFamily="34" charset="-122"/>
                <a:cs typeface="Cambria" pitchFamily="34" charset="-120"/>
              </a:rPr>
              <a:t>Keep your chart and plan at hand, and bring one question about {{habilidad_critica}}. Free rescheduling up to {{horas_reagendar}} hours before.</a:t>
            </a:r>
            <a:endParaRPr lang="en-US" sz="1200" dirty="0"/>
          </a:p>
        </p:txBody>
      </p:sp>
      <p:sp>
        <p:nvSpPr>
          <p:cNvPr id="16" name="Shape 14"/>
          <p:cNvSpPr/>
          <p:nvPr/>
        </p:nvSpPr>
        <p:spPr>
          <a:xfrm>
            <a:off x="4315968" y="1991360"/>
            <a:ext cx="1789847" cy="232258"/>
          </a:xfrm>
          <a:prstGeom prst="roundRect">
            <a:avLst>
              <a:gd name="adj" fmla="val 50000"/>
            </a:avLst>
          </a:prstGeom>
          <a:solidFill>
            <a:srgbClr val="1B2230"/>
          </a:solidFill>
          <a:ln w="9525">
            <a:solidFill>
              <a:srgbClr val="1B2230"/>
            </a:solidFill>
            <a:prstDash val="solid"/>
          </a:ln>
        </p:spPr>
        <p:txBody>
          <a:bodyPr/>
          <a:lstStyle/>
          <a:p>
            <a:endParaRPr lang="en-MX"/>
          </a:p>
        </p:txBody>
      </p:sp>
      <p:sp>
        <p:nvSpPr>
          <p:cNvPr id="17" name="Text 15"/>
          <p:cNvSpPr txBox="1"/>
          <p:nvPr/>
        </p:nvSpPr>
        <p:spPr>
          <a:xfrm>
            <a:off x="4315968" y="1991360"/>
            <a:ext cx="1789847" cy="23225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Add to my calendar</a:t>
            </a:r>
            <a:endParaRPr lang="en-US" sz="900" dirty="0"/>
          </a:p>
        </p:txBody>
      </p:sp>
      <p:sp>
        <p:nvSpPr>
          <p:cNvPr id="18" name="Shape 16"/>
          <p:cNvSpPr/>
          <p:nvPr/>
        </p:nvSpPr>
        <p:spPr>
          <a:xfrm>
            <a:off x="6178967" y="1991360"/>
            <a:ext cx="845088" cy="232258"/>
          </a:xfrm>
          <a:prstGeom prst="roundRect">
            <a:avLst>
              <a:gd name="adj" fmla="val 50000"/>
            </a:avLst>
          </a:prstGeom>
          <a:solidFill>
            <a:srgbClr val="FFFFFF"/>
          </a:solidFill>
          <a:ln w="9525">
            <a:solidFill>
              <a:srgbClr val="DDE1E8"/>
            </a:solidFill>
            <a:prstDash val="solid"/>
          </a:ln>
        </p:spPr>
        <p:txBody>
          <a:bodyPr/>
          <a:lstStyle/>
          <a:p>
            <a:endParaRPr lang="en-MX"/>
          </a:p>
        </p:txBody>
      </p:sp>
      <p:sp>
        <p:nvSpPr>
          <p:cNvPr id="19" name="Text 17"/>
          <p:cNvSpPr txBox="1"/>
          <p:nvPr/>
        </p:nvSpPr>
        <p:spPr>
          <a:xfrm>
            <a:off x="6178967" y="1991360"/>
            <a:ext cx="845088" cy="232258"/>
          </a:xfrm>
          <a:prstGeom prst="rect">
            <a:avLst/>
          </a:prstGeom>
          <a:noFill/>
          <a:ln/>
        </p:spPr>
        <p:txBody>
          <a:bodyPr wrap="square" lIns="0" tIns="0" rIns="0" bIns="0" rtlCol="0" anchor="ctr"/>
          <a:lstStyle/>
          <a:p>
            <a:pPr marL="0" indent="0" algn="ctr">
              <a:buNone/>
            </a:pPr>
            <a:r>
              <a:rPr lang="en-US" sz="900" dirty="0">
                <a:solidFill>
                  <a:srgbClr val="1B2230"/>
                </a:solidFill>
                <a:latin typeface="Calibri" pitchFamily="34" charset="0"/>
                <a:ea typeface="Calibri" pitchFamily="34" charset="-122"/>
                <a:cs typeface="Calibri" pitchFamily="34" charset="-120"/>
              </a:rPr>
              <a:t>Reschedule</a:t>
            </a:r>
            <a:endParaRPr lang="en-US" sz="900" dirty="0"/>
          </a:p>
        </p:txBody>
      </p:sp>
      <p:sp>
        <p:nvSpPr>
          <p:cNvPr id="20" name="Shape 18"/>
          <p:cNvSpPr/>
          <p:nvPr/>
        </p:nvSpPr>
        <p:spPr>
          <a:xfrm>
            <a:off x="7933792" y="530352"/>
            <a:ext cx="3645256" cy="1826768"/>
          </a:xfrm>
          <a:prstGeom prst="roundRect">
            <a:avLst>
              <a:gd name="adj" fmla="val 5006"/>
            </a:avLst>
          </a:prstGeom>
          <a:solidFill>
            <a:srgbClr val="FFFFFF"/>
          </a:solidFill>
          <a:ln w="9525">
            <a:solidFill>
              <a:srgbClr val="DDE1E8"/>
            </a:solidFill>
            <a:prstDash val="solid"/>
          </a:ln>
        </p:spPr>
        <p:txBody>
          <a:bodyPr/>
          <a:lstStyle/>
          <a:p>
            <a:endParaRPr lang="en-MX"/>
          </a:p>
        </p:txBody>
      </p:sp>
      <p:sp>
        <p:nvSpPr>
          <p:cNvPr id="21" name="Text 19"/>
          <p:cNvSpPr txBox="1"/>
          <p:nvPr/>
        </p:nvSpPr>
        <p:spPr>
          <a:xfrm>
            <a:off x="8089240" y="640080"/>
            <a:ext cx="457200" cy="219456"/>
          </a:xfrm>
          <a:prstGeom prst="rect">
            <a:avLst/>
          </a:prstGeom>
          <a:noFill/>
          <a:ln/>
        </p:spPr>
        <p:txBody>
          <a:bodyPr wrap="square" lIns="0" tIns="0" rIns="0" bIns="0" rtlCol="0" anchor="ctr"/>
          <a:lstStyle/>
          <a:p>
            <a:pPr marL="0" indent="0">
              <a:buNone/>
            </a:pPr>
            <a:r>
              <a:rPr lang="en-US" sz="1200" b="1" dirty="0">
                <a:solidFill>
                  <a:srgbClr val="1B2230"/>
                </a:solidFill>
                <a:latin typeface="Calibri" pitchFamily="34" charset="0"/>
                <a:ea typeface="Calibri" pitchFamily="34" charset="-122"/>
                <a:cs typeface="Calibri" pitchFamily="34" charset="-120"/>
              </a:rPr>
              <a:t>S2</a:t>
            </a:r>
            <a:endParaRPr lang="en-US" sz="1200" dirty="0"/>
          </a:p>
        </p:txBody>
      </p:sp>
      <p:sp>
        <p:nvSpPr>
          <p:cNvPr id="22" name="Text 20"/>
          <p:cNvSpPr txBox="1"/>
          <p:nvPr/>
        </p:nvSpPr>
        <p:spPr>
          <a:xfrm>
            <a:off x="8363560" y="640080"/>
            <a:ext cx="1962760" cy="219456"/>
          </a:xfrm>
          <a:prstGeom prst="rect">
            <a:avLst/>
          </a:prstGeom>
          <a:noFill/>
          <a:ln/>
        </p:spPr>
        <p:txBody>
          <a:bodyPr wrap="square" lIns="0" tIns="0" rIns="0" bIns="0" rtlCol="0" anchor="ctr"/>
          <a:lstStyle/>
          <a:p>
            <a:pPr marL="0" indent="0">
              <a:buNone/>
            </a:pPr>
            <a:r>
              <a:rPr lang="en-US" sz="950" dirty="0">
                <a:solidFill>
                  <a:srgbClr val="5B6475"/>
                </a:solidFill>
                <a:latin typeface="Calibri" pitchFamily="34" charset="0"/>
                <a:ea typeface="Calibri" pitchFamily="34" charset="-122"/>
                <a:cs typeface="Calibri" pitchFamily="34" charset="-120"/>
              </a:rPr>
              <a:t>On booking</a:t>
            </a:r>
            <a:endParaRPr lang="en-US" sz="950" dirty="0"/>
          </a:p>
        </p:txBody>
      </p:sp>
      <p:sp>
        <p:nvSpPr>
          <p:cNvPr id="23" name="Shape 21"/>
          <p:cNvSpPr/>
          <p:nvPr/>
        </p:nvSpPr>
        <p:spPr>
          <a:xfrm>
            <a:off x="10675986" y="658368"/>
            <a:ext cx="747613" cy="220370"/>
          </a:xfrm>
          <a:prstGeom prst="roundRect">
            <a:avLst>
              <a:gd name="adj" fmla="val 50000"/>
            </a:avLst>
          </a:prstGeom>
          <a:solidFill>
            <a:srgbClr val="E1F2EF"/>
          </a:solidFill>
          <a:ln w="9525">
            <a:solidFill>
              <a:srgbClr val="E1F2EF"/>
            </a:solidFill>
            <a:prstDash val="solid"/>
          </a:ln>
        </p:spPr>
        <p:txBody>
          <a:bodyPr/>
          <a:lstStyle/>
          <a:p>
            <a:endParaRPr lang="en-MX"/>
          </a:p>
        </p:txBody>
      </p:sp>
      <p:sp>
        <p:nvSpPr>
          <p:cNvPr id="24" name="Text 22"/>
          <p:cNvSpPr txBox="1"/>
          <p:nvPr/>
        </p:nvSpPr>
        <p:spPr>
          <a:xfrm>
            <a:off x="10675986" y="658368"/>
            <a:ext cx="747613" cy="220370"/>
          </a:xfrm>
          <a:prstGeom prst="rect">
            <a:avLst/>
          </a:prstGeom>
          <a:noFill/>
          <a:ln/>
        </p:spPr>
        <p:txBody>
          <a:bodyPr wrap="square" lIns="0" tIns="0" rIns="0" bIns="0" rtlCol="0" anchor="ctr"/>
          <a:lstStyle/>
          <a:p>
            <a:pPr marL="0" indent="0" algn="ctr">
              <a:buNone/>
            </a:pPr>
            <a:r>
              <a:rPr lang="en-US" sz="850" dirty="0">
                <a:solidFill>
                  <a:srgbClr val="1F7A70"/>
                </a:solidFill>
                <a:latin typeface="Calibri" pitchFamily="34" charset="0"/>
                <a:ea typeface="Calibri" pitchFamily="34" charset="-122"/>
                <a:cs typeface="Calibri" pitchFamily="34" charset="-120"/>
              </a:rPr>
              <a:t>WhatsApp</a:t>
            </a:r>
            <a:endParaRPr lang="en-US" sz="850" dirty="0"/>
          </a:p>
        </p:txBody>
      </p:sp>
      <p:sp>
        <p:nvSpPr>
          <p:cNvPr id="25" name="Text 23"/>
          <p:cNvSpPr txBox="1"/>
          <p:nvPr/>
        </p:nvSpPr>
        <p:spPr>
          <a:xfrm>
            <a:off x="8089240" y="914400"/>
            <a:ext cx="3334360" cy="780288"/>
          </a:xfrm>
          <a:prstGeom prst="rect">
            <a:avLst/>
          </a:prstGeom>
          <a:noFill/>
          <a:ln/>
        </p:spPr>
        <p:txBody>
          <a:bodyPr wrap="square" lIns="0" tIns="0" rIns="0" bIns="0" rtlCol="0" anchor="t"/>
          <a:lstStyle/>
          <a:p>
            <a:pPr marL="0" indent="0">
              <a:lnSpc>
                <a:spcPct val="105000"/>
              </a:lnSpc>
              <a:buNone/>
            </a:pPr>
            <a:r>
              <a:rPr lang="en-US" sz="1200" dirty="0">
                <a:solidFill>
                  <a:srgbClr val="1B2230"/>
                </a:solidFill>
                <a:latin typeface="Cambria" pitchFamily="34" charset="0"/>
                <a:ea typeface="Cambria" pitchFamily="34" charset="-122"/>
                <a:cs typeface="Cambria" pitchFamily="34" charset="-120"/>
              </a:rPr>
              <a:t>All set, {{nombre}}. Your payment is recorded and your Private Review with {{coach}} is on {{fecha_sesion}} at {{hora_sesion}}.</a:t>
            </a:r>
            <a:endParaRPr lang="en-US" sz="1200" dirty="0"/>
          </a:p>
        </p:txBody>
      </p:sp>
      <p:sp>
        <p:nvSpPr>
          <p:cNvPr id="26" name="Shape 24"/>
          <p:cNvSpPr/>
          <p:nvPr/>
        </p:nvSpPr>
        <p:spPr>
          <a:xfrm>
            <a:off x="4160520" y="2485136"/>
            <a:ext cx="3645256" cy="1465834"/>
          </a:xfrm>
          <a:prstGeom prst="roundRect">
            <a:avLst>
              <a:gd name="adj" fmla="val 6238"/>
            </a:avLst>
          </a:prstGeom>
          <a:solidFill>
            <a:srgbClr val="FFFFFF"/>
          </a:solidFill>
          <a:ln w="9525">
            <a:solidFill>
              <a:srgbClr val="DDE1E8"/>
            </a:solidFill>
            <a:prstDash val="solid"/>
          </a:ln>
        </p:spPr>
        <p:txBody>
          <a:bodyPr/>
          <a:lstStyle/>
          <a:p>
            <a:endParaRPr lang="en-MX"/>
          </a:p>
        </p:txBody>
      </p:sp>
      <p:sp>
        <p:nvSpPr>
          <p:cNvPr id="27" name="Text 25"/>
          <p:cNvSpPr txBox="1"/>
          <p:nvPr/>
        </p:nvSpPr>
        <p:spPr>
          <a:xfrm>
            <a:off x="4315968" y="2594864"/>
            <a:ext cx="457200" cy="219456"/>
          </a:xfrm>
          <a:prstGeom prst="rect">
            <a:avLst/>
          </a:prstGeom>
          <a:noFill/>
          <a:ln/>
        </p:spPr>
        <p:txBody>
          <a:bodyPr wrap="square" lIns="0" tIns="0" rIns="0" bIns="0" rtlCol="0" anchor="ctr"/>
          <a:lstStyle/>
          <a:p>
            <a:pPr marL="0" indent="0">
              <a:buNone/>
            </a:pPr>
            <a:r>
              <a:rPr lang="en-US" sz="1200" b="1" dirty="0">
                <a:solidFill>
                  <a:srgbClr val="1B2230"/>
                </a:solidFill>
                <a:latin typeface="Calibri" pitchFamily="34" charset="0"/>
                <a:ea typeface="Calibri" pitchFamily="34" charset="-122"/>
                <a:cs typeface="Calibri" pitchFamily="34" charset="-120"/>
              </a:rPr>
              <a:t>S3</a:t>
            </a:r>
            <a:endParaRPr lang="en-US" sz="1200" dirty="0"/>
          </a:p>
        </p:txBody>
      </p:sp>
      <p:sp>
        <p:nvSpPr>
          <p:cNvPr id="28" name="Text 26"/>
          <p:cNvSpPr txBox="1"/>
          <p:nvPr/>
        </p:nvSpPr>
        <p:spPr>
          <a:xfrm>
            <a:off x="4590288" y="2594864"/>
            <a:ext cx="1962760" cy="219456"/>
          </a:xfrm>
          <a:prstGeom prst="rect">
            <a:avLst/>
          </a:prstGeom>
          <a:noFill/>
          <a:ln/>
        </p:spPr>
        <p:txBody>
          <a:bodyPr wrap="square" lIns="0" tIns="0" rIns="0" bIns="0" rtlCol="0" anchor="ctr"/>
          <a:lstStyle/>
          <a:p>
            <a:pPr marL="0" indent="0">
              <a:buNone/>
            </a:pPr>
            <a:r>
              <a:rPr lang="en-US" sz="950" dirty="0">
                <a:solidFill>
                  <a:srgbClr val="5B6475"/>
                </a:solidFill>
                <a:latin typeface="Calibri" pitchFamily="34" charset="0"/>
                <a:ea typeface="Calibri" pitchFamily="34" charset="-122"/>
                <a:cs typeface="Calibri" pitchFamily="34" charset="-120"/>
              </a:rPr>
              <a:t>24 hours before</a:t>
            </a:r>
            <a:endParaRPr lang="en-US" sz="950" dirty="0"/>
          </a:p>
        </p:txBody>
      </p:sp>
      <p:sp>
        <p:nvSpPr>
          <p:cNvPr id="29" name="Shape 27"/>
          <p:cNvSpPr/>
          <p:nvPr/>
        </p:nvSpPr>
        <p:spPr>
          <a:xfrm>
            <a:off x="7093915" y="2613152"/>
            <a:ext cx="556412" cy="220370"/>
          </a:xfrm>
          <a:prstGeom prst="roundRect">
            <a:avLst>
              <a:gd name="adj" fmla="val 50000"/>
            </a:avLst>
          </a:prstGeom>
          <a:solidFill>
            <a:srgbClr val="E9ECF6"/>
          </a:solidFill>
          <a:ln w="9525">
            <a:solidFill>
              <a:srgbClr val="E9ECF6"/>
            </a:solidFill>
            <a:prstDash val="solid"/>
          </a:ln>
        </p:spPr>
        <p:txBody>
          <a:bodyPr/>
          <a:lstStyle/>
          <a:p>
            <a:endParaRPr lang="en-MX"/>
          </a:p>
        </p:txBody>
      </p:sp>
      <p:sp>
        <p:nvSpPr>
          <p:cNvPr id="30" name="Text 28"/>
          <p:cNvSpPr txBox="1"/>
          <p:nvPr/>
        </p:nvSpPr>
        <p:spPr>
          <a:xfrm>
            <a:off x="7093915" y="2613152"/>
            <a:ext cx="556412" cy="220370"/>
          </a:xfrm>
          <a:prstGeom prst="rect">
            <a:avLst/>
          </a:prstGeom>
          <a:noFill/>
          <a:ln/>
        </p:spPr>
        <p:txBody>
          <a:bodyPr wrap="square" lIns="0" tIns="0" rIns="0" bIns="0" rtlCol="0" anchor="ctr"/>
          <a:lstStyle/>
          <a:p>
            <a:pPr marL="0" indent="0" algn="ctr">
              <a:buNone/>
            </a:pPr>
            <a:r>
              <a:rPr lang="en-US" sz="850" dirty="0">
                <a:solidFill>
                  <a:srgbClr val="3D4F86"/>
                </a:solidFill>
                <a:latin typeface="Calibri" pitchFamily="34" charset="0"/>
                <a:ea typeface="Calibri" pitchFamily="34" charset="-122"/>
                <a:cs typeface="Calibri" pitchFamily="34" charset="-120"/>
              </a:rPr>
              <a:t>Email</a:t>
            </a:r>
            <a:endParaRPr lang="en-US" sz="850" dirty="0"/>
          </a:p>
        </p:txBody>
      </p:sp>
      <p:sp>
        <p:nvSpPr>
          <p:cNvPr id="31" name="Text 29"/>
          <p:cNvSpPr txBox="1"/>
          <p:nvPr/>
        </p:nvSpPr>
        <p:spPr>
          <a:xfrm>
            <a:off x="4315968" y="2869184"/>
            <a:ext cx="3334360" cy="188722"/>
          </a:xfrm>
          <a:prstGeom prst="rect">
            <a:avLst/>
          </a:prstGeom>
          <a:noFill/>
          <a:ln/>
        </p:spPr>
        <p:txBody>
          <a:bodyPr wrap="square" lIns="0" tIns="0" rIns="0" bIns="0" rtlCol="0" anchor="t"/>
          <a:lstStyle/>
          <a:p>
            <a:pPr marL="0" indent="0">
              <a:buNone/>
            </a:pPr>
            <a:r>
              <a:rPr lang="en-US" sz="1100" b="1" dirty="0">
                <a:solidFill>
                  <a:srgbClr val="1B2230"/>
                </a:solidFill>
                <a:latin typeface="Calibri" pitchFamily="34" charset="0"/>
                <a:ea typeface="Calibri" pitchFamily="34" charset="-122"/>
                <a:cs typeface="Calibri" pitchFamily="34" charset="-120"/>
              </a:rPr>
              <a:t>Tomorrow you meet {{coach}}</a:t>
            </a:r>
            <a:endParaRPr lang="en-US" sz="1100" dirty="0"/>
          </a:p>
        </p:txBody>
      </p:sp>
      <p:sp>
        <p:nvSpPr>
          <p:cNvPr id="32" name="Text 30"/>
          <p:cNvSpPr txBox="1"/>
          <p:nvPr/>
        </p:nvSpPr>
        <p:spPr>
          <a:xfrm>
            <a:off x="4315968" y="3094482"/>
            <a:ext cx="3334360" cy="399288"/>
          </a:xfrm>
          <a:prstGeom prst="rect">
            <a:avLst/>
          </a:prstGeom>
          <a:noFill/>
          <a:ln/>
        </p:spPr>
        <p:txBody>
          <a:bodyPr wrap="square" lIns="0" tIns="0" rIns="0" bIns="0" rtlCol="0" anchor="t"/>
          <a:lstStyle/>
          <a:p>
            <a:pPr marL="0" indent="0">
              <a:lnSpc>
                <a:spcPct val="105000"/>
              </a:lnSpc>
              <a:buNone/>
            </a:pPr>
            <a:r>
              <a:rPr lang="en-US" sz="1200" dirty="0">
                <a:solidFill>
                  <a:srgbClr val="1B2230"/>
                </a:solidFill>
                <a:latin typeface="Cambria" pitchFamily="34" charset="0"/>
                <a:ea typeface="Cambria" pitchFamily="34" charset="-122"/>
                <a:cs typeface="Cambria" pitchFamily="34" charset="-120"/>
              </a:rPr>
              <a:t>Short video and bio of {{coach}}, plus a reminder to bring chart and plan.</a:t>
            </a:r>
            <a:endParaRPr lang="en-US" sz="1200" dirty="0"/>
          </a:p>
        </p:txBody>
      </p:sp>
      <p:sp>
        <p:nvSpPr>
          <p:cNvPr id="33" name="Shape 31"/>
          <p:cNvSpPr/>
          <p:nvPr/>
        </p:nvSpPr>
        <p:spPr>
          <a:xfrm>
            <a:off x="4315968" y="3585210"/>
            <a:ext cx="845088" cy="232258"/>
          </a:xfrm>
          <a:prstGeom prst="roundRect">
            <a:avLst>
              <a:gd name="adj" fmla="val 50000"/>
            </a:avLst>
          </a:prstGeom>
          <a:solidFill>
            <a:srgbClr val="1B2230"/>
          </a:solidFill>
          <a:ln w="9525">
            <a:solidFill>
              <a:srgbClr val="1B2230"/>
            </a:solidFill>
            <a:prstDash val="solid"/>
          </a:ln>
        </p:spPr>
        <p:txBody>
          <a:bodyPr/>
          <a:lstStyle/>
          <a:p>
            <a:endParaRPr lang="en-MX"/>
          </a:p>
        </p:txBody>
      </p:sp>
      <p:sp>
        <p:nvSpPr>
          <p:cNvPr id="34" name="Text 32"/>
          <p:cNvSpPr txBox="1"/>
          <p:nvPr/>
        </p:nvSpPr>
        <p:spPr>
          <a:xfrm>
            <a:off x="4315968" y="3585210"/>
            <a:ext cx="845088" cy="23225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Watch the video</a:t>
            </a:r>
            <a:endParaRPr lang="en-US" sz="900" dirty="0"/>
          </a:p>
        </p:txBody>
      </p:sp>
      <p:sp>
        <p:nvSpPr>
          <p:cNvPr id="35" name="Shape 33"/>
          <p:cNvSpPr/>
          <p:nvPr/>
        </p:nvSpPr>
        <p:spPr>
          <a:xfrm>
            <a:off x="7933792" y="2485136"/>
            <a:ext cx="3645256" cy="1465834"/>
          </a:xfrm>
          <a:prstGeom prst="roundRect">
            <a:avLst>
              <a:gd name="adj" fmla="val 6238"/>
            </a:avLst>
          </a:prstGeom>
          <a:solidFill>
            <a:srgbClr val="FFFFFF"/>
          </a:solidFill>
          <a:ln w="9525">
            <a:solidFill>
              <a:srgbClr val="DDE1E8"/>
            </a:solidFill>
            <a:prstDash val="solid"/>
          </a:ln>
        </p:spPr>
        <p:txBody>
          <a:bodyPr/>
          <a:lstStyle/>
          <a:p>
            <a:endParaRPr lang="en-MX"/>
          </a:p>
        </p:txBody>
      </p:sp>
      <p:sp>
        <p:nvSpPr>
          <p:cNvPr id="36" name="Text 34"/>
          <p:cNvSpPr txBox="1"/>
          <p:nvPr/>
        </p:nvSpPr>
        <p:spPr>
          <a:xfrm>
            <a:off x="8089240" y="2594864"/>
            <a:ext cx="457200" cy="219456"/>
          </a:xfrm>
          <a:prstGeom prst="rect">
            <a:avLst/>
          </a:prstGeom>
          <a:noFill/>
          <a:ln/>
        </p:spPr>
        <p:txBody>
          <a:bodyPr wrap="square" lIns="0" tIns="0" rIns="0" bIns="0" rtlCol="0" anchor="ctr"/>
          <a:lstStyle/>
          <a:p>
            <a:pPr marL="0" indent="0">
              <a:buNone/>
            </a:pPr>
            <a:r>
              <a:rPr lang="en-US" sz="1200" b="1" dirty="0">
                <a:solidFill>
                  <a:srgbClr val="1B2230"/>
                </a:solidFill>
                <a:latin typeface="Calibri" pitchFamily="34" charset="0"/>
                <a:ea typeface="Calibri" pitchFamily="34" charset="-122"/>
                <a:cs typeface="Calibri" pitchFamily="34" charset="-120"/>
              </a:rPr>
              <a:t>S4</a:t>
            </a:r>
            <a:endParaRPr lang="en-US" sz="1200" dirty="0"/>
          </a:p>
        </p:txBody>
      </p:sp>
      <p:sp>
        <p:nvSpPr>
          <p:cNvPr id="37" name="Text 35"/>
          <p:cNvSpPr txBox="1"/>
          <p:nvPr/>
        </p:nvSpPr>
        <p:spPr>
          <a:xfrm>
            <a:off x="8363560" y="2594864"/>
            <a:ext cx="1962760" cy="219456"/>
          </a:xfrm>
          <a:prstGeom prst="rect">
            <a:avLst/>
          </a:prstGeom>
          <a:noFill/>
          <a:ln/>
        </p:spPr>
        <p:txBody>
          <a:bodyPr wrap="square" lIns="0" tIns="0" rIns="0" bIns="0" rtlCol="0" anchor="ctr"/>
          <a:lstStyle/>
          <a:p>
            <a:pPr marL="0" indent="0">
              <a:buNone/>
            </a:pPr>
            <a:r>
              <a:rPr lang="en-US" sz="950" dirty="0">
                <a:solidFill>
                  <a:srgbClr val="5B6475"/>
                </a:solidFill>
                <a:latin typeface="Calibri" pitchFamily="34" charset="0"/>
                <a:ea typeface="Calibri" pitchFamily="34" charset="-122"/>
                <a:cs typeface="Calibri" pitchFamily="34" charset="-120"/>
              </a:rPr>
              <a:t>2 hours before</a:t>
            </a:r>
            <a:endParaRPr lang="en-US" sz="950" dirty="0"/>
          </a:p>
        </p:txBody>
      </p:sp>
      <p:sp>
        <p:nvSpPr>
          <p:cNvPr id="38" name="Shape 36"/>
          <p:cNvSpPr/>
          <p:nvPr/>
        </p:nvSpPr>
        <p:spPr>
          <a:xfrm>
            <a:off x="10675986" y="2613152"/>
            <a:ext cx="747613" cy="220370"/>
          </a:xfrm>
          <a:prstGeom prst="roundRect">
            <a:avLst>
              <a:gd name="adj" fmla="val 50000"/>
            </a:avLst>
          </a:prstGeom>
          <a:solidFill>
            <a:srgbClr val="E1F2EF"/>
          </a:solidFill>
          <a:ln w="9525">
            <a:solidFill>
              <a:srgbClr val="E1F2EF"/>
            </a:solidFill>
            <a:prstDash val="solid"/>
          </a:ln>
        </p:spPr>
        <p:txBody>
          <a:bodyPr/>
          <a:lstStyle/>
          <a:p>
            <a:endParaRPr lang="en-MX"/>
          </a:p>
        </p:txBody>
      </p:sp>
      <p:sp>
        <p:nvSpPr>
          <p:cNvPr id="39" name="Text 37"/>
          <p:cNvSpPr txBox="1"/>
          <p:nvPr/>
        </p:nvSpPr>
        <p:spPr>
          <a:xfrm>
            <a:off x="10675986" y="2613152"/>
            <a:ext cx="747613" cy="220370"/>
          </a:xfrm>
          <a:prstGeom prst="rect">
            <a:avLst/>
          </a:prstGeom>
          <a:noFill/>
          <a:ln/>
        </p:spPr>
        <p:txBody>
          <a:bodyPr wrap="square" lIns="0" tIns="0" rIns="0" bIns="0" rtlCol="0" anchor="ctr"/>
          <a:lstStyle/>
          <a:p>
            <a:pPr marL="0" indent="0" algn="ctr">
              <a:buNone/>
            </a:pPr>
            <a:r>
              <a:rPr lang="en-US" sz="850" dirty="0">
                <a:solidFill>
                  <a:srgbClr val="1F7A70"/>
                </a:solidFill>
                <a:latin typeface="Calibri" pitchFamily="34" charset="0"/>
                <a:ea typeface="Calibri" pitchFamily="34" charset="-122"/>
                <a:cs typeface="Calibri" pitchFamily="34" charset="-120"/>
              </a:rPr>
              <a:t>WhatsApp</a:t>
            </a:r>
            <a:endParaRPr lang="en-US" sz="850" dirty="0"/>
          </a:p>
        </p:txBody>
      </p:sp>
      <p:sp>
        <p:nvSpPr>
          <p:cNvPr id="40" name="Text 38"/>
          <p:cNvSpPr txBox="1"/>
          <p:nvPr/>
        </p:nvSpPr>
        <p:spPr>
          <a:xfrm>
            <a:off x="8089240" y="2869184"/>
            <a:ext cx="3334360" cy="399288"/>
          </a:xfrm>
          <a:prstGeom prst="rect">
            <a:avLst/>
          </a:prstGeom>
          <a:noFill/>
          <a:ln/>
        </p:spPr>
        <p:txBody>
          <a:bodyPr wrap="square" lIns="0" tIns="0" rIns="0" bIns="0" rtlCol="0" anchor="t"/>
          <a:lstStyle/>
          <a:p>
            <a:pPr marL="0" indent="0">
              <a:lnSpc>
                <a:spcPct val="105000"/>
              </a:lnSpc>
              <a:buNone/>
            </a:pPr>
            <a:r>
              <a:rPr lang="en-US" sz="1200" dirty="0">
                <a:solidFill>
                  <a:srgbClr val="1B2230"/>
                </a:solidFill>
                <a:latin typeface="Cambria" pitchFamily="34" charset="0"/>
                <a:ea typeface="Cambria" pitchFamily="34" charset="-122"/>
                <a:cs typeface="Cambria" pitchFamily="34" charset="-120"/>
              </a:rPr>
              <a:t>Your Private Review with {{coach}} is today at {{hora_sesion}}. Can you confirm?</a:t>
            </a:r>
            <a:endParaRPr lang="en-US" sz="1200" dirty="0"/>
          </a:p>
        </p:txBody>
      </p:sp>
      <p:sp>
        <p:nvSpPr>
          <p:cNvPr id="41" name="Shape 39"/>
          <p:cNvSpPr/>
          <p:nvPr/>
        </p:nvSpPr>
        <p:spPr>
          <a:xfrm>
            <a:off x="8089240" y="3359912"/>
            <a:ext cx="912571" cy="232258"/>
          </a:xfrm>
          <a:prstGeom prst="roundRect">
            <a:avLst>
              <a:gd name="adj" fmla="val 50000"/>
            </a:avLst>
          </a:prstGeom>
          <a:solidFill>
            <a:srgbClr val="1B2230"/>
          </a:solidFill>
          <a:ln w="9525">
            <a:solidFill>
              <a:srgbClr val="1B2230"/>
            </a:solidFill>
            <a:prstDash val="solid"/>
          </a:ln>
        </p:spPr>
        <p:txBody>
          <a:bodyPr/>
          <a:lstStyle/>
          <a:p>
            <a:endParaRPr lang="en-MX"/>
          </a:p>
        </p:txBody>
      </p:sp>
      <p:sp>
        <p:nvSpPr>
          <p:cNvPr id="42" name="Text 40"/>
          <p:cNvSpPr txBox="1"/>
          <p:nvPr/>
        </p:nvSpPr>
        <p:spPr>
          <a:xfrm>
            <a:off x="8089240" y="3359912"/>
            <a:ext cx="912571" cy="23225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I'll be there</a:t>
            </a:r>
            <a:endParaRPr lang="en-US" sz="900" dirty="0"/>
          </a:p>
        </p:txBody>
      </p:sp>
      <p:sp>
        <p:nvSpPr>
          <p:cNvPr id="43" name="Shape 41"/>
          <p:cNvSpPr/>
          <p:nvPr/>
        </p:nvSpPr>
        <p:spPr>
          <a:xfrm>
            <a:off x="9074963" y="3359912"/>
            <a:ext cx="1452433" cy="232258"/>
          </a:xfrm>
          <a:prstGeom prst="roundRect">
            <a:avLst>
              <a:gd name="adj" fmla="val 50000"/>
            </a:avLst>
          </a:prstGeom>
          <a:solidFill>
            <a:srgbClr val="FFFFFF"/>
          </a:solidFill>
          <a:ln w="9525">
            <a:solidFill>
              <a:srgbClr val="DDE1E8"/>
            </a:solidFill>
            <a:prstDash val="solid"/>
          </a:ln>
        </p:spPr>
        <p:txBody>
          <a:bodyPr/>
          <a:lstStyle/>
          <a:p>
            <a:endParaRPr lang="en-MX"/>
          </a:p>
        </p:txBody>
      </p:sp>
      <p:sp>
        <p:nvSpPr>
          <p:cNvPr id="44" name="Text 42"/>
          <p:cNvSpPr txBox="1"/>
          <p:nvPr/>
        </p:nvSpPr>
        <p:spPr>
          <a:xfrm>
            <a:off x="9074963" y="3359912"/>
            <a:ext cx="1452433" cy="232258"/>
          </a:xfrm>
          <a:prstGeom prst="rect">
            <a:avLst/>
          </a:prstGeom>
          <a:noFill/>
          <a:ln/>
        </p:spPr>
        <p:txBody>
          <a:bodyPr wrap="square" lIns="0" tIns="0" rIns="0" bIns="0" rtlCol="0" anchor="ctr"/>
          <a:lstStyle/>
          <a:p>
            <a:pPr marL="0" indent="0" algn="ctr">
              <a:buNone/>
            </a:pPr>
            <a:r>
              <a:rPr lang="en-US" sz="900" dirty="0">
                <a:solidFill>
                  <a:srgbClr val="1B2230"/>
                </a:solidFill>
                <a:latin typeface="Calibri" pitchFamily="34" charset="0"/>
                <a:ea typeface="Calibri" pitchFamily="34" charset="-122"/>
                <a:cs typeface="Calibri" pitchFamily="34" charset="-120"/>
              </a:rPr>
              <a:t>I need to reschedule</a:t>
            </a:r>
            <a:endParaRPr lang="en-US" sz="900" dirty="0"/>
          </a:p>
        </p:txBody>
      </p:sp>
      <p:sp>
        <p:nvSpPr>
          <p:cNvPr id="45" name="Shape 43"/>
          <p:cNvSpPr/>
          <p:nvPr/>
        </p:nvSpPr>
        <p:spPr>
          <a:xfrm>
            <a:off x="4160520" y="4078986"/>
            <a:ext cx="7418527" cy="720852"/>
          </a:xfrm>
          <a:prstGeom prst="roundRect">
            <a:avLst>
              <a:gd name="adj" fmla="val 12685"/>
            </a:avLst>
          </a:prstGeom>
          <a:solidFill>
            <a:srgbClr val="FFFFFF"/>
          </a:solidFill>
          <a:ln w="9525">
            <a:solidFill>
              <a:srgbClr val="DDE1E8"/>
            </a:solidFill>
            <a:prstDash val="solid"/>
          </a:ln>
        </p:spPr>
        <p:txBody>
          <a:bodyPr/>
          <a:lstStyle/>
          <a:p>
            <a:endParaRPr lang="en-MX"/>
          </a:p>
        </p:txBody>
      </p:sp>
      <p:sp>
        <p:nvSpPr>
          <p:cNvPr id="46" name="Text 44"/>
          <p:cNvSpPr txBox="1"/>
          <p:nvPr/>
        </p:nvSpPr>
        <p:spPr>
          <a:xfrm>
            <a:off x="4315968" y="4188714"/>
            <a:ext cx="457200" cy="219456"/>
          </a:xfrm>
          <a:prstGeom prst="rect">
            <a:avLst/>
          </a:prstGeom>
          <a:noFill/>
          <a:ln/>
        </p:spPr>
        <p:txBody>
          <a:bodyPr wrap="square" lIns="0" tIns="0" rIns="0" bIns="0" rtlCol="0" anchor="ctr"/>
          <a:lstStyle/>
          <a:p>
            <a:pPr marL="0" indent="0">
              <a:buNone/>
            </a:pPr>
            <a:r>
              <a:rPr lang="en-US" sz="1200" b="1" dirty="0">
                <a:solidFill>
                  <a:srgbClr val="1B2230"/>
                </a:solidFill>
                <a:latin typeface="Calibri" pitchFamily="34" charset="0"/>
                <a:ea typeface="Calibri" pitchFamily="34" charset="-122"/>
                <a:cs typeface="Calibri" pitchFamily="34" charset="-120"/>
              </a:rPr>
              <a:t>S5</a:t>
            </a:r>
            <a:endParaRPr lang="en-US" sz="1200" dirty="0"/>
          </a:p>
        </p:txBody>
      </p:sp>
      <p:sp>
        <p:nvSpPr>
          <p:cNvPr id="47" name="Text 45"/>
          <p:cNvSpPr txBox="1"/>
          <p:nvPr/>
        </p:nvSpPr>
        <p:spPr>
          <a:xfrm>
            <a:off x="4590288" y="4188714"/>
            <a:ext cx="5736031" cy="219456"/>
          </a:xfrm>
          <a:prstGeom prst="rect">
            <a:avLst/>
          </a:prstGeom>
          <a:noFill/>
          <a:ln/>
        </p:spPr>
        <p:txBody>
          <a:bodyPr wrap="square" lIns="0" tIns="0" rIns="0" bIns="0" rtlCol="0" anchor="ctr"/>
          <a:lstStyle/>
          <a:p>
            <a:pPr marL="0" indent="0">
              <a:buNone/>
            </a:pPr>
            <a:r>
              <a:rPr lang="en-US" sz="950" dirty="0">
                <a:solidFill>
                  <a:srgbClr val="5B6475"/>
                </a:solidFill>
                <a:latin typeface="Calibri" pitchFamily="34" charset="0"/>
                <a:ea typeface="Calibri" pitchFamily="34" charset="-122"/>
                <a:cs typeface="Calibri" pitchFamily="34" charset="-120"/>
              </a:rPr>
              <a:t>10 minutes before</a:t>
            </a:r>
            <a:endParaRPr lang="en-US" sz="950" dirty="0"/>
          </a:p>
        </p:txBody>
      </p:sp>
      <p:sp>
        <p:nvSpPr>
          <p:cNvPr id="48" name="Shape 46"/>
          <p:cNvSpPr/>
          <p:nvPr/>
        </p:nvSpPr>
        <p:spPr>
          <a:xfrm>
            <a:off x="10675986" y="4207002"/>
            <a:ext cx="747613" cy="220370"/>
          </a:xfrm>
          <a:prstGeom prst="roundRect">
            <a:avLst>
              <a:gd name="adj" fmla="val 50000"/>
            </a:avLst>
          </a:prstGeom>
          <a:solidFill>
            <a:srgbClr val="E1F2EF"/>
          </a:solidFill>
          <a:ln w="9525">
            <a:solidFill>
              <a:srgbClr val="E1F2EF"/>
            </a:solidFill>
            <a:prstDash val="solid"/>
          </a:ln>
        </p:spPr>
        <p:txBody>
          <a:bodyPr/>
          <a:lstStyle/>
          <a:p>
            <a:endParaRPr lang="en-MX"/>
          </a:p>
        </p:txBody>
      </p:sp>
      <p:sp>
        <p:nvSpPr>
          <p:cNvPr id="49" name="Text 47"/>
          <p:cNvSpPr txBox="1"/>
          <p:nvPr/>
        </p:nvSpPr>
        <p:spPr>
          <a:xfrm>
            <a:off x="10675986" y="4207002"/>
            <a:ext cx="747613" cy="220370"/>
          </a:xfrm>
          <a:prstGeom prst="rect">
            <a:avLst/>
          </a:prstGeom>
          <a:noFill/>
          <a:ln/>
        </p:spPr>
        <p:txBody>
          <a:bodyPr wrap="square" lIns="0" tIns="0" rIns="0" bIns="0" rtlCol="0" anchor="ctr"/>
          <a:lstStyle/>
          <a:p>
            <a:pPr marL="0" indent="0" algn="ctr">
              <a:buNone/>
            </a:pPr>
            <a:r>
              <a:rPr lang="en-US" sz="850" dirty="0">
                <a:solidFill>
                  <a:srgbClr val="1F7A70"/>
                </a:solidFill>
                <a:latin typeface="Calibri" pitchFamily="34" charset="0"/>
                <a:ea typeface="Calibri" pitchFamily="34" charset="-122"/>
                <a:cs typeface="Calibri" pitchFamily="34" charset="-120"/>
              </a:rPr>
              <a:t>WhatsApp</a:t>
            </a:r>
            <a:endParaRPr lang="en-US" sz="850" dirty="0"/>
          </a:p>
        </p:txBody>
      </p:sp>
      <p:sp>
        <p:nvSpPr>
          <p:cNvPr id="50" name="Text 48"/>
          <p:cNvSpPr txBox="1"/>
          <p:nvPr/>
        </p:nvSpPr>
        <p:spPr>
          <a:xfrm>
            <a:off x="4315968" y="4463034"/>
            <a:ext cx="7107631" cy="208788"/>
          </a:xfrm>
          <a:prstGeom prst="rect">
            <a:avLst/>
          </a:prstGeom>
          <a:noFill/>
          <a:ln/>
        </p:spPr>
        <p:txBody>
          <a:bodyPr wrap="square" lIns="0" tIns="0" rIns="0" bIns="0" rtlCol="0" anchor="t"/>
          <a:lstStyle/>
          <a:p>
            <a:pPr marL="0" indent="0">
              <a:lnSpc>
                <a:spcPct val="105000"/>
              </a:lnSpc>
              <a:buNone/>
            </a:pPr>
            <a:r>
              <a:rPr lang="en-US" sz="1200" dirty="0">
                <a:solidFill>
                  <a:srgbClr val="3D4F86"/>
                </a:solidFill>
                <a:latin typeface="Calibri" pitchFamily="34" charset="0"/>
                <a:ea typeface="Calibri" pitchFamily="34" charset="-122"/>
                <a:cs typeface="Calibri" pitchFamily="34" charset="-120"/>
              </a:rPr>
              <a:t>{{nombre}}, your session starts in 10 minutes. Join here: {{link_sesion}}</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7F9"/>
        </a:solidFill>
        <a:effectLst/>
      </p:bgPr>
    </p:bg>
    <p:spTree>
      <p:nvGrpSpPr>
        <p:cNvPr id="1" name=""/>
        <p:cNvGrpSpPr/>
        <p:nvPr/>
      </p:nvGrpSpPr>
      <p:grpSpPr>
        <a:xfrm>
          <a:off x="0" y="0"/>
          <a:ext cx="0" cy="0"/>
          <a:chOff x="0" y="0"/>
          <a:chExt cx="0" cy="0"/>
        </a:xfrm>
      </p:grpSpPr>
      <p:sp>
        <p:nvSpPr>
          <p:cNvPr id="2" name="Text 0"/>
          <p:cNvSpPr txBox="1"/>
          <p:nvPr/>
        </p:nvSpPr>
        <p:spPr>
          <a:xfrm>
            <a:off x="612648" y="6446520"/>
            <a:ext cx="4572000" cy="228600"/>
          </a:xfrm>
          <a:prstGeom prst="rect">
            <a:avLst/>
          </a:prstGeom>
          <a:noFill/>
          <a:ln/>
        </p:spPr>
        <p:txBody>
          <a:bodyPr wrap="square" lIns="0" tIns="0" rIns="0" bIns="0" rtlCol="0" anchor="ctr"/>
          <a:lstStyle/>
          <a:p>
            <a:pPr marL="0" indent="0">
              <a:buNone/>
            </a:pPr>
            <a:r>
              <a:rPr lang="en-US" sz="900" dirty="0">
                <a:solidFill>
                  <a:srgbClr val="5B6475"/>
                </a:solidFill>
                <a:latin typeface="Calibri" pitchFamily="34" charset="0"/>
                <a:ea typeface="Calibri" pitchFamily="34" charset="-122"/>
                <a:cs typeface="Calibri" pitchFamily="34" charset="-120"/>
              </a:rPr>
              <a:t>Zones of Life: funnels and copy</a:t>
            </a:r>
            <a:endParaRPr lang="en-US" sz="900" dirty="0"/>
          </a:p>
        </p:txBody>
      </p:sp>
      <p:sp>
        <p:nvSpPr>
          <p:cNvPr id="3" name="Text 1"/>
          <p:cNvSpPr txBox="1"/>
          <p:nvPr/>
        </p:nvSpPr>
        <p:spPr>
          <a:xfrm>
            <a:off x="10881360" y="6446520"/>
            <a:ext cx="694944" cy="228600"/>
          </a:xfrm>
          <a:prstGeom prst="rect">
            <a:avLst/>
          </a:prstGeom>
          <a:noFill/>
          <a:ln/>
        </p:spPr>
        <p:txBody>
          <a:bodyPr wrap="square" lIns="0" tIns="0" rIns="0" bIns="0" rtlCol="0" anchor="ctr"/>
          <a:lstStyle/>
          <a:p>
            <a:pPr marL="0" indent="0" algn="r">
              <a:buNone/>
            </a:pPr>
            <a:r>
              <a:rPr lang="en-US" sz="900" dirty="0">
                <a:solidFill>
                  <a:srgbClr val="5B6475"/>
                </a:solidFill>
                <a:latin typeface="Calibri" pitchFamily="34" charset="0"/>
                <a:ea typeface="Calibri" pitchFamily="34" charset="-122"/>
                <a:cs typeface="Calibri" pitchFamily="34" charset="-120"/>
              </a:rPr>
              <a:t>12</a:t>
            </a:r>
            <a:endParaRPr lang="en-US" sz="900" dirty="0"/>
          </a:p>
        </p:txBody>
      </p:sp>
      <p:sp>
        <p:nvSpPr>
          <p:cNvPr id="4" name="Shape 2"/>
          <p:cNvSpPr/>
          <p:nvPr/>
        </p:nvSpPr>
        <p:spPr>
          <a:xfrm>
            <a:off x="612648" y="530352"/>
            <a:ext cx="762610" cy="256032"/>
          </a:xfrm>
          <a:prstGeom prst="roundRect">
            <a:avLst>
              <a:gd name="adj" fmla="val 50000"/>
            </a:avLst>
          </a:prstGeom>
          <a:solidFill>
            <a:srgbClr val="E9ECF6"/>
          </a:solidFill>
          <a:ln w="9525">
            <a:solidFill>
              <a:srgbClr val="E9ECF6"/>
            </a:solidFill>
            <a:prstDash val="solid"/>
          </a:ln>
        </p:spPr>
        <p:txBody>
          <a:bodyPr/>
          <a:lstStyle/>
          <a:p>
            <a:endParaRPr lang="en-MX"/>
          </a:p>
        </p:txBody>
      </p:sp>
      <p:sp>
        <p:nvSpPr>
          <p:cNvPr id="5" name="Text 3"/>
          <p:cNvSpPr txBox="1"/>
          <p:nvPr/>
        </p:nvSpPr>
        <p:spPr>
          <a:xfrm>
            <a:off x="612648" y="530352"/>
            <a:ext cx="762610" cy="256032"/>
          </a:xfrm>
          <a:prstGeom prst="rect">
            <a:avLst/>
          </a:prstGeom>
          <a:noFill/>
          <a:ln/>
        </p:spPr>
        <p:txBody>
          <a:bodyPr wrap="square" lIns="0" tIns="0" rIns="0" bIns="0" rtlCol="0" anchor="ctr"/>
          <a:lstStyle/>
          <a:p>
            <a:pPr marL="0" indent="0" algn="ctr">
              <a:buNone/>
            </a:pPr>
            <a:r>
              <a:rPr lang="en-US" sz="1000" b="1" dirty="0">
                <a:solidFill>
                  <a:srgbClr val="3D4F86"/>
                </a:solidFill>
                <a:latin typeface="Calibri" pitchFamily="34" charset="0"/>
                <a:ea typeface="Calibri" pitchFamily="34" charset="-122"/>
                <a:cs typeface="Calibri" pitchFamily="34" charset="-120"/>
              </a:rPr>
              <a:t>Internal</a:t>
            </a:r>
            <a:endParaRPr lang="en-US" sz="1000" dirty="0"/>
          </a:p>
        </p:txBody>
      </p:sp>
      <p:sp>
        <p:nvSpPr>
          <p:cNvPr id="6" name="Text 4"/>
          <p:cNvSpPr txBox="1"/>
          <p:nvPr/>
        </p:nvSpPr>
        <p:spPr>
          <a:xfrm>
            <a:off x="612648" y="941832"/>
            <a:ext cx="3200400" cy="813816"/>
          </a:xfrm>
          <a:prstGeom prst="rect">
            <a:avLst/>
          </a:prstGeom>
          <a:noFill/>
          <a:ln/>
        </p:spPr>
        <p:txBody>
          <a:bodyPr wrap="square" lIns="0" tIns="0" rIns="0" bIns="0" rtlCol="0" anchor="t"/>
          <a:lstStyle/>
          <a:p>
            <a:pPr marL="0" indent="0">
              <a:lnSpc>
                <a:spcPct val="95000"/>
              </a:lnSpc>
              <a:buNone/>
            </a:pPr>
            <a:r>
              <a:rPr lang="en-US" sz="2800" dirty="0">
                <a:solidFill>
                  <a:srgbClr val="1B2230"/>
                </a:solidFill>
                <a:latin typeface="Cambria" pitchFamily="34" charset="0"/>
                <a:ea typeface="Cambria" pitchFamily="34" charset="-122"/>
                <a:cs typeface="Cambria" pitchFamily="34" charset="-120"/>
              </a:rPr>
              <a:t>Automated brief for the coach</a:t>
            </a:r>
            <a:endParaRPr lang="en-US" sz="2800" dirty="0"/>
          </a:p>
        </p:txBody>
      </p:sp>
      <p:sp>
        <p:nvSpPr>
          <p:cNvPr id="7" name="Text 5"/>
          <p:cNvSpPr txBox="1"/>
          <p:nvPr/>
        </p:nvSpPr>
        <p:spPr>
          <a:xfrm>
            <a:off x="612648" y="1920240"/>
            <a:ext cx="3200400" cy="739140"/>
          </a:xfrm>
          <a:prstGeom prst="rect">
            <a:avLst/>
          </a:prstGeom>
          <a:noFill/>
          <a:ln/>
        </p:spPr>
        <p:txBody>
          <a:bodyPr wrap="square" lIns="0" tIns="0" rIns="0" bIns="0" rtlCol="0" anchor="t"/>
          <a:lstStyle/>
          <a:p>
            <a:pPr marL="0" indent="0">
              <a:lnSpc>
                <a:spcPct val="110000"/>
              </a:lnSpc>
              <a:buNone/>
            </a:pPr>
            <a:r>
              <a:rPr lang="en-US" sz="1400" dirty="0">
                <a:solidFill>
                  <a:srgbClr val="5B6475"/>
                </a:solidFill>
                <a:latin typeface="Calibri" pitchFamily="34" charset="0"/>
                <a:ea typeface="Calibri" pitchFamily="34" charset="-122"/>
                <a:cs typeface="Calibri" pitchFamily="34" charset="-120"/>
              </a:rPr>
              <a:t>Since the session is the first human contact, the coach arrives knowing everything the automation already knows.</a:t>
            </a:r>
            <a:endParaRPr lang="en-US" sz="1400" dirty="0"/>
          </a:p>
        </p:txBody>
      </p:sp>
      <p:sp>
        <p:nvSpPr>
          <p:cNvPr id="8" name="Shape 6"/>
          <p:cNvSpPr/>
          <p:nvPr/>
        </p:nvSpPr>
        <p:spPr>
          <a:xfrm>
            <a:off x="4160520" y="530352"/>
            <a:ext cx="7418527" cy="1814767"/>
          </a:xfrm>
          <a:prstGeom prst="roundRect">
            <a:avLst>
              <a:gd name="adj" fmla="val 5039"/>
            </a:avLst>
          </a:prstGeom>
          <a:solidFill>
            <a:srgbClr val="FFFFFF"/>
          </a:solidFill>
          <a:ln w="9525">
            <a:solidFill>
              <a:srgbClr val="DDE1E8"/>
            </a:solidFill>
            <a:prstDash val="solid"/>
          </a:ln>
        </p:spPr>
        <p:txBody>
          <a:bodyPr/>
          <a:lstStyle/>
          <a:p>
            <a:endParaRPr lang="en-MX"/>
          </a:p>
        </p:txBody>
      </p:sp>
      <p:sp>
        <p:nvSpPr>
          <p:cNvPr id="9" name="Text 7"/>
          <p:cNvSpPr txBox="1"/>
          <p:nvPr/>
        </p:nvSpPr>
        <p:spPr>
          <a:xfrm>
            <a:off x="4315968" y="640080"/>
            <a:ext cx="457200" cy="219456"/>
          </a:xfrm>
          <a:prstGeom prst="rect">
            <a:avLst/>
          </a:prstGeom>
          <a:noFill/>
          <a:ln/>
        </p:spPr>
        <p:txBody>
          <a:bodyPr wrap="square" lIns="0" tIns="0" rIns="0" bIns="0" rtlCol="0" anchor="ctr"/>
          <a:lstStyle/>
          <a:p>
            <a:pPr marL="0" indent="0">
              <a:buNone/>
            </a:pPr>
            <a:r>
              <a:rPr lang="en-US" sz="1200" b="1" dirty="0">
                <a:solidFill>
                  <a:srgbClr val="1B2230"/>
                </a:solidFill>
                <a:latin typeface="Calibri" pitchFamily="34" charset="0"/>
                <a:ea typeface="Calibri" pitchFamily="34" charset="-122"/>
                <a:cs typeface="Calibri" pitchFamily="34" charset="-120"/>
              </a:rPr>
              <a:t>S6</a:t>
            </a:r>
            <a:endParaRPr lang="en-US" sz="1200" dirty="0"/>
          </a:p>
        </p:txBody>
      </p:sp>
      <p:sp>
        <p:nvSpPr>
          <p:cNvPr id="10" name="Text 8"/>
          <p:cNvSpPr txBox="1"/>
          <p:nvPr/>
        </p:nvSpPr>
        <p:spPr>
          <a:xfrm>
            <a:off x="4590288" y="640080"/>
            <a:ext cx="5736031" cy="219456"/>
          </a:xfrm>
          <a:prstGeom prst="rect">
            <a:avLst/>
          </a:prstGeom>
          <a:noFill/>
          <a:ln/>
        </p:spPr>
        <p:txBody>
          <a:bodyPr wrap="square" lIns="0" tIns="0" rIns="0" bIns="0" rtlCol="0" anchor="ctr"/>
          <a:lstStyle/>
          <a:p>
            <a:pPr marL="0" indent="0">
              <a:buNone/>
            </a:pPr>
            <a:r>
              <a:rPr lang="en-US" sz="950" dirty="0">
                <a:solidFill>
                  <a:srgbClr val="5B6475"/>
                </a:solidFill>
                <a:latin typeface="Calibri" pitchFamily="34" charset="0"/>
                <a:ea typeface="Calibri" pitchFamily="34" charset="-122"/>
                <a:cs typeface="Calibri" pitchFamily="34" charset="-120"/>
              </a:rPr>
              <a:t>On booking</a:t>
            </a:r>
            <a:endParaRPr lang="en-US" sz="950" dirty="0"/>
          </a:p>
        </p:txBody>
      </p:sp>
      <p:sp>
        <p:nvSpPr>
          <p:cNvPr id="11" name="Shape 9"/>
          <p:cNvSpPr/>
          <p:nvPr/>
        </p:nvSpPr>
        <p:spPr>
          <a:xfrm>
            <a:off x="10548518" y="658368"/>
            <a:ext cx="875081" cy="220370"/>
          </a:xfrm>
          <a:prstGeom prst="roundRect">
            <a:avLst>
              <a:gd name="adj" fmla="val 50000"/>
            </a:avLst>
          </a:prstGeom>
          <a:solidFill>
            <a:srgbClr val="F6F7F9"/>
          </a:solidFill>
          <a:ln w="9525">
            <a:solidFill>
              <a:srgbClr val="DDE1E8"/>
            </a:solidFill>
            <a:prstDash val="solid"/>
          </a:ln>
        </p:spPr>
        <p:txBody>
          <a:bodyPr/>
          <a:lstStyle/>
          <a:p>
            <a:endParaRPr lang="en-MX"/>
          </a:p>
        </p:txBody>
      </p:sp>
      <p:sp>
        <p:nvSpPr>
          <p:cNvPr id="12" name="Text 10"/>
          <p:cNvSpPr txBox="1"/>
          <p:nvPr/>
        </p:nvSpPr>
        <p:spPr>
          <a:xfrm>
            <a:off x="10548518" y="658368"/>
            <a:ext cx="875081" cy="220370"/>
          </a:xfrm>
          <a:prstGeom prst="rect">
            <a:avLst/>
          </a:prstGeom>
          <a:noFill/>
          <a:ln/>
        </p:spPr>
        <p:txBody>
          <a:bodyPr wrap="square" lIns="0" tIns="0" rIns="0" bIns="0" rtlCol="0" anchor="ctr"/>
          <a:lstStyle/>
          <a:p>
            <a:pPr marL="0" indent="0" algn="ctr">
              <a:buNone/>
            </a:pPr>
            <a:r>
              <a:rPr lang="en-US" sz="850" dirty="0">
                <a:solidFill>
                  <a:srgbClr val="5B6475"/>
                </a:solidFill>
                <a:latin typeface="Calibri" pitchFamily="34" charset="0"/>
                <a:ea typeface="Calibri" pitchFamily="34" charset="-122"/>
                <a:cs typeface="Calibri" pitchFamily="34" charset="-120"/>
              </a:rPr>
              <a:t>Coach only</a:t>
            </a:r>
            <a:endParaRPr lang="en-US" sz="850" dirty="0"/>
          </a:p>
        </p:txBody>
      </p:sp>
      <p:sp>
        <p:nvSpPr>
          <p:cNvPr id="13" name="Text 11"/>
          <p:cNvSpPr txBox="1"/>
          <p:nvPr/>
        </p:nvSpPr>
        <p:spPr>
          <a:xfrm>
            <a:off x="4315968" y="914400"/>
            <a:ext cx="7107631" cy="188722"/>
          </a:xfrm>
          <a:prstGeom prst="rect">
            <a:avLst/>
          </a:prstGeom>
          <a:noFill/>
          <a:ln/>
        </p:spPr>
        <p:txBody>
          <a:bodyPr wrap="square" lIns="0" tIns="0" rIns="0" bIns="0" rtlCol="0" anchor="t"/>
          <a:lstStyle/>
          <a:p>
            <a:pPr marL="0" indent="0">
              <a:buNone/>
            </a:pPr>
            <a:r>
              <a:rPr lang="en-US" sz="1100" b="1" dirty="0">
                <a:solidFill>
                  <a:srgbClr val="1B2230"/>
                </a:solidFill>
                <a:latin typeface="Calibri" pitchFamily="34" charset="0"/>
                <a:ea typeface="Calibri" pitchFamily="34" charset="-122"/>
                <a:cs typeface="Calibri" pitchFamily="34" charset="-120"/>
              </a:rPr>
              <a:t>New Private Review: {{nombre}}, {{fecha_sesion}} {{hora_sesion}}</a:t>
            </a:r>
            <a:endParaRPr lang="en-US" sz="1100" dirty="0"/>
          </a:p>
        </p:txBody>
      </p:sp>
      <p:sp>
        <p:nvSpPr>
          <p:cNvPr id="14" name="Text 12"/>
          <p:cNvSpPr txBox="1"/>
          <p:nvPr/>
        </p:nvSpPr>
        <p:spPr>
          <a:xfrm>
            <a:off x="4315968" y="1139698"/>
            <a:ext cx="7107631" cy="200851"/>
          </a:xfrm>
          <a:prstGeom prst="rect">
            <a:avLst/>
          </a:prstGeom>
          <a:noFill/>
          <a:ln/>
        </p:spPr>
        <p:txBody>
          <a:bodyPr wrap="square" lIns="0" tIns="0" rIns="0" bIns="0" rtlCol="0" anchor="t"/>
          <a:lstStyle/>
          <a:p>
            <a:pPr marL="0" indent="0">
              <a:buNone/>
            </a:pPr>
            <a:r>
              <a:rPr lang="en-US" sz="1150" b="1" dirty="0">
                <a:solidFill>
                  <a:srgbClr val="1B2230"/>
                </a:solidFill>
                <a:latin typeface="Calibri" pitchFamily="34" charset="0"/>
                <a:ea typeface="Calibri" pitchFamily="34" charset="-122"/>
                <a:cs typeface="Calibri" pitchFamily="34" charset="-120"/>
              </a:rPr>
              <a:t>Profile and lowest ability: {{perfil}}, {{habilidad_critica}}</a:t>
            </a:r>
            <a:endParaRPr lang="en-US" sz="1150" dirty="0"/>
          </a:p>
        </p:txBody>
      </p:sp>
      <p:sp>
        <p:nvSpPr>
          <p:cNvPr id="15" name="Text 13"/>
          <p:cNvSpPr txBox="1"/>
          <p:nvPr/>
        </p:nvSpPr>
        <p:spPr>
          <a:xfrm>
            <a:off x="4315968" y="1377124"/>
            <a:ext cx="7107631" cy="200851"/>
          </a:xfrm>
          <a:prstGeom prst="rect">
            <a:avLst/>
          </a:prstGeom>
          <a:noFill/>
          <a:ln/>
        </p:spPr>
        <p:txBody>
          <a:bodyPr wrap="square" lIns="0" tIns="0" rIns="0" bIns="0" rtlCol="0" anchor="t"/>
          <a:lstStyle/>
          <a:p>
            <a:pPr marL="0" indent="0">
              <a:buNone/>
            </a:pPr>
            <a:r>
              <a:rPr lang="en-US" sz="1150" b="1" dirty="0">
                <a:solidFill>
                  <a:srgbClr val="1B2230"/>
                </a:solidFill>
                <a:latin typeface="Calibri" pitchFamily="34" charset="0"/>
                <a:ea typeface="Calibri" pitchFamily="34" charset="-122"/>
                <a:cs typeface="Calibri" pitchFamily="34" charset="-120"/>
              </a:rPr>
              <a:t>Scores: Have, Investigate, Focus, Invest, Produce, Create Wealth</a:t>
            </a:r>
            <a:endParaRPr lang="en-US" sz="1150" dirty="0"/>
          </a:p>
        </p:txBody>
      </p:sp>
      <p:sp>
        <p:nvSpPr>
          <p:cNvPr id="16" name="Text 14"/>
          <p:cNvSpPr txBox="1"/>
          <p:nvPr/>
        </p:nvSpPr>
        <p:spPr>
          <a:xfrm>
            <a:off x="4315968" y="1614551"/>
            <a:ext cx="7107631" cy="200851"/>
          </a:xfrm>
          <a:prstGeom prst="rect">
            <a:avLst/>
          </a:prstGeom>
          <a:noFill/>
          <a:ln/>
        </p:spPr>
        <p:txBody>
          <a:bodyPr wrap="square" lIns="0" tIns="0" rIns="0" bIns="0" rtlCol="0" anchor="t"/>
          <a:lstStyle/>
          <a:p>
            <a:pPr marL="0" indent="0">
              <a:buNone/>
            </a:pPr>
            <a:r>
              <a:rPr lang="en-US" sz="1150" b="1" dirty="0">
                <a:solidFill>
                  <a:srgbClr val="1B2230"/>
                </a:solidFill>
                <a:latin typeface="Calibri" pitchFamily="34" charset="0"/>
                <a:ea typeface="Calibri" pitchFamily="34" charset="-122"/>
                <a:cs typeface="Calibri" pitchFamily="34" charset="-120"/>
              </a:rPr>
              <a:t>Journey: mini profile date, days to purchase, days to booking</a:t>
            </a:r>
            <a:endParaRPr lang="en-US" sz="1150" dirty="0"/>
          </a:p>
        </p:txBody>
      </p:sp>
      <p:sp>
        <p:nvSpPr>
          <p:cNvPr id="17" name="Text 15"/>
          <p:cNvSpPr txBox="1"/>
          <p:nvPr/>
        </p:nvSpPr>
        <p:spPr>
          <a:xfrm>
            <a:off x="4315968" y="1851977"/>
            <a:ext cx="7107631" cy="200851"/>
          </a:xfrm>
          <a:prstGeom prst="rect">
            <a:avLst/>
          </a:prstGeom>
          <a:noFill/>
          <a:ln/>
        </p:spPr>
        <p:txBody>
          <a:bodyPr wrap="square" lIns="0" tIns="0" rIns="0" bIns="0" rtlCol="0" anchor="t"/>
          <a:lstStyle/>
          <a:p>
            <a:pPr marL="0" indent="0">
              <a:buNone/>
            </a:pPr>
            <a:r>
              <a:rPr lang="en-US" sz="1150" b="1" dirty="0">
                <a:solidFill>
                  <a:srgbClr val="1B2230"/>
                </a:solidFill>
                <a:latin typeface="Calibri" pitchFamily="34" charset="0"/>
                <a:ea typeface="Calibri" pitchFamily="34" charset="-122"/>
                <a:cs typeface="Calibri" pitchFamily="34" charset="-120"/>
              </a:rPr>
              <a:t>Signals: emails opened, buttons tapped, lead scoring</a:t>
            </a:r>
            <a:endParaRPr lang="en-US" sz="1150" dirty="0"/>
          </a:p>
        </p:txBody>
      </p:sp>
      <p:sp>
        <p:nvSpPr>
          <p:cNvPr id="18" name="Text 16"/>
          <p:cNvSpPr txBox="1"/>
          <p:nvPr/>
        </p:nvSpPr>
        <p:spPr>
          <a:xfrm>
            <a:off x="4315968" y="2089404"/>
            <a:ext cx="7107631" cy="200851"/>
          </a:xfrm>
          <a:prstGeom prst="rect">
            <a:avLst/>
          </a:prstGeom>
          <a:noFill/>
          <a:ln/>
        </p:spPr>
        <p:txBody>
          <a:bodyPr wrap="square" lIns="0" tIns="0" rIns="0" bIns="0" rtlCol="0" anchor="t"/>
          <a:lstStyle/>
          <a:p>
            <a:pPr marL="0" indent="0">
              <a:buNone/>
            </a:pPr>
            <a:r>
              <a:rPr lang="en-US" sz="1150" b="1" dirty="0">
                <a:solidFill>
                  <a:srgbClr val="1B2230"/>
                </a:solidFill>
                <a:latin typeface="Calibri" pitchFamily="34" charset="0"/>
                <a:ea typeface="Calibri" pitchFamily="34" charset="-122"/>
                <a:cs typeface="Calibri" pitchFamily="34" charset="-120"/>
              </a:rPr>
              <a:t>Deliverables: link to the report and to the workbook's 90-day plan</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7F9"/>
        </a:solidFill>
        <a:effectLst/>
      </p:bgPr>
    </p:bg>
    <p:spTree>
      <p:nvGrpSpPr>
        <p:cNvPr id="1" name=""/>
        <p:cNvGrpSpPr/>
        <p:nvPr/>
      </p:nvGrpSpPr>
      <p:grpSpPr>
        <a:xfrm>
          <a:off x="0" y="0"/>
          <a:ext cx="0" cy="0"/>
          <a:chOff x="0" y="0"/>
          <a:chExt cx="0" cy="0"/>
        </a:xfrm>
      </p:grpSpPr>
      <p:sp>
        <p:nvSpPr>
          <p:cNvPr id="2" name="Text 0"/>
          <p:cNvSpPr txBox="1"/>
          <p:nvPr/>
        </p:nvSpPr>
        <p:spPr>
          <a:xfrm>
            <a:off x="612648" y="6446520"/>
            <a:ext cx="4572000" cy="228600"/>
          </a:xfrm>
          <a:prstGeom prst="rect">
            <a:avLst/>
          </a:prstGeom>
          <a:noFill/>
          <a:ln/>
        </p:spPr>
        <p:txBody>
          <a:bodyPr wrap="square" lIns="0" tIns="0" rIns="0" bIns="0" rtlCol="0" anchor="ctr"/>
          <a:lstStyle/>
          <a:p>
            <a:pPr marL="0" indent="0">
              <a:buNone/>
            </a:pPr>
            <a:r>
              <a:rPr lang="en-US" sz="900" dirty="0">
                <a:solidFill>
                  <a:srgbClr val="5B6475"/>
                </a:solidFill>
                <a:latin typeface="Calibri" pitchFamily="34" charset="0"/>
                <a:ea typeface="Calibri" pitchFamily="34" charset="-122"/>
                <a:cs typeface="Calibri" pitchFamily="34" charset="-120"/>
              </a:rPr>
              <a:t>Zones of Life: funnels and copy</a:t>
            </a:r>
            <a:endParaRPr lang="en-US" sz="900" dirty="0"/>
          </a:p>
        </p:txBody>
      </p:sp>
      <p:sp>
        <p:nvSpPr>
          <p:cNvPr id="3" name="Text 1"/>
          <p:cNvSpPr txBox="1"/>
          <p:nvPr/>
        </p:nvSpPr>
        <p:spPr>
          <a:xfrm>
            <a:off x="10881360" y="6446520"/>
            <a:ext cx="694944" cy="228600"/>
          </a:xfrm>
          <a:prstGeom prst="rect">
            <a:avLst/>
          </a:prstGeom>
          <a:noFill/>
          <a:ln/>
        </p:spPr>
        <p:txBody>
          <a:bodyPr wrap="square" lIns="0" tIns="0" rIns="0" bIns="0" rtlCol="0" anchor="ctr"/>
          <a:lstStyle/>
          <a:p>
            <a:pPr marL="0" indent="0" algn="r">
              <a:buNone/>
            </a:pPr>
            <a:r>
              <a:rPr lang="en-US" sz="900" dirty="0">
                <a:solidFill>
                  <a:srgbClr val="5B6475"/>
                </a:solidFill>
                <a:latin typeface="Calibri" pitchFamily="34" charset="0"/>
                <a:ea typeface="Calibri" pitchFamily="34" charset="-122"/>
                <a:cs typeface="Calibri" pitchFamily="34" charset="-120"/>
              </a:rPr>
              <a:t>13</a:t>
            </a:r>
            <a:endParaRPr lang="en-US" sz="900" dirty="0"/>
          </a:p>
        </p:txBody>
      </p:sp>
      <p:sp>
        <p:nvSpPr>
          <p:cNvPr id="4" name="Shape 2"/>
          <p:cNvSpPr/>
          <p:nvPr/>
        </p:nvSpPr>
        <p:spPr>
          <a:xfrm>
            <a:off x="612648" y="530352"/>
            <a:ext cx="1137514" cy="256032"/>
          </a:xfrm>
          <a:prstGeom prst="roundRect">
            <a:avLst>
              <a:gd name="adj" fmla="val 50000"/>
            </a:avLst>
          </a:prstGeom>
          <a:solidFill>
            <a:srgbClr val="F5E6EE"/>
          </a:solidFill>
          <a:ln w="9525">
            <a:solidFill>
              <a:srgbClr val="F5E6EE"/>
            </a:solidFill>
            <a:prstDash val="solid"/>
          </a:ln>
        </p:spPr>
        <p:txBody>
          <a:bodyPr/>
          <a:lstStyle/>
          <a:p>
            <a:endParaRPr lang="en-MX"/>
          </a:p>
        </p:txBody>
      </p:sp>
      <p:sp>
        <p:nvSpPr>
          <p:cNvPr id="5" name="Text 3"/>
          <p:cNvSpPr txBox="1"/>
          <p:nvPr/>
        </p:nvSpPr>
        <p:spPr>
          <a:xfrm>
            <a:off x="612648" y="530352"/>
            <a:ext cx="1137514" cy="256032"/>
          </a:xfrm>
          <a:prstGeom prst="rect">
            <a:avLst/>
          </a:prstGeom>
          <a:noFill/>
          <a:ln/>
        </p:spPr>
        <p:txBody>
          <a:bodyPr wrap="square" lIns="0" tIns="0" rIns="0" bIns="0" rtlCol="0" anchor="ctr"/>
          <a:lstStyle/>
          <a:p>
            <a:pPr marL="0" indent="0" algn="ctr">
              <a:buNone/>
            </a:pPr>
            <a:r>
              <a:rPr lang="en-US" sz="1000" b="1" dirty="0">
                <a:solidFill>
                  <a:srgbClr val="9A3D6A"/>
                </a:solidFill>
                <a:latin typeface="Calibri" pitchFamily="34" charset="0"/>
                <a:ea typeface="Calibri" pitchFamily="34" charset="-122"/>
                <a:cs typeface="Calibri" pitchFamily="34" charset="-120"/>
              </a:rPr>
              <a:t>Recovery</a:t>
            </a:r>
            <a:endParaRPr lang="en-US" sz="1000" dirty="0"/>
          </a:p>
        </p:txBody>
      </p:sp>
      <p:sp>
        <p:nvSpPr>
          <p:cNvPr id="6" name="Text 4"/>
          <p:cNvSpPr txBox="1"/>
          <p:nvPr/>
        </p:nvSpPr>
        <p:spPr>
          <a:xfrm>
            <a:off x="612648" y="941832"/>
            <a:ext cx="3200400" cy="813816"/>
          </a:xfrm>
          <a:prstGeom prst="rect">
            <a:avLst/>
          </a:prstGeom>
          <a:noFill/>
          <a:ln/>
        </p:spPr>
        <p:txBody>
          <a:bodyPr wrap="square" lIns="0" tIns="0" rIns="0" bIns="0" rtlCol="0" anchor="t"/>
          <a:lstStyle/>
          <a:p>
            <a:pPr marL="0" indent="0">
              <a:lnSpc>
                <a:spcPct val="95000"/>
              </a:lnSpc>
              <a:buNone/>
            </a:pPr>
            <a:r>
              <a:rPr lang="en-US" sz="2800" dirty="0">
                <a:solidFill>
                  <a:srgbClr val="1B2230"/>
                </a:solidFill>
                <a:latin typeface="Cambria" pitchFamily="34" charset="0"/>
                <a:ea typeface="Cambria" pitchFamily="34" charset="-122"/>
                <a:cs typeface="Cambria" pitchFamily="34" charset="-120"/>
              </a:rPr>
              <a:t>Flow E: no-show</a:t>
            </a:r>
            <a:endParaRPr lang="en-US" sz="2800" dirty="0"/>
          </a:p>
        </p:txBody>
      </p:sp>
      <p:sp>
        <p:nvSpPr>
          <p:cNvPr id="7" name="Text 5"/>
          <p:cNvSpPr txBox="1"/>
          <p:nvPr/>
        </p:nvSpPr>
        <p:spPr>
          <a:xfrm>
            <a:off x="612648" y="1920240"/>
            <a:ext cx="3200400" cy="423926"/>
          </a:xfrm>
          <a:prstGeom prst="rect">
            <a:avLst/>
          </a:prstGeom>
          <a:noFill/>
          <a:ln/>
        </p:spPr>
        <p:txBody>
          <a:bodyPr wrap="square" lIns="0" tIns="0" rIns="0" bIns="0" rtlCol="0" anchor="t"/>
          <a:lstStyle/>
          <a:p>
            <a:pPr marL="0" indent="0">
              <a:buNone/>
            </a:pPr>
            <a:r>
              <a:rPr lang="en-US" sz="1250" b="1" dirty="0">
                <a:solidFill>
                  <a:srgbClr val="1B2230"/>
                </a:solidFill>
                <a:latin typeface="Calibri" pitchFamily="34" charset="0"/>
                <a:ea typeface="Calibri" pitchFamily="34" charset="-122"/>
                <a:cs typeface="Calibri" pitchFamily="34" charset="-120"/>
              </a:rPr>
              <a:t>Enters</a:t>
            </a:r>
            <a:endParaRPr lang="en-US" sz="1250" dirty="0"/>
          </a:p>
          <a:p>
            <a:pPr marL="0" indent="0">
              <a:buNone/>
            </a:pPr>
            <a:r>
              <a:rPr lang="en-US" sz="1250" dirty="0">
                <a:solidFill>
                  <a:srgbClr val="5B6475"/>
                </a:solidFill>
                <a:latin typeface="Calibri" pitchFamily="34" charset="0"/>
                <a:ea typeface="Calibri" pitchFamily="34" charset="-122"/>
                <a:cs typeface="Calibri" pitchFamily="34" charset="-120"/>
              </a:rPr>
              <a:t>Missed the Private Review</a:t>
            </a:r>
            <a:endParaRPr lang="en-US" sz="1250" dirty="0"/>
          </a:p>
        </p:txBody>
      </p:sp>
      <p:sp>
        <p:nvSpPr>
          <p:cNvPr id="8" name="Text 6"/>
          <p:cNvSpPr txBox="1"/>
          <p:nvPr/>
        </p:nvSpPr>
        <p:spPr>
          <a:xfrm>
            <a:off x="612648" y="2472182"/>
            <a:ext cx="3200400" cy="423926"/>
          </a:xfrm>
          <a:prstGeom prst="rect">
            <a:avLst/>
          </a:prstGeom>
          <a:noFill/>
          <a:ln/>
        </p:spPr>
        <p:txBody>
          <a:bodyPr wrap="square" lIns="0" tIns="0" rIns="0" bIns="0" rtlCol="0" anchor="t"/>
          <a:lstStyle/>
          <a:p>
            <a:pPr marL="0" indent="0">
              <a:buNone/>
            </a:pPr>
            <a:r>
              <a:rPr lang="en-US" sz="1250" b="1" dirty="0">
                <a:solidFill>
                  <a:srgbClr val="1B2230"/>
                </a:solidFill>
                <a:latin typeface="Calibri" pitchFamily="34" charset="0"/>
                <a:ea typeface="Calibri" pitchFamily="34" charset="-122"/>
                <a:cs typeface="Calibri" pitchFamily="34" charset="-120"/>
              </a:rPr>
              <a:t>Exits</a:t>
            </a:r>
            <a:endParaRPr lang="en-US" sz="1250" dirty="0"/>
          </a:p>
          <a:p>
            <a:pPr marL="0" indent="0">
              <a:buNone/>
            </a:pPr>
            <a:r>
              <a:rPr lang="en-US" sz="1250" dirty="0">
                <a:solidFill>
                  <a:srgbClr val="5B6475"/>
                </a:solidFill>
                <a:latin typeface="Calibri" pitchFamily="34" charset="0"/>
                <a:ea typeface="Calibri" pitchFamily="34" charset="-122"/>
                <a:cs typeface="Calibri" pitchFamily="34" charset="-120"/>
              </a:rPr>
              <a:t>Reschedules</a:t>
            </a:r>
            <a:endParaRPr lang="en-US" sz="1250" dirty="0"/>
          </a:p>
        </p:txBody>
      </p:sp>
      <p:sp>
        <p:nvSpPr>
          <p:cNvPr id="9" name="Text 7"/>
          <p:cNvSpPr txBox="1"/>
          <p:nvPr/>
        </p:nvSpPr>
        <p:spPr>
          <a:xfrm>
            <a:off x="612648" y="3024124"/>
            <a:ext cx="3200400" cy="423926"/>
          </a:xfrm>
          <a:prstGeom prst="rect">
            <a:avLst/>
          </a:prstGeom>
          <a:noFill/>
          <a:ln/>
        </p:spPr>
        <p:txBody>
          <a:bodyPr wrap="square" lIns="0" tIns="0" rIns="0" bIns="0" rtlCol="0" anchor="t"/>
          <a:lstStyle/>
          <a:p>
            <a:pPr marL="0" indent="0">
              <a:buNone/>
            </a:pPr>
            <a:r>
              <a:rPr lang="en-US" sz="1250" b="1" dirty="0">
                <a:solidFill>
                  <a:srgbClr val="1B2230"/>
                </a:solidFill>
                <a:latin typeface="Calibri" pitchFamily="34" charset="0"/>
                <a:ea typeface="Calibri" pitchFamily="34" charset="-122"/>
                <a:cs typeface="Calibri" pitchFamily="34" charset="-120"/>
              </a:rPr>
              <a:t>If no reply</a:t>
            </a:r>
            <a:endParaRPr lang="en-US" sz="1250" dirty="0"/>
          </a:p>
          <a:p>
            <a:pPr marL="0" indent="0">
              <a:buNone/>
            </a:pPr>
            <a:r>
              <a:rPr lang="en-US" sz="1250" dirty="0">
                <a:solidFill>
                  <a:srgbClr val="5B6475"/>
                </a:solidFill>
                <a:latin typeface="Calibri" pitchFamily="34" charset="0"/>
                <a:ea typeface="Calibri" pitchFamily="34" charset="-122"/>
                <a:cs typeface="Calibri" pitchFamily="34" charset="-120"/>
              </a:rPr>
              <a:t>Goes back to D6</a:t>
            </a:r>
            <a:endParaRPr lang="en-US" sz="1250" dirty="0"/>
          </a:p>
        </p:txBody>
      </p:sp>
      <p:sp>
        <p:nvSpPr>
          <p:cNvPr id="10" name="Shape 8"/>
          <p:cNvSpPr/>
          <p:nvPr/>
        </p:nvSpPr>
        <p:spPr>
          <a:xfrm>
            <a:off x="4160520" y="530352"/>
            <a:ext cx="7418527" cy="1258824"/>
          </a:xfrm>
          <a:prstGeom prst="roundRect">
            <a:avLst>
              <a:gd name="adj" fmla="val 7264"/>
            </a:avLst>
          </a:prstGeom>
          <a:solidFill>
            <a:srgbClr val="FFFFFF"/>
          </a:solidFill>
          <a:ln w="9525">
            <a:solidFill>
              <a:srgbClr val="DDE1E8"/>
            </a:solidFill>
            <a:prstDash val="solid"/>
          </a:ln>
        </p:spPr>
        <p:txBody>
          <a:bodyPr/>
          <a:lstStyle/>
          <a:p>
            <a:endParaRPr lang="en-MX"/>
          </a:p>
        </p:txBody>
      </p:sp>
      <p:sp>
        <p:nvSpPr>
          <p:cNvPr id="11" name="Text 9"/>
          <p:cNvSpPr txBox="1"/>
          <p:nvPr/>
        </p:nvSpPr>
        <p:spPr>
          <a:xfrm>
            <a:off x="4315968" y="640080"/>
            <a:ext cx="457200" cy="219456"/>
          </a:xfrm>
          <a:prstGeom prst="rect">
            <a:avLst/>
          </a:prstGeom>
          <a:noFill/>
          <a:ln/>
        </p:spPr>
        <p:txBody>
          <a:bodyPr wrap="square" lIns="0" tIns="0" rIns="0" bIns="0" rtlCol="0" anchor="ctr"/>
          <a:lstStyle/>
          <a:p>
            <a:pPr marL="0" indent="0">
              <a:buNone/>
            </a:pPr>
            <a:r>
              <a:rPr lang="en-US" sz="1200" b="1" dirty="0">
                <a:solidFill>
                  <a:srgbClr val="1B2230"/>
                </a:solidFill>
                <a:latin typeface="Calibri" pitchFamily="34" charset="0"/>
                <a:ea typeface="Calibri" pitchFamily="34" charset="-122"/>
                <a:cs typeface="Calibri" pitchFamily="34" charset="-120"/>
              </a:rPr>
              <a:t>E1</a:t>
            </a:r>
            <a:endParaRPr lang="en-US" sz="1200" dirty="0"/>
          </a:p>
        </p:txBody>
      </p:sp>
      <p:sp>
        <p:nvSpPr>
          <p:cNvPr id="12" name="Text 10"/>
          <p:cNvSpPr txBox="1"/>
          <p:nvPr/>
        </p:nvSpPr>
        <p:spPr>
          <a:xfrm>
            <a:off x="4590288" y="640080"/>
            <a:ext cx="5736031" cy="219456"/>
          </a:xfrm>
          <a:prstGeom prst="rect">
            <a:avLst/>
          </a:prstGeom>
          <a:noFill/>
          <a:ln/>
        </p:spPr>
        <p:txBody>
          <a:bodyPr wrap="square" lIns="0" tIns="0" rIns="0" bIns="0" rtlCol="0" anchor="ctr"/>
          <a:lstStyle/>
          <a:p>
            <a:pPr marL="0" indent="0">
              <a:buNone/>
            </a:pPr>
            <a:r>
              <a:rPr lang="en-US" sz="950" dirty="0">
                <a:solidFill>
                  <a:srgbClr val="5B6475"/>
                </a:solidFill>
                <a:latin typeface="Calibri" pitchFamily="34" charset="0"/>
                <a:ea typeface="Calibri" pitchFamily="34" charset="-122"/>
                <a:cs typeface="Calibri" pitchFamily="34" charset="-120"/>
              </a:rPr>
              <a:t>15 minutes later</a:t>
            </a:r>
            <a:endParaRPr lang="en-US" sz="950" dirty="0"/>
          </a:p>
        </p:txBody>
      </p:sp>
      <p:sp>
        <p:nvSpPr>
          <p:cNvPr id="13" name="Shape 11"/>
          <p:cNvSpPr/>
          <p:nvPr/>
        </p:nvSpPr>
        <p:spPr>
          <a:xfrm>
            <a:off x="10675986" y="658368"/>
            <a:ext cx="747613" cy="220370"/>
          </a:xfrm>
          <a:prstGeom prst="roundRect">
            <a:avLst>
              <a:gd name="adj" fmla="val 50000"/>
            </a:avLst>
          </a:prstGeom>
          <a:solidFill>
            <a:srgbClr val="E1F2EF"/>
          </a:solidFill>
          <a:ln w="9525">
            <a:solidFill>
              <a:srgbClr val="E1F2EF"/>
            </a:solidFill>
            <a:prstDash val="solid"/>
          </a:ln>
        </p:spPr>
        <p:txBody>
          <a:bodyPr/>
          <a:lstStyle/>
          <a:p>
            <a:endParaRPr lang="en-MX"/>
          </a:p>
        </p:txBody>
      </p:sp>
      <p:sp>
        <p:nvSpPr>
          <p:cNvPr id="14" name="Text 12"/>
          <p:cNvSpPr txBox="1"/>
          <p:nvPr/>
        </p:nvSpPr>
        <p:spPr>
          <a:xfrm>
            <a:off x="10675986" y="658368"/>
            <a:ext cx="747613" cy="220370"/>
          </a:xfrm>
          <a:prstGeom prst="rect">
            <a:avLst/>
          </a:prstGeom>
          <a:noFill/>
          <a:ln/>
        </p:spPr>
        <p:txBody>
          <a:bodyPr wrap="square" lIns="0" tIns="0" rIns="0" bIns="0" rtlCol="0" anchor="ctr"/>
          <a:lstStyle/>
          <a:p>
            <a:pPr marL="0" indent="0" algn="ctr">
              <a:buNone/>
            </a:pPr>
            <a:r>
              <a:rPr lang="en-US" sz="850" dirty="0">
                <a:solidFill>
                  <a:srgbClr val="1F7A70"/>
                </a:solidFill>
                <a:latin typeface="Calibri" pitchFamily="34" charset="0"/>
                <a:ea typeface="Calibri" pitchFamily="34" charset="-122"/>
                <a:cs typeface="Calibri" pitchFamily="34" charset="-120"/>
              </a:rPr>
              <a:t>WhatsApp</a:t>
            </a:r>
            <a:endParaRPr lang="en-US" sz="850" dirty="0"/>
          </a:p>
        </p:txBody>
      </p:sp>
      <p:sp>
        <p:nvSpPr>
          <p:cNvPr id="15" name="Text 13"/>
          <p:cNvSpPr txBox="1"/>
          <p:nvPr/>
        </p:nvSpPr>
        <p:spPr>
          <a:xfrm>
            <a:off x="4315968" y="914400"/>
            <a:ext cx="7107631" cy="399288"/>
          </a:xfrm>
          <a:prstGeom prst="rect">
            <a:avLst/>
          </a:prstGeom>
          <a:noFill/>
          <a:ln/>
        </p:spPr>
        <p:txBody>
          <a:bodyPr wrap="square" lIns="0" tIns="0" rIns="0" bIns="0" rtlCol="0" anchor="t"/>
          <a:lstStyle/>
          <a:p>
            <a:pPr marL="0" indent="0">
              <a:lnSpc>
                <a:spcPct val="105000"/>
              </a:lnSpc>
              <a:buNone/>
            </a:pPr>
            <a:r>
              <a:rPr lang="en-US" sz="1200" dirty="0">
                <a:solidFill>
                  <a:srgbClr val="1B2230"/>
                </a:solidFill>
                <a:latin typeface="Cambria" pitchFamily="34" charset="0"/>
                <a:ea typeface="Cambria" pitchFamily="34" charset="-122"/>
                <a:cs typeface="Cambria" pitchFamily="34" charset="-120"/>
              </a:rPr>
              <a:t>Hi {{nombre}}, your Private Review with {{coach}} was at {{hora_sesion}}. Your payment still stands: you can pick another time.</a:t>
            </a:r>
            <a:endParaRPr lang="en-US" sz="1200" dirty="0"/>
          </a:p>
        </p:txBody>
      </p:sp>
      <p:sp>
        <p:nvSpPr>
          <p:cNvPr id="16" name="Shape 14"/>
          <p:cNvSpPr/>
          <p:nvPr/>
        </p:nvSpPr>
        <p:spPr>
          <a:xfrm>
            <a:off x="4315968" y="1405128"/>
            <a:ext cx="845088" cy="232258"/>
          </a:xfrm>
          <a:prstGeom prst="roundRect">
            <a:avLst>
              <a:gd name="adj" fmla="val 50000"/>
            </a:avLst>
          </a:prstGeom>
          <a:solidFill>
            <a:srgbClr val="1B2230"/>
          </a:solidFill>
          <a:ln w="9525">
            <a:solidFill>
              <a:srgbClr val="1B2230"/>
            </a:solidFill>
            <a:prstDash val="solid"/>
          </a:ln>
        </p:spPr>
        <p:txBody>
          <a:bodyPr/>
          <a:lstStyle/>
          <a:p>
            <a:endParaRPr lang="en-MX"/>
          </a:p>
        </p:txBody>
      </p:sp>
      <p:sp>
        <p:nvSpPr>
          <p:cNvPr id="17" name="Text 15"/>
          <p:cNvSpPr txBox="1"/>
          <p:nvPr/>
        </p:nvSpPr>
        <p:spPr>
          <a:xfrm>
            <a:off x="4315968" y="1405128"/>
            <a:ext cx="845088" cy="23225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Reschedule</a:t>
            </a:r>
            <a:endParaRPr lang="en-US" sz="900" dirty="0"/>
          </a:p>
        </p:txBody>
      </p:sp>
      <p:sp>
        <p:nvSpPr>
          <p:cNvPr id="18" name="Shape 16"/>
          <p:cNvSpPr/>
          <p:nvPr/>
        </p:nvSpPr>
        <p:spPr>
          <a:xfrm>
            <a:off x="5234208" y="1405128"/>
            <a:ext cx="1384950" cy="232258"/>
          </a:xfrm>
          <a:prstGeom prst="roundRect">
            <a:avLst>
              <a:gd name="adj" fmla="val 50000"/>
            </a:avLst>
          </a:prstGeom>
          <a:solidFill>
            <a:srgbClr val="FFFFFF"/>
          </a:solidFill>
          <a:ln w="9525">
            <a:solidFill>
              <a:srgbClr val="DDE1E8"/>
            </a:solidFill>
            <a:prstDash val="solid"/>
          </a:ln>
        </p:spPr>
        <p:txBody>
          <a:bodyPr/>
          <a:lstStyle/>
          <a:p>
            <a:endParaRPr lang="en-MX"/>
          </a:p>
        </p:txBody>
      </p:sp>
      <p:sp>
        <p:nvSpPr>
          <p:cNvPr id="19" name="Text 17"/>
          <p:cNvSpPr txBox="1"/>
          <p:nvPr/>
        </p:nvSpPr>
        <p:spPr>
          <a:xfrm>
            <a:off x="5234208" y="1405128"/>
            <a:ext cx="1384950" cy="232258"/>
          </a:xfrm>
          <a:prstGeom prst="rect">
            <a:avLst/>
          </a:prstGeom>
          <a:noFill/>
          <a:ln/>
        </p:spPr>
        <p:txBody>
          <a:bodyPr wrap="square" lIns="0" tIns="0" rIns="0" bIns="0" rtlCol="0" anchor="ctr"/>
          <a:lstStyle/>
          <a:p>
            <a:pPr marL="0" indent="0" algn="ctr">
              <a:buNone/>
            </a:pPr>
            <a:r>
              <a:rPr lang="en-US" sz="900" dirty="0">
                <a:solidFill>
                  <a:srgbClr val="1B2230"/>
                </a:solidFill>
                <a:latin typeface="Calibri" pitchFamily="34" charset="0"/>
                <a:ea typeface="Calibri" pitchFamily="34" charset="-122"/>
                <a:cs typeface="Calibri" pitchFamily="34" charset="-120"/>
              </a:rPr>
              <a:t>Not interested anymore</a:t>
            </a:r>
            <a:endParaRPr lang="en-US" sz="900" dirty="0"/>
          </a:p>
        </p:txBody>
      </p:sp>
      <p:sp>
        <p:nvSpPr>
          <p:cNvPr id="20" name="Shape 18"/>
          <p:cNvSpPr/>
          <p:nvPr/>
        </p:nvSpPr>
        <p:spPr>
          <a:xfrm>
            <a:off x="4160520" y="1917192"/>
            <a:ext cx="7418527" cy="1465834"/>
          </a:xfrm>
          <a:prstGeom prst="roundRect">
            <a:avLst>
              <a:gd name="adj" fmla="val 6238"/>
            </a:avLst>
          </a:prstGeom>
          <a:solidFill>
            <a:srgbClr val="FFFFFF"/>
          </a:solidFill>
          <a:ln w="9525">
            <a:solidFill>
              <a:srgbClr val="DDE1E8"/>
            </a:solidFill>
            <a:prstDash val="solid"/>
          </a:ln>
        </p:spPr>
        <p:txBody>
          <a:bodyPr/>
          <a:lstStyle/>
          <a:p>
            <a:endParaRPr lang="en-MX"/>
          </a:p>
        </p:txBody>
      </p:sp>
      <p:sp>
        <p:nvSpPr>
          <p:cNvPr id="21" name="Text 19"/>
          <p:cNvSpPr txBox="1"/>
          <p:nvPr/>
        </p:nvSpPr>
        <p:spPr>
          <a:xfrm>
            <a:off x="4315968" y="2026920"/>
            <a:ext cx="457200" cy="219456"/>
          </a:xfrm>
          <a:prstGeom prst="rect">
            <a:avLst/>
          </a:prstGeom>
          <a:noFill/>
          <a:ln/>
        </p:spPr>
        <p:txBody>
          <a:bodyPr wrap="square" lIns="0" tIns="0" rIns="0" bIns="0" rtlCol="0" anchor="ctr"/>
          <a:lstStyle/>
          <a:p>
            <a:pPr marL="0" indent="0">
              <a:buNone/>
            </a:pPr>
            <a:r>
              <a:rPr lang="en-US" sz="1200" b="1" dirty="0">
                <a:solidFill>
                  <a:srgbClr val="1B2230"/>
                </a:solidFill>
                <a:latin typeface="Calibri" pitchFamily="34" charset="0"/>
                <a:ea typeface="Calibri" pitchFamily="34" charset="-122"/>
                <a:cs typeface="Calibri" pitchFamily="34" charset="-120"/>
              </a:rPr>
              <a:t>E2</a:t>
            </a:r>
            <a:endParaRPr lang="en-US" sz="1200" dirty="0"/>
          </a:p>
        </p:txBody>
      </p:sp>
      <p:sp>
        <p:nvSpPr>
          <p:cNvPr id="22" name="Text 20"/>
          <p:cNvSpPr txBox="1"/>
          <p:nvPr/>
        </p:nvSpPr>
        <p:spPr>
          <a:xfrm>
            <a:off x="4590288" y="2026920"/>
            <a:ext cx="5736031" cy="219456"/>
          </a:xfrm>
          <a:prstGeom prst="rect">
            <a:avLst/>
          </a:prstGeom>
          <a:noFill/>
          <a:ln/>
        </p:spPr>
        <p:txBody>
          <a:bodyPr wrap="square" lIns="0" tIns="0" rIns="0" bIns="0" rtlCol="0" anchor="ctr"/>
          <a:lstStyle/>
          <a:p>
            <a:pPr marL="0" indent="0">
              <a:buNone/>
            </a:pPr>
            <a:r>
              <a:rPr lang="en-US" sz="950" dirty="0">
                <a:solidFill>
                  <a:srgbClr val="5B6475"/>
                </a:solidFill>
                <a:latin typeface="Calibri" pitchFamily="34" charset="0"/>
                <a:ea typeface="Calibri" pitchFamily="34" charset="-122"/>
                <a:cs typeface="Calibri" pitchFamily="34" charset="-120"/>
              </a:rPr>
              <a:t>24 hours later</a:t>
            </a:r>
            <a:endParaRPr lang="en-US" sz="950" dirty="0"/>
          </a:p>
        </p:txBody>
      </p:sp>
      <p:sp>
        <p:nvSpPr>
          <p:cNvPr id="23" name="Shape 21"/>
          <p:cNvSpPr/>
          <p:nvPr/>
        </p:nvSpPr>
        <p:spPr>
          <a:xfrm>
            <a:off x="10867187" y="2045208"/>
            <a:ext cx="556412" cy="220370"/>
          </a:xfrm>
          <a:prstGeom prst="roundRect">
            <a:avLst>
              <a:gd name="adj" fmla="val 50000"/>
            </a:avLst>
          </a:prstGeom>
          <a:solidFill>
            <a:srgbClr val="E9ECF6"/>
          </a:solidFill>
          <a:ln w="9525">
            <a:solidFill>
              <a:srgbClr val="E9ECF6"/>
            </a:solidFill>
            <a:prstDash val="solid"/>
          </a:ln>
        </p:spPr>
        <p:txBody>
          <a:bodyPr/>
          <a:lstStyle/>
          <a:p>
            <a:endParaRPr lang="en-MX"/>
          </a:p>
        </p:txBody>
      </p:sp>
      <p:sp>
        <p:nvSpPr>
          <p:cNvPr id="24" name="Text 22"/>
          <p:cNvSpPr txBox="1"/>
          <p:nvPr/>
        </p:nvSpPr>
        <p:spPr>
          <a:xfrm>
            <a:off x="10867187" y="2045208"/>
            <a:ext cx="556412" cy="220370"/>
          </a:xfrm>
          <a:prstGeom prst="rect">
            <a:avLst/>
          </a:prstGeom>
          <a:noFill/>
          <a:ln/>
        </p:spPr>
        <p:txBody>
          <a:bodyPr wrap="square" lIns="0" tIns="0" rIns="0" bIns="0" rtlCol="0" anchor="ctr"/>
          <a:lstStyle/>
          <a:p>
            <a:pPr marL="0" indent="0" algn="ctr">
              <a:buNone/>
            </a:pPr>
            <a:r>
              <a:rPr lang="en-US" sz="850" dirty="0">
                <a:solidFill>
                  <a:srgbClr val="3D4F86"/>
                </a:solidFill>
                <a:latin typeface="Calibri" pitchFamily="34" charset="0"/>
                <a:ea typeface="Calibri" pitchFamily="34" charset="-122"/>
                <a:cs typeface="Calibri" pitchFamily="34" charset="-120"/>
              </a:rPr>
              <a:t>Email</a:t>
            </a:r>
            <a:endParaRPr lang="en-US" sz="850" dirty="0"/>
          </a:p>
        </p:txBody>
      </p:sp>
      <p:sp>
        <p:nvSpPr>
          <p:cNvPr id="25" name="Text 23"/>
          <p:cNvSpPr txBox="1"/>
          <p:nvPr/>
        </p:nvSpPr>
        <p:spPr>
          <a:xfrm>
            <a:off x="4315968" y="2301240"/>
            <a:ext cx="7107631" cy="188722"/>
          </a:xfrm>
          <a:prstGeom prst="rect">
            <a:avLst/>
          </a:prstGeom>
          <a:noFill/>
          <a:ln/>
        </p:spPr>
        <p:txBody>
          <a:bodyPr wrap="square" lIns="0" tIns="0" rIns="0" bIns="0" rtlCol="0" anchor="t"/>
          <a:lstStyle/>
          <a:p>
            <a:pPr marL="0" indent="0">
              <a:buNone/>
            </a:pPr>
            <a:r>
              <a:rPr lang="en-US" sz="1100" b="1" dirty="0">
                <a:solidFill>
                  <a:srgbClr val="1B2230"/>
                </a:solidFill>
                <a:latin typeface="Calibri" pitchFamily="34" charset="0"/>
                <a:ea typeface="Calibri" pitchFamily="34" charset="-122"/>
                <a:cs typeface="Calibri" pitchFamily="34" charset="-120"/>
              </a:rPr>
              <a:t>Your Private Review is still open</a:t>
            </a:r>
            <a:endParaRPr lang="en-US" sz="1100" dirty="0"/>
          </a:p>
        </p:txBody>
      </p:sp>
      <p:sp>
        <p:nvSpPr>
          <p:cNvPr id="26" name="Text 24"/>
          <p:cNvSpPr txBox="1"/>
          <p:nvPr/>
        </p:nvSpPr>
        <p:spPr>
          <a:xfrm>
            <a:off x="4315968" y="2526538"/>
            <a:ext cx="7107631" cy="399288"/>
          </a:xfrm>
          <a:prstGeom prst="rect">
            <a:avLst/>
          </a:prstGeom>
          <a:noFill/>
          <a:ln/>
        </p:spPr>
        <p:txBody>
          <a:bodyPr wrap="square" lIns="0" tIns="0" rIns="0" bIns="0" rtlCol="0" anchor="t"/>
          <a:lstStyle/>
          <a:p>
            <a:pPr marL="0" indent="0">
              <a:lnSpc>
                <a:spcPct val="105000"/>
              </a:lnSpc>
              <a:buNone/>
            </a:pPr>
            <a:r>
              <a:rPr lang="en-US" sz="1200" dirty="0">
                <a:solidFill>
                  <a:srgbClr val="1B2230"/>
                </a:solidFill>
                <a:latin typeface="Cambria" pitchFamily="34" charset="0"/>
                <a:ea typeface="Cambria" pitchFamily="34" charset="-122"/>
                <a:cs typeface="Cambria" pitchFamily="34" charset="-120"/>
              </a:rPr>
              <a:t>We missed each other yesterday. Your session is already paid for and your spot with a coach is still available. Pick whichever time works best this week.</a:t>
            </a:r>
            <a:endParaRPr lang="en-US" sz="1200" dirty="0"/>
          </a:p>
        </p:txBody>
      </p:sp>
      <p:sp>
        <p:nvSpPr>
          <p:cNvPr id="27" name="Shape 25"/>
          <p:cNvSpPr/>
          <p:nvPr/>
        </p:nvSpPr>
        <p:spPr>
          <a:xfrm>
            <a:off x="4315968" y="3017266"/>
            <a:ext cx="1519916" cy="232258"/>
          </a:xfrm>
          <a:prstGeom prst="roundRect">
            <a:avLst>
              <a:gd name="adj" fmla="val 50000"/>
            </a:avLst>
          </a:prstGeom>
          <a:solidFill>
            <a:srgbClr val="1B2230"/>
          </a:solidFill>
          <a:ln w="9525">
            <a:solidFill>
              <a:srgbClr val="1B2230"/>
            </a:solidFill>
            <a:prstDash val="solid"/>
          </a:ln>
        </p:spPr>
        <p:txBody>
          <a:bodyPr/>
          <a:lstStyle/>
          <a:p>
            <a:endParaRPr lang="en-MX"/>
          </a:p>
        </p:txBody>
      </p:sp>
      <p:sp>
        <p:nvSpPr>
          <p:cNvPr id="28" name="Text 26"/>
          <p:cNvSpPr txBox="1"/>
          <p:nvPr/>
        </p:nvSpPr>
        <p:spPr>
          <a:xfrm>
            <a:off x="4315968" y="3017266"/>
            <a:ext cx="1519916" cy="23225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Reschedule my review</a:t>
            </a:r>
            <a:endParaRPr lang="en-US" sz="900" dirty="0"/>
          </a:p>
        </p:txBody>
      </p:sp>
      <p:sp>
        <p:nvSpPr>
          <p:cNvPr id="29" name="Shape 27"/>
          <p:cNvSpPr/>
          <p:nvPr/>
        </p:nvSpPr>
        <p:spPr>
          <a:xfrm>
            <a:off x="4160520" y="3511042"/>
            <a:ext cx="7418527" cy="1258824"/>
          </a:xfrm>
          <a:prstGeom prst="roundRect">
            <a:avLst>
              <a:gd name="adj" fmla="val 7264"/>
            </a:avLst>
          </a:prstGeom>
          <a:solidFill>
            <a:srgbClr val="FFFFFF"/>
          </a:solidFill>
          <a:ln w="9525">
            <a:solidFill>
              <a:srgbClr val="DDE1E8"/>
            </a:solidFill>
            <a:prstDash val="solid"/>
          </a:ln>
        </p:spPr>
        <p:txBody>
          <a:bodyPr/>
          <a:lstStyle/>
          <a:p>
            <a:endParaRPr lang="en-MX"/>
          </a:p>
        </p:txBody>
      </p:sp>
      <p:sp>
        <p:nvSpPr>
          <p:cNvPr id="30" name="Text 28"/>
          <p:cNvSpPr txBox="1"/>
          <p:nvPr/>
        </p:nvSpPr>
        <p:spPr>
          <a:xfrm>
            <a:off x="4315968" y="3620770"/>
            <a:ext cx="457200" cy="219456"/>
          </a:xfrm>
          <a:prstGeom prst="rect">
            <a:avLst/>
          </a:prstGeom>
          <a:noFill/>
          <a:ln/>
        </p:spPr>
        <p:txBody>
          <a:bodyPr wrap="square" lIns="0" tIns="0" rIns="0" bIns="0" rtlCol="0" anchor="ctr"/>
          <a:lstStyle/>
          <a:p>
            <a:pPr marL="0" indent="0">
              <a:buNone/>
            </a:pPr>
            <a:r>
              <a:rPr lang="en-US" sz="1200" b="1" dirty="0">
                <a:solidFill>
                  <a:srgbClr val="1B2230"/>
                </a:solidFill>
                <a:latin typeface="Calibri" pitchFamily="34" charset="0"/>
                <a:ea typeface="Calibri" pitchFamily="34" charset="-122"/>
                <a:cs typeface="Calibri" pitchFamily="34" charset="-120"/>
              </a:rPr>
              <a:t>E3</a:t>
            </a:r>
            <a:endParaRPr lang="en-US" sz="1200" dirty="0"/>
          </a:p>
        </p:txBody>
      </p:sp>
      <p:sp>
        <p:nvSpPr>
          <p:cNvPr id="31" name="Text 29"/>
          <p:cNvSpPr txBox="1"/>
          <p:nvPr/>
        </p:nvSpPr>
        <p:spPr>
          <a:xfrm>
            <a:off x="4590288" y="3620770"/>
            <a:ext cx="5736031" cy="219456"/>
          </a:xfrm>
          <a:prstGeom prst="rect">
            <a:avLst/>
          </a:prstGeom>
          <a:noFill/>
          <a:ln/>
        </p:spPr>
        <p:txBody>
          <a:bodyPr wrap="square" lIns="0" tIns="0" rIns="0" bIns="0" rtlCol="0" anchor="ctr"/>
          <a:lstStyle/>
          <a:p>
            <a:pPr marL="0" indent="0">
              <a:buNone/>
            </a:pPr>
            <a:r>
              <a:rPr lang="en-US" sz="950" dirty="0">
                <a:solidFill>
                  <a:srgbClr val="5B6475"/>
                </a:solidFill>
                <a:latin typeface="Calibri" pitchFamily="34" charset="0"/>
                <a:ea typeface="Calibri" pitchFamily="34" charset="-122"/>
                <a:cs typeface="Calibri" pitchFamily="34" charset="-120"/>
              </a:rPr>
              <a:t>72 hours later</a:t>
            </a:r>
            <a:endParaRPr lang="en-US" sz="950" dirty="0"/>
          </a:p>
        </p:txBody>
      </p:sp>
      <p:sp>
        <p:nvSpPr>
          <p:cNvPr id="32" name="Shape 30"/>
          <p:cNvSpPr/>
          <p:nvPr/>
        </p:nvSpPr>
        <p:spPr>
          <a:xfrm>
            <a:off x="10675986" y="3639058"/>
            <a:ext cx="747613" cy="220370"/>
          </a:xfrm>
          <a:prstGeom prst="roundRect">
            <a:avLst>
              <a:gd name="adj" fmla="val 50000"/>
            </a:avLst>
          </a:prstGeom>
          <a:solidFill>
            <a:srgbClr val="E1F2EF"/>
          </a:solidFill>
          <a:ln w="9525">
            <a:solidFill>
              <a:srgbClr val="E1F2EF"/>
            </a:solidFill>
            <a:prstDash val="solid"/>
          </a:ln>
        </p:spPr>
        <p:txBody>
          <a:bodyPr/>
          <a:lstStyle/>
          <a:p>
            <a:endParaRPr lang="en-MX"/>
          </a:p>
        </p:txBody>
      </p:sp>
      <p:sp>
        <p:nvSpPr>
          <p:cNvPr id="33" name="Text 31"/>
          <p:cNvSpPr txBox="1"/>
          <p:nvPr/>
        </p:nvSpPr>
        <p:spPr>
          <a:xfrm>
            <a:off x="10675986" y="3639058"/>
            <a:ext cx="747613" cy="220370"/>
          </a:xfrm>
          <a:prstGeom prst="rect">
            <a:avLst/>
          </a:prstGeom>
          <a:noFill/>
          <a:ln/>
        </p:spPr>
        <p:txBody>
          <a:bodyPr wrap="square" lIns="0" tIns="0" rIns="0" bIns="0" rtlCol="0" anchor="ctr"/>
          <a:lstStyle/>
          <a:p>
            <a:pPr marL="0" indent="0" algn="ctr">
              <a:buNone/>
            </a:pPr>
            <a:r>
              <a:rPr lang="en-US" sz="850" dirty="0">
                <a:solidFill>
                  <a:srgbClr val="1F7A70"/>
                </a:solidFill>
                <a:latin typeface="Calibri" pitchFamily="34" charset="0"/>
                <a:ea typeface="Calibri" pitchFamily="34" charset="-122"/>
                <a:cs typeface="Calibri" pitchFamily="34" charset="-120"/>
              </a:rPr>
              <a:t>WhatsApp</a:t>
            </a:r>
            <a:endParaRPr lang="en-US" sz="850" dirty="0"/>
          </a:p>
        </p:txBody>
      </p:sp>
      <p:sp>
        <p:nvSpPr>
          <p:cNvPr id="34" name="Text 32"/>
          <p:cNvSpPr txBox="1"/>
          <p:nvPr/>
        </p:nvSpPr>
        <p:spPr>
          <a:xfrm>
            <a:off x="4315968" y="3895090"/>
            <a:ext cx="7107631" cy="399288"/>
          </a:xfrm>
          <a:prstGeom prst="rect">
            <a:avLst/>
          </a:prstGeom>
          <a:noFill/>
          <a:ln/>
        </p:spPr>
        <p:txBody>
          <a:bodyPr wrap="square" lIns="0" tIns="0" rIns="0" bIns="0" rtlCol="0" anchor="t"/>
          <a:lstStyle/>
          <a:p>
            <a:pPr marL="0" indent="0">
              <a:lnSpc>
                <a:spcPct val="105000"/>
              </a:lnSpc>
              <a:buNone/>
            </a:pPr>
            <a:r>
              <a:rPr lang="en-US" sz="1200" dirty="0">
                <a:solidFill>
                  <a:srgbClr val="3D4F86"/>
                </a:solidFill>
                <a:latin typeface="Calibri" pitchFamily="34" charset="0"/>
                <a:ea typeface="Calibri" pitchFamily="34" charset="-122"/>
                <a:cs typeface="Calibri" pitchFamily="34" charset="-120"/>
              </a:rPr>
              <a:t>{{nombre}}, last reminder about your Private Review. Your payment isn't lost: whenever you want to pick it up, choose a time from your account.</a:t>
            </a:r>
            <a:endParaRPr lang="en-US" sz="1200" dirty="0"/>
          </a:p>
        </p:txBody>
      </p:sp>
      <p:sp>
        <p:nvSpPr>
          <p:cNvPr id="35" name="Shape 33"/>
          <p:cNvSpPr/>
          <p:nvPr/>
        </p:nvSpPr>
        <p:spPr>
          <a:xfrm>
            <a:off x="4315968" y="4385818"/>
            <a:ext cx="845088" cy="232258"/>
          </a:xfrm>
          <a:prstGeom prst="roundRect">
            <a:avLst>
              <a:gd name="adj" fmla="val 50000"/>
            </a:avLst>
          </a:prstGeom>
          <a:solidFill>
            <a:srgbClr val="1B2230"/>
          </a:solidFill>
          <a:ln w="9525">
            <a:solidFill>
              <a:srgbClr val="1B2230"/>
            </a:solidFill>
            <a:prstDash val="solid"/>
          </a:ln>
        </p:spPr>
        <p:txBody>
          <a:bodyPr/>
          <a:lstStyle/>
          <a:p>
            <a:endParaRPr lang="en-MX"/>
          </a:p>
        </p:txBody>
      </p:sp>
      <p:sp>
        <p:nvSpPr>
          <p:cNvPr id="36" name="Text 34"/>
          <p:cNvSpPr txBox="1"/>
          <p:nvPr/>
        </p:nvSpPr>
        <p:spPr>
          <a:xfrm>
            <a:off x="4315968" y="4385818"/>
            <a:ext cx="845088" cy="23225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Reschedule</a:t>
            </a:r>
            <a:endParaRPr lang="en-US" sz="900" dirty="0"/>
          </a:p>
        </p:txBody>
      </p:sp>
      <p:sp>
        <p:nvSpPr>
          <p:cNvPr id="37" name="Shape 35"/>
          <p:cNvSpPr/>
          <p:nvPr/>
        </p:nvSpPr>
        <p:spPr>
          <a:xfrm>
            <a:off x="5234208" y="4385818"/>
            <a:ext cx="1047537" cy="232258"/>
          </a:xfrm>
          <a:prstGeom prst="roundRect">
            <a:avLst>
              <a:gd name="adj" fmla="val 50000"/>
            </a:avLst>
          </a:prstGeom>
          <a:solidFill>
            <a:srgbClr val="FFFFFF"/>
          </a:solidFill>
          <a:ln w="9525">
            <a:solidFill>
              <a:srgbClr val="DDE1E8"/>
            </a:solidFill>
            <a:prstDash val="solid"/>
          </a:ln>
        </p:spPr>
        <p:txBody>
          <a:bodyPr/>
          <a:lstStyle/>
          <a:p>
            <a:endParaRPr lang="en-MX"/>
          </a:p>
        </p:txBody>
      </p:sp>
      <p:sp>
        <p:nvSpPr>
          <p:cNvPr id="38" name="Text 36"/>
          <p:cNvSpPr txBox="1"/>
          <p:nvPr/>
        </p:nvSpPr>
        <p:spPr>
          <a:xfrm>
            <a:off x="5234208" y="4385818"/>
            <a:ext cx="1047537" cy="232258"/>
          </a:xfrm>
          <a:prstGeom prst="rect">
            <a:avLst/>
          </a:prstGeom>
          <a:noFill/>
          <a:ln/>
        </p:spPr>
        <p:txBody>
          <a:bodyPr wrap="square" lIns="0" tIns="0" rIns="0" bIns="0" rtlCol="0" anchor="ctr"/>
          <a:lstStyle/>
          <a:p>
            <a:pPr marL="0" indent="0" algn="ctr">
              <a:buNone/>
            </a:pPr>
            <a:r>
              <a:rPr lang="en-US" sz="900" dirty="0">
                <a:solidFill>
                  <a:srgbClr val="1B2230"/>
                </a:solidFill>
                <a:latin typeface="Calibri" pitchFamily="34" charset="0"/>
                <a:ea typeface="Calibri" pitchFamily="34" charset="-122"/>
                <a:cs typeface="Calibri" pitchFamily="34" charset="-120"/>
              </a:rPr>
              <a:t>Later on</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7F9"/>
        </a:solidFill>
        <a:effectLst/>
      </p:bgPr>
    </p:bg>
    <p:spTree>
      <p:nvGrpSpPr>
        <p:cNvPr id="1" name=""/>
        <p:cNvGrpSpPr/>
        <p:nvPr/>
      </p:nvGrpSpPr>
      <p:grpSpPr>
        <a:xfrm>
          <a:off x="0" y="0"/>
          <a:ext cx="0" cy="0"/>
          <a:chOff x="0" y="0"/>
          <a:chExt cx="0" cy="0"/>
        </a:xfrm>
      </p:grpSpPr>
      <p:sp>
        <p:nvSpPr>
          <p:cNvPr id="2" name="Text 0"/>
          <p:cNvSpPr txBox="1"/>
          <p:nvPr/>
        </p:nvSpPr>
        <p:spPr>
          <a:xfrm>
            <a:off x="612648" y="6446520"/>
            <a:ext cx="4572000" cy="228600"/>
          </a:xfrm>
          <a:prstGeom prst="rect">
            <a:avLst/>
          </a:prstGeom>
          <a:noFill/>
          <a:ln/>
        </p:spPr>
        <p:txBody>
          <a:bodyPr wrap="square" lIns="0" tIns="0" rIns="0" bIns="0" rtlCol="0" anchor="ctr"/>
          <a:lstStyle/>
          <a:p>
            <a:pPr marL="0" indent="0">
              <a:buNone/>
            </a:pPr>
            <a:r>
              <a:rPr lang="en-US" sz="900" dirty="0">
                <a:solidFill>
                  <a:srgbClr val="5B6475"/>
                </a:solidFill>
                <a:latin typeface="Calibri" pitchFamily="34" charset="0"/>
                <a:ea typeface="Calibri" pitchFamily="34" charset="-122"/>
                <a:cs typeface="Calibri" pitchFamily="34" charset="-120"/>
              </a:rPr>
              <a:t>Zones of Life: funnels and copy</a:t>
            </a:r>
            <a:endParaRPr lang="en-US" sz="900" dirty="0"/>
          </a:p>
        </p:txBody>
      </p:sp>
      <p:sp>
        <p:nvSpPr>
          <p:cNvPr id="3" name="Text 1"/>
          <p:cNvSpPr txBox="1"/>
          <p:nvPr/>
        </p:nvSpPr>
        <p:spPr>
          <a:xfrm>
            <a:off x="10881360" y="6446520"/>
            <a:ext cx="694944" cy="228600"/>
          </a:xfrm>
          <a:prstGeom prst="rect">
            <a:avLst/>
          </a:prstGeom>
          <a:noFill/>
          <a:ln/>
        </p:spPr>
        <p:txBody>
          <a:bodyPr wrap="square" lIns="0" tIns="0" rIns="0" bIns="0" rtlCol="0" anchor="ctr"/>
          <a:lstStyle/>
          <a:p>
            <a:pPr marL="0" indent="0" algn="r">
              <a:buNone/>
            </a:pPr>
            <a:r>
              <a:rPr lang="en-US" sz="900" dirty="0">
                <a:solidFill>
                  <a:srgbClr val="5B6475"/>
                </a:solidFill>
                <a:latin typeface="Calibri" pitchFamily="34" charset="0"/>
                <a:ea typeface="Calibri" pitchFamily="34" charset="-122"/>
                <a:cs typeface="Calibri" pitchFamily="34" charset="-120"/>
              </a:rPr>
              <a:t>14</a:t>
            </a:r>
            <a:endParaRPr lang="en-US" sz="900" dirty="0"/>
          </a:p>
        </p:txBody>
      </p:sp>
      <p:sp>
        <p:nvSpPr>
          <p:cNvPr id="4" name="Shape 2"/>
          <p:cNvSpPr/>
          <p:nvPr/>
        </p:nvSpPr>
        <p:spPr>
          <a:xfrm>
            <a:off x="612648" y="530352"/>
            <a:ext cx="1737360" cy="256032"/>
          </a:xfrm>
          <a:prstGeom prst="roundRect">
            <a:avLst>
              <a:gd name="adj" fmla="val 50000"/>
            </a:avLst>
          </a:prstGeom>
          <a:solidFill>
            <a:srgbClr val="F5E6EE"/>
          </a:solidFill>
          <a:ln w="9525">
            <a:solidFill>
              <a:srgbClr val="F5E6EE"/>
            </a:solidFill>
            <a:prstDash val="solid"/>
          </a:ln>
        </p:spPr>
        <p:txBody>
          <a:bodyPr/>
          <a:lstStyle/>
          <a:p>
            <a:endParaRPr lang="en-MX"/>
          </a:p>
        </p:txBody>
      </p:sp>
      <p:sp>
        <p:nvSpPr>
          <p:cNvPr id="5" name="Text 3"/>
          <p:cNvSpPr txBox="1"/>
          <p:nvPr/>
        </p:nvSpPr>
        <p:spPr>
          <a:xfrm>
            <a:off x="612648" y="530352"/>
            <a:ext cx="1737360" cy="256032"/>
          </a:xfrm>
          <a:prstGeom prst="rect">
            <a:avLst/>
          </a:prstGeom>
          <a:noFill/>
          <a:ln/>
        </p:spPr>
        <p:txBody>
          <a:bodyPr wrap="square" lIns="0" tIns="0" rIns="0" bIns="0" rtlCol="0" anchor="ctr"/>
          <a:lstStyle/>
          <a:p>
            <a:pPr marL="0" indent="0" algn="ctr">
              <a:buNone/>
            </a:pPr>
            <a:r>
              <a:rPr lang="en-US" sz="1000" b="1" dirty="0">
                <a:solidFill>
                  <a:srgbClr val="9A3D6A"/>
                </a:solidFill>
                <a:latin typeface="Calibri" pitchFamily="34" charset="0"/>
                <a:ea typeface="Calibri" pitchFamily="34" charset="-122"/>
                <a:cs typeface="Calibri" pitchFamily="34" charset="-120"/>
              </a:rPr>
              <a:t>Recovery, 1 of 2</a:t>
            </a:r>
            <a:endParaRPr lang="en-US" sz="1000" dirty="0"/>
          </a:p>
        </p:txBody>
      </p:sp>
      <p:sp>
        <p:nvSpPr>
          <p:cNvPr id="6" name="Text 4"/>
          <p:cNvSpPr txBox="1"/>
          <p:nvPr/>
        </p:nvSpPr>
        <p:spPr>
          <a:xfrm>
            <a:off x="612648" y="941832"/>
            <a:ext cx="3200400" cy="813816"/>
          </a:xfrm>
          <a:prstGeom prst="rect">
            <a:avLst/>
          </a:prstGeom>
          <a:noFill/>
          <a:ln/>
        </p:spPr>
        <p:txBody>
          <a:bodyPr wrap="square" lIns="0" tIns="0" rIns="0" bIns="0" rtlCol="0" anchor="t"/>
          <a:lstStyle/>
          <a:p>
            <a:pPr marL="0" indent="0">
              <a:lnSpc>
                <a:spcPct val="95000"/>
              </a:lnSpc>
              <a:buNone/>
            </a:pPr>
            <a:r>
              <a:rPr lang="en-US" sz="2800" dirty="0">
                <a:solidFill>
                  <a:srgbClr val="1B2230"/>
                </a:solidFill>
                <a:latin typeface="Cambria" pitchFamily="34" charset="0"/>
                <a:ea typeface="Cambria" pitchFamily="34" charset="-122"/>
                <a:cs typeface="Cambria" pitchFamily="34" charset="-120"/>
              </a:rPr>
              <a:t>Flow F: attended, didn't buy</a:t>
            </a:r>
            <a:endParaRPr lang="en-US" sz="2800" dirty="0"/>
          </a:p>
        </p:txBody>
      </p:sp>
      <p:sp>
        <p:nvSpPr>
          <p:cNvPr id="7" name="Text 5"/>
          <p:cNvSpPr txBox="1"/>
          <p:nvPr/>
        </p:nvSpPr>
        <p:spPr>
          <a:xfrm>
            <a:off x="612648" y="1920240"/>
            <a:ext cx="3200400" cy="423926"/>
          </a:xfrm>
          <a:prstGeom prst="rect">
            <a:avLst/>
          </a:prstGeom>
          <a:noFill/>
          <a:ln/>
        </p:spPr>
        <p:txBody>
          <a:bodyPr wrap="square" lIns="0" tIns="0" rIns="0" bIns="0" rtlCol="0" anchor="t"/>
          <a:lstStyle/>
          <a:p>
            <a:pPr marL="0" indent="0">
              <a:buNone/>
            </a:pPr>
            <a:r>
              <a:rPr lang="en-US" sz="1250" b="1" dirty="0">
                <a:solidFill>
                  <a:srgbClr val="1B2230"/>
                </a:solidFill>
                <a:latin typeface="Calibri" pitchFamily="34" charset="0"/>
                <a:ea typeface="Calibri" pitchFamily="34" charset="-122"/>
                <a:cs typeface="Calibri" pitchFamily="34" charset="-120"/>
              </a:rPr>
              <a:t>Enters</a:t>
            </a:r>
            <a:endParaRPr lang="en-US" sz="1250" dirty="0"/>
          </a:p>
          <a:p>
            <a:pPr marL="0" indent="0">
              <a:buNone/>
            </a:pPr>
            <a:r>
              <a:rPr lang="en-US" sz="1250" dirty="0">
                <a:solidFill>
                  <a:srgbClr val="5B6475"/>
                </a:solidFill>
                <a:latin typeface="Calibri" pitchFamily="34" charset="0"/>
                <a:ea typeface="Calibri" pitchFamily="34" charset="-122"/>
                <a:cs typeface="Calibri" pitchFamily="34" charset="-120"/>
              </a:rPr>
              <a:t>The coach marks "no purchase"</a:t>
            </a:r>
            <a:endParaRPr lang="en-US" sz="1250" dirty="0"/>
          </a:p>
        </p:txBody>
      </p:sp>
      <p:sp>
        <p:nvSpPr>
          <p:cNvPr id="8" name="Text 6"/>
          <p:cNvSpPr txBox="1"/>
          <p:nvPr/>
        </p:nvSpPr>
        <p:spPr>
          <a:xfrm>
            <a:off x="612648" y="2472182"/>
            <a:ext cx="3200400" cy="423926"/>
          </a:xfrm>
          <a:prstGeom prst="rect">
            <a:avLst/>
          </a:prstGeom>
          <a:noFill/>
          <a:ln/>
        </p:spPr>
        <p:txBody>
          <a:bodyPr wrap="square" lIns="0" tIns="0" rIns="0" bIns="0" rtlCol="0" anchor="t"/>
          <a:lstStyle/>
          <a:p>
            <a:pPr marL="0" indent="0">
              <a:buNone/>
            </a:pPr>
            <a:r>
              <a:rPr lang="en-US" sz="1250" b="1" dirty="0">
                <a:solidFill>
                  <a:srgbClr val="1B2230"/>
                </a:solidFill>
                <a:latin typeface="Calibri" pitchFamily="34" charset="0"/>
                <a:ea typeface="Calibri" pitchFamily="34" charset="-122"/>
                <a:cs typeface="Calibri" pitchFamily="34" charset="-120"/>
              </a:rPr>
              <a:t>Exits</a:t>
            </a:r>
            <a:endParaRPr lang="en-US" sz="1250" dirty="0"/>
          </a:p>
          <a:p>
            <a:pPr marL="0" indent="0">
              <a:buNone/>
            </a:pPr>
            <a:r>
              <a:rPr lang="en-US" sz="1250" dirty="0">
                <a:solidFill>
                  <a:srgbClr val="5B6475"/>
                </a:solidFill>
                <a:latin typeface="Calibri" pitchFamily="34" charset="0"/>
                <a:ea typeface="Calibri" pitchFamily="34" charset="-122"/>
                <a:cs typeface="Calibri" pitchFamily="34" charset="-120"/>
              </a:rPr>
              <a:t>Buys the program or an entry product</a:t>
            </a:r>
            <a:endParaRPr lang="en-US" sz="1250" dirty="0"/>
          </a:p>
        </p:txBody>
      </p:sp>
      <p:sp>
        <p:nvSpPr>
          <p:cNvPr id="9" name="Text 7"/>
          <p:cNvSpPr txBox="1"/>
          <p:nvPr/>
        </p:nvSpPr>
        <p:spPr>
          <a:xfrm>
            <a:off x="612648" y="3024124"/>
            <a:ext cx="3200400" cy="617601"/>
          </a:xfrm>
          <a:prstGeom prst="rect">
            <a:avLst/>
          </a:prstGeom>
          <a:noFill/>
          <a:ln/>
        </p:spPr>
        <p:txBody>
          <a:bodyPr wrap="square" lIns="0" tIns="0" rIns="0" bIns="0" rtlCol="0" anchor="t"/>
          <a:lstStyle/>
          <a:p>
            <a:pPr marL="0" indent="0">
              <a:buNone/>
            </a:pPr>
            <a:r>
              <a:rPr lang="en-US" sz="1250" b="1" dirty="0">
                <a:solidFill>
                  <a:srgbClr val="1B2230"/>
                </a:solidFill>
                <a:latin typeface="Calibri" pitchFamily="34" charset="0"/>
                <a:ea typeface="Calibri" pitchFamily="34" charset="-122"/>
                <a:cs typeface="Calibri" pitchFamily="34" charset="-120"/>
              </a:rPr>
              <a:t>The coach logs</a:t>
            </a:r>
            <a:endParaRPr lang="en-US" sz="1250" dirty="0"/>
          </a:p>
          <a:p>
            <a:pPr marL="0" indent="0">
              <a:buNone/>
            </a:pPr>
            <a:r>
              <a:rPr lang="en-US" sz="1250" dirty="0">
                <a:solidFill>
                  <a:srgbClr val="5B6475"/>
                </a:solidFill>
                <a:latin typeface="Calibri" pitchFamily="34" charset="0"/>
                <a:ea typeface="Calibri" pitchFamily="34" charset="-122"/>
                <a:cs typeface="Calibri" pitchFamily="34" charset="-120"/>
              </a:rPr>
              <a:t>A one-line summary, the proposal sent and the main objection.</a:t>
            </a:r>
            <a:endParaRPr lang="en-US" sz="1250" dirty="0"/>
          </a:p>
        </p:txBody>
      </p:sp>
      <p:sp>
        <p:nvSpPr>
          <p:cNvPr id="10" name="Shape 8"/>
          <p:cNvSpPr/>
          <p:nvPr/>
        </p:nvSpPr>
        <p:spPr>
          <a:xfrm>
            <a:off x="4160520" y="530352"/>
            <a:ext cx="3645256" cy="1846834"/>
          </a:xfrm>
          <a:prstGeom prst="roundRect">
            <a:avLst>
              <a:gd name="adj" fmla="val 4951"/>
            </a:avLst>
          </a:prstGeom>
          <a:solidFill>
            <a:srgbClr val="FFFFFF"/>
          </a:solidFill>
          <a:ln w="9525">
            <a:solidFill>
              <a:srgbClr val="DDE1E8"/>
            </a:solidFill>
            <a:prstDash val="solid"/>
          </a:ln>
        </p:spPr>
        <p:txBody>
          <a:bodyPr/>
          <a:lstStyle/>
          <a:p>
            <a:endParaRPr lang="en-MX"/>
          </a:p>
        </p:txBody>
      </p:sp>
      <p:sp>
        <p:nvSpPr>
          <p:cNvPr id="11" name="Text 9"/>
          <p:cNvSpPr txBox="1"/>
          <p:nvPr/>
        </p:nvSpPr>
        <p:spPr>
          <a:xfrm>
            <a:off x="4315968" y="640080"/>
            <a:ext cx="457200" cy="219456"/>
          </a:xfrm>
          <a:prstGeom prst="rect">
            <a:avLst/>
          </a:prstGeom>
          <a:noFill/>
          <a:ln/>
        </p:spPr>
        <p:txBody>
          <a:bodyPr wrap="square" lIns="0" tIns="0" rIns="0" bIns="0" rtlCol="0" anchor="ctr"/>
          <a:lstStyle/>
          <a:p>
            <a:pPr marL="0" indent="0">
              <a:buNone/>
            </a:pPr>
            <a:r>
              <a:rPr lang="en-US" sz="1200" b="1" dirty="0">
                <a:solidFill>
                  <a:srgbClr val="1B2230"/>
                </a:solidFill>
                <a:latin typeface="Calibri" pitchFamily="34" charset="0"/>
                <a:ea typeface="Calibri" pitchFamily="34" charset="-122"/>
                <a:cs typeface="Calibri" pitchFamily="34" charset="-120"/>
              </a:rPr>
              <a:t>F1</a:t>
            </a:r>
            <a:endParaRPr lang="en-US" sz="1200" dirty="0"/>
          </a:p>
        </p:txBody>
      </p:sp>
      <p:sp>
        <p:nvSpPr>
          <p:cNvPr id="12" name="Text 10"/>
          <p:cNvSpPr txBox="1"/>
          <p:nvPr/>
        </p:nvSpPr>
        <p:spPr>
          <a:xfrm>
            <a:off x="4590288" y="640080"/>
            <a:ext cx="1962760" cy="219456"/>
          </a:xfrm>
          <a:prstGeom prst="rect">
            <a:avLst/>
          </a:prstGeom>
          <a:noFill/>
          <a:ln/>
        </p:spPr>
        <p:txBody>
          <a:bodyPr wrap="square" lIns="0" tIns="0" rIns="0" bIns="0" rtlCol="0" anchor="ctr"/>
          <a:lstStyle/>
          <a:p>
            <a:pPr marL="0" indent="0">
              <a:buNone/>
            </a:pPr>
            <a:r>
              <a:rPr lang="en-US" sz="950" dirty="0">
                <a:solidFill>
                  <a:srgbClr val="5B6475"/>
                </a:solidFill>
                <a:latin typeface="Calibri" pitchFamily="34" charset="0"/>
                <a:ea typeface="Calibri" pitchFamily="34" charset="-122"/>
                <a:cs typeface="Calibri" pitchFamily="34" charset="-120"/>
              </a:rPr>
              <a:t>Same day</a:t>
            </a:r>
            <a:endParaRPr lang="en-US" sz="950" dirty="0"/>
          </a:p>
        </p:txBody>
      </p:sp>
      <p:sp>
        <p:nvSpPr>
          <p:cNvPr id="13" name="Shape 11"/>
          <p:cNvSpPr/>
          <p:nvPr/>
        </p:nvSpPr>
        <p:spPr>
          <a:xfrm>
            <a:off x="7093915" y="658368"/>
            <a:ext cx="556412" cy="220370"/>
          </a:xfrm>
          <a:prstGeom prst="roundRect">
            <a:avLst>
              <a:gd name="adj" fmla="val 50000"/>
            </a:avLst>
          </a:prstGeom>
          <a:solidFill>
            <a:srgbClr val="E9ECF6"/>
          </a:solidFill>
          <a:ln w="9525">
            <a:solidFill>
              <a:srgbClr val="E9ECF6"/>
            </a:solidFill>
            <a:prstDash val="solid"/>
          </a:ln>
        </p:spPr>
        <p:txBody>
          <a:bodyPr/>
          <a:lstStyle/>
          <a:p>
            <a:endParaRPr lang="en-MX"/>
          </a:p>
        </p:txBody>
      </p:sp>
      <p:sp>
        <p:nvSpPr>
          <p:cNvPr id="14" name="Text 12"/>
          <p:cNvSpPr txBox="1"/>
          <p:nvPr/>
        </p:nvSpPr>
        <p:spPr>
          <a:xfrm>
            <a:off x="7093915" y="658368"/>
            <a:ext cx="556412" cy="220370"/>
          </a:xfrm>
          <a:prstGeom prst="rect">
            <a:avLst/>
          </a:prstGeom>
          <a:noFill/>
          <a:ln/>
        </p:spPr>
        <p:txBody>
          <a:bodyPr wrap="square" lIns="0" tIns="0" rIns="0" bIns="0" rtlCol="0" anchor="ctr"/>
          <a:lstStyle/>
          <a:p>
            <a:pPr marL="0" indent="0" algn="ctr">
              <a:buNone/>
            </a:pPr>
            <a:r>
              <a:rPr lang="en-US" sz="850" dirty="0">
                <a:solidFill>
                  <a:srgbClr val="3D4F86"/>
                </a:solidFill>
                <a:latin typeface="Calibri" pitchFamily="34" charset="0"/>
                <a:ea typeface="Calibri" pitchFamily="34" charset="-122"/>
                <a:cs typeface="Calibri" pitchFamily="34" charset="-120"/>
              </a:rPr>
              <a:t>Email</a:t>
            </a:r>
            <a:endParaRPr lang="en-US" sz="850" dirty="0"/>
          </a:p>
        </p:txBody>
      </p:sp>
      <p:sp>
        <p:nvSpPr>
          <p:cNvPr id="15" name="Text 13"/>
          <p:cNvSpPr txBox="1"/>
          <p:nvPr/>
        </p:nvSpPr>
        <p:spPr>
          <a:xfrm>
            <a:off x="4315968" y="914400"/>
            <a:ext cx="3334360" cy="188722"/>
          </a:xfrm>
          <a:prstGeom prst="rect">
            <a:avLst/>
          </a:prstGeom>
          <a:noFill/>
          <a:ln/>
        </p:spPr>
        <p:txBody>
          <a:bodyPr wrap="square" lIns="0" tIns="0" rIns="0" bIns="0" rtlCol="0" anchor="t"/>
          <a:lstStyle/>
          <a:p>
            <a:pPr marL="0" indent="0">
              <a:buNone/>
            </a:pPr>
            <a:r>
              <a:rPr lang="en-US" sz="1100" b="1" dirty="0">
                <a:solidFill>
                  <a:srgbClr val="1B2230"/>
                </a:solidFill>
                <a:latin typeface="Calibri" pitchFamily="34" charset="0"/>
                <a:ea typeface="Calibri" pitchFamily="34" charset="-122"/>
                <a:cs typeface="Calibri" pitchFamily="34" charset="-120"/>
              </a:rPr>
              <a:t>What we covered today in your Private Review</a:t>
            </a:r>
            <a:endParaRPr lang="en-US" sz="1100" dirty="0"/>
          </a:p>
        </p:txBody>
      </p:sp>
      <p:sp>
        <p:nvSpPr>
          <p:cNvPr id="16" name="Text 14"/>
          <p:cNvSpPr txBox="1"/>
          <p:nvPr/>
        </p:nvSpPr>
        <p:spPr>
          <a:xfrm>
            <a:off x="4315968" y="1139698"/>
            <a:ext cx="3334360" cy="780288"/>
          </a:xfrm>
          <a:prstGeom prst="rect">
            <a:avLst/>
          </a:prstGeom>
          <a:noFill/>
          <a:ln/>
        </p:spPr>
        <p:txBody>
          <a:bodyPr wrap="square" lIns="0" tIns="0" rIns="0" bIns="0" rtlCol="0" anchor="t"/>
          <a:lstStyle/>
          <a:p>
            <a:pPr marL="0" indent="0">
              <a:lnSpc>
                <a:spcPct val="105000"/>
              </a:lnSpc>
              <a:buNone/>
            </a:pPr>
            <a:r>
              <a:rPr lang="en-US" sz="1200" dirty="0">
                <a:solidFill>
                  <a:srgbClr val="1B2230"/>
                </a:solidFill>
                <a:latin typeface="Cambria" pitchFamily="34" charset="0"/>
                <a:ea typeface="Cambria" pitchFamily="34" charset="-122"/>
                <a:cs typeface="Cambria" pitchFamily="34" charset="-120"/>
              </a:rPr>
              <a:t>Summary: {{resumen_sesion}}. The proposal for working on {{habilidad_critica}} is {{propuesta_programa}}. Signed by the coach, who approves the text.</a:t>
            </a:r>
            <a:endParaRPr lang="en-US" sz="1200" dirty="0"/>
          </a:p>
        </p:txBody>
      </p:sp>
      <p:sp>
        <p:nvSpPr>
          <p:cNvPr id="17" name="Shape 15"/>
          <p:cNvSpPr/>
          <p:nvPr/>
        </p:nvSpPr>
        <p:spPr>
          <a:xfrm>
            <a:off x="4315968" y="2011426"/>
            <a:ext cx="1317468" cy="232258"/>
          </a:xfrm>
          <a:prstGeom prst="roundRect">
            <a:avLst>
              <a:gd name="adj" fmla="val 50000"/>
            </a:avLst>
          </a:prstGeom>
          <a:solidFill>
            <a:srgbClr val="1B2230"/>
          </a:solidFill>
          <a:ln w="9525">
            <a:solidFill>
              <a:srgbClr val="1B2230"/>
            </a:solidFill>
            <a:prstDash val="solid"/>
          </a:ln>
        </p:spPr>
        <p:txBody>
          <a:bodyPr/>
          <a:lstStyle/>
          <a:p>
            <a:endParaRPr lang="en-MX"/>
          </a:p>
        </p:txBody>
      </p:sp>
      <p:sp>
        <p:nvSpPr>
          <p:cNvPr id="18" name="Text 16"/>
          <p:cNvSpPr txBox="1"/>
          <p:nvPr/>
        </p:nvSpPr>
        <p:spPr>
          <a:xfrm>
            <a:off x="4315968" y="2011426"/>
            <a:ext cx="1317468" cy="23225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See my proposal</a:t>
            </a:r>
            <a:endParaRPr lang="en-US" sz="900" dirty="0"/>
          </a:p>
        </p:txBody>
      </p:sp>
      <p:sp>
        <p:nvSpPr>
          <p:cNvPr id="19" name="Shape 17"/>
          <p:cNvSpPr/>
          <p:nvPr/>
        </p:nvSpPr>
        <p:spPr>
          <a:xfrm>
            <a:off x="7933792" y="530352"/>
            <a:ext cx="3645256" cy="1846834"/>
          </a:xfrm>
          <a:prstGeom prst="roundRect">
            <a:avLst>
              <a:gd name="adj" fmla="val 4951"/>
            </a:avLst>
          </a:prstGeom>
          <a:solidFill>
            <a:srgbClr val="FFFFFF"/>
          </a:solidFill>
          <a:ln w="9525">
            <a:solidFill>
              <a:srgbClr val="DDE1E8"/>
            </a:solidFill>
            <a:prstDash val="solid"/>
          </a:ln>
        </p:spPr>
        <p:txBody>
          <a:bodyPr/>
          <a:lstStyle/>
          <a:p>
            <a:endParaRPr lang="en-MX"/>
          </a:p>
        </p:txBody>
      </p:sp>
      <p:sp>
        <p:nvSpPr>
          <p:cNvPr id="20" name="Text 18"/>
          <p:cNvSpPr txBox="1"/>
          <p:nvPr/>
        </p:nvSpPr>
        <p:spPr>
          <a:xfrm>
            <a:off x="8089240" y="640080"/>
            <a:ext cx="457200" cy="219456"/>
          </a:xfrm>
          <a:prstGeom prst="rect">
            <a:avLst/>
          </a:prstGeom>
          <a:noFill/>
          <a:ln/>
        </p:spPr>
        <p:txBody>
          <a:bodyPr wrap="square" lIns="0" tIns="0" rIns="0" bIns="0" rtlCol="0" anchor="ctr"/>
          <a:lstStyle/>
          <a:p>
            <a:pPr marL="0" indent="0">
              <a:buNone/>
            </a:pPr>
            <a:r>
              <a:rPr lang="en-US" sz="1200" b="1" dirty="0">
                <a:solidFill>
                  <a:srgbClr val="1B2230"/>
                </a:solidFill>
                <a:latin typeface="Calibri" pitchFamily="34" charset="0"/>
                <a:ea typeface="Calibri" pitchFamily="34" charset="-122"/>
                <a:cs typeface="Calibri" pitchFamily="34" charset="-120"/>
              </a:rPr>
              <a:t>F2</a:t>
            </a:r>
            <a:endParaRPr lang="en-US" sz="1200" dirty="0"/>
          </a:p>
        </p:txBody>
      </p:sp>
      <p:sp>
        <p:nvSpPr>
          <p:cNvPr id="21" name="Text 19"/>
          <p:cNvSpPr txBox="1"/>
          <p:nvPr/>
        </p:nvSpPr>
        <p:spPr>
          <a:xfrm>
            <a:off x="8363560" y="640080"/>
            <a:ext cx="1962760" cy="219456"/>
          </a:xfrm>
          <a:prstGeom prst="rect">
            <a:avLst/>
          </a:prstGeom>
          <a:noFill/>
          <a:ln/>
        </p:spPr>
        <p:txBody>
          <a:bodyPr wrap="square" lIns="0" tIns="0" rIns="0" bIns="0" rtlCol="0" anchor="ctr"/>
          <a:lstStyle/>
          <a:p>
            <a:pPr marL="0" indent="0">
              <a:buNone/>
            </a:pPr>
            <a:r>
              <a:rPr lang="en-US" sz="950" dirty="0">
                <a:solidFill>
                  <a:srgbClr val="5B6475"/>
                </a:solidFill>
                <a:latin typeface="Calibri" pitchFamily="34" charset="0"/>
                <a:ea typeface="Calibri" pitchFamily="34" charset="-122"/>
                <a:cs typeface="Calibri" pitchFamily="34" charset="-120"/>
              </a:rPr>
              <a:t>Day 2</a:t>
            </a:r>
            <a:endParaRPr lang="en-US" sz="950" dirty="0"/>
          </a:p>
        </p:txBody>
      </p:sp>
      <p:sp>
        <p:nvSpPr>
          <p:cNvPr id="22" name="Shape 20"/>
          <p:cNvSpPr/>
          <p:nvPr/>
        </p:nvSpPr>
        <p:spPr>
          <a:xfrm>
            <a:off x="10675986" y="658368"/>
            <a:ext cx="747613" cy="220370"/>
          </a:xfrm>
          <a:prstGeom prst="roundRect">
            <a:avLst>
              <a:gd name="adj" fmla="val 50000"/>
            </a:avLst>
          </a:prstGeom>
          <a:solidFill>
            <a:srgbClr val="E1F2EF"/>
          </a:solidFill>
          <a:ln w="9525">
            <a:solidFill>
              <a:srgbClr val="E1F2EF"/>
            </a:solidFill>
            <a:prstDash val="solid"/>
          </a:ln>
        </p:spPr>
        <p:txBody>
          <a:bodyPr/>
          <a:lstStyle/>
          <a:p>
            <a:endParaRPr lang="en-MX"/>
          </a:p>
        </p:txBody>
      </p:sp>
      <p:sp>
        <p:nvSpPr>
          <p:cNvPr id="23" name="Text 21"/>
          <p:cNvSpPr txBox="1"/>
          <p:nvPr/>
        </p:nvSpPr>
        <p:spPr>
          <a:xfrm>
            <a:off x="10675986" y="658368"/>
            <a:ext cx="747613" cy="220370"/>
          </a:xfrm>
          <a:prstGeom prst="rect">
            <a:avLst/>
          </a:prstGeom>
          <a:noFill/>
          <a:ln/>
        </p:spPr>
        <p:txBody>
          <a:bodyPr wrap="square" lIns="0" tIns="0" rIns="0" bIns="0" rtlCol="0" anchor="ctr"/>
          <a:lstStyle/>
          <a:p>
            <a:pPr marL="0" indent="0" algn="ctr">
              <a:buNone/>
            </a:pPr>
            <a:r>
              <a:rPr lang="en-US" sz="850" dirty="0">
                <a:solidFill>
                  <a:srgbClr val="1F7A70"/>
                </a:solidFill>
                <a:latin typeface="Calibri" pitchFamily="34" charset="0"/>
                <a:ea typeface="Calibri" pitchFamily="34" charset="-122"/>
                <a:cs typeface="Calibri" pitchFamily="34" charset="-120"/>
              </a:rPr>
              <a:t>WhatsApp</a:t>
            </a:r>
            <a:endParaRPr lang="en-US" sz="850" dirty="0"/>
          </a:p>
        </p:txBody>
      </p:sp>
      <p:sp>
        <p:nvSpPr>
          <p:cNvPr id="24" name="Text 22"/>
          <p:cNvSpPr txBox="1"/>
          <p:nvPr/>
        </p:nvSpPr>
        <p:spPr>
          <a:xfrm>
            <a:off x="8089240" y="914400"/>
            <a:ext cx="3334360" cy="589788"/>
          </a:xfrm>
          <a:prstGeom prst="rect">
            <a:avLst/>
          </a:prstGeom>
          <a:noFill/>
          <a:ln/>
        </p:spPr>
        <p:txBody>
          <a:bodyPr wrap="square" lIns="0" tIns="0" rIns="0" bIns="0" rtlCol="0" anchor="t"/>
          <a:lstStyle/>
          <a:p>
            <a:pPr marL="0" indent="0">
              <a:lnSpc>
                <a:spcPct val="105000"/>
              </a:lnSpc>
              <a:buNone/>
            </a:pPr>
            <a:r>
              <a:rPr lang="en-US" sz="1200" dirty="0">
                <a:solidFill>
                  <a:srgbClr val="1B2230"/>
                </a:solidFill>
                <a:latin typeface="Cambria" pitchFamily="34" charset="0"/>
                <a:ea typeface="Cambria" pitchFamily="34" charset="-122"/>
                <a:cs typeface="Cambria" pitchFamily="34" charset="-120"/>
              </a:rPr>
              <a:t>What do you need in order to decide on your proposal? If there's no reply, the objection logged by the coach is used.</a:t>
            </a:r>
            <a:endParaRPr lang="en-US" sz="1200" dirty="0"/>
          </a:p>
        </p:txBody>
      </p:sp>
      <p:sp>
        <p:nvSpPr>
          <p:cNvPr id="25" name="Shape 23"/>
          <p:cNvSpPr/>
          <p:nvPr/>
        </p:nvSpPr>
        <p:spPr>
          <a:xfrm>
            <a:off x="8089240" y="1595628"/>
            <a:ext cx="642640" cy="232258"/>
          </a:xfrm>
          <a:prstGeom prst="roundRect">
            <a:avLst>
              <a:gd name="adj" fmla="val 50000"/>
            </a:avLst>
          </a:prstGeom>
          <a:solidFill>
            <a:srgbClr val="FFFFFF"/>
          </a:solidFill>
          <a:ln w="9525">
            <a:solidFill>
              <a:srgbClr val="DDE1E8"/>
            </a:solidFill>
            <a:prstDash val="solid"/>
          </a:ln>
        </p:spPr>
        <p:txBody>
          <a:bodyPr/>
          <a:lstStyle/>
          <a:p>
            <a:endParaRPr lang="en-MX"/>
          </a:p>
        </p:txBody>
      </p:sp>
      <p:sp>
        <p:nvSpPr>
          <p:cNvPr id="26" name="Text 24"/>
          <p:cNvSpPr txBox="1"/>
          <p:nvPr/>
        </p:nvSpPr>
        <p:spPr>
          <a:xfrm>
            <a:off x="8089240" y="1595628"/>
            <a:ext cx="642640" cy="232258"/>
          </a:xfrm>
          <a:prstGeom prst="rect">
            <a:avLst/>
          </a:prstGeom>
          <a:noFill/>
          <a:ln/>
        </p:spPr>
        <p:txBody>
          <a:bodyPr wrap="square" lIns="0" tIns="0" rIns="0" bIns="0" rtlCol="0" anchor="ctr"/>
          <a:lstStyle/>
          <a:p>
            <a:pPr marL="0" indent="0" algn="ctr">
              <a:buNone/>
            </a:pPr>
            <a:r>
              <a:rPr lang="en-US" sz="900" dirty="0">
                <a:solidFill>
                  <a:srgbClr val="1B2230"/>
                </a:solidFill>
                <a:latin typeface="Calibri" pitchFamily="34" charset="0"/>
                <a:ea typeface="Calibri" pitchFamily="34" charset="-122"/>
                <a:cs typeface="Calibri" pitchFamily="34" charset="-120"/>
              </a:rPr>
              <a:t>Time</a:t>
            </a:r>
            <a:endParaRPr lang="en-US" sz="900" dirty="0"/>
          </a:p>
        </p:txBody>
      </p:sp>
      <p:sp>
        <p:nvSpPr>
          <p:cNvPr id="27" name="Shape 25"/>
          <p:cNvSpPr/>
          <p:nvPr/>
        </p:nvSpPr>
        <p:spPr>
          <a:xfrm>
            <a:off x="8805032" y="1595628"/>
            <a:ext cx="1384950" cy="232258"/>
          </a:xfrm>
          <a:prstGeom prst="roundRect">
            <a:avLst>
              <a:gd name="adj" fmla="val 50000"/>
            </a:avLst>
          </a:prstGeom>
          <a:solidFill>
            <a:srgbClr val="FFFFFF"/>
          </a:solidFill>
          <a:ln w="9525">
            <a:solidFill>
              <a:srgbClr val="DDE1E8"/>
            </a:solidFill>
            <a:prstDash val="solid"/>
          </a:ln>
        </p:spPr>
        <p:txBody>
          <a:bodyPr/>
          <a:lstStyle/>
          <a:p>
            <a:endParaRPr lang="en-MX"/>
          </a:p>
        </p:txBody>
      </p:sp>
      <p:sp>
        <p:nvSpPr>
          <p:cNvPr id="28" name="Text 26"/>
          <p:cNvSpPr txBox="1"/>
          <p:nvPr/>
        </p:nvSpPr>
        <p:spPr>
          <a:xfrm>
            <a:off x="8805032" y="1595628"/>
            <a:ext cx="1384950" cy="232258"/>
          </a:xfrm>
          <a:prstGeom prst="rect">
            <a:avLst/>
          </a:prstGeom>
          <a:noFill/>
          <a:ln/>
        </p:spPr>
        <p:txBody>
          <a:bodyPr wrap="square" lIns="0" tIns="0" rIns="0" bIns="0" rtlCol="0" anchor="ctr"/>
          <a:lstStyle/>
          <a:p>
            <a:pPr marL="0" indent="0" algn="ctr">
              <a:buNone/>
            </a:pPr>
            <a:r>
              <a:rPr lang="en-US" sz="900" dirty="0">
                <a:solidFill>
                  <a:srgbClr val="1B2230"/>
                </a:solidFill>
                <a:latin typeface="Calibri" pitchFamily="34" charset="0"/>
                <a:ea typeface="Calibri" pitchFamily="34" charset="-122"/>
                <a:cs typeface="Calibri" pitchFamily="34" charset="-120"/>
              </a:rPr>
              <a:t>Review the investment</a:t>
            </a:r>
            <a:endParaRPr lang="en-US" sz="900" dirty="0"/>
          </a:p>
        </p:txBody>
      </p:sp>
      <p:sp>
        <p:nvSpPr>
          <p:cNvPr id="29" name="Shape 27"/>
          <p:cNvSpPr/>
          <p:nvPr/>
        </p:nvSpPr>
        <p:spPr>
          <a:xfrm>
            <a:off x="10263134" y="1595628"/>
            <a:ext cx="1115019" cy="232258"/>
          </a:xfrm>
          <a:prstGeom prst="roundRect">
            <a:avLst>
              <a:gd name="adj" fmla="val 50000"/>
            </a:avLst>
          </a:prstGeom>
          <a:solidFill>
            <a:srgbClr val="FFFFFF"/>
          </a:solidFill>
          <a:ln w="9525">
            <a:solidFill>
              <a:srgbClr val="DDE1E8"/>
            </a:solidFill>
            <a:prstDash val="solid"/>
          </a:ln>
        </p:spPr>
        <p:txBody>
          <a:bodyPr/>
          <a:lstStyle/>
          <a:p>
            <a:endParaRPr lang="en-MX"/>
          </a:p>
        </p:txBody>
      </p:sp>
      <p:sp>
        <p:nvSpPr>
          <p:cNvPr id="30" name="Text 28"/>
          <p:cNvSpPr txBox="1"/>
          <p:nvPr/>
        </p:nvSpPr>
        <p:spPr>
          <a:xfrm>
            <a:off x="10263134" y="1595628"/>
            <a:ext cx="1115019" cy="232258"/>
          </a:xfrm>
          <a:prstGeom prst="rect">
            <a:avLst/>
          </a:prstGeom>
          <a:noFill/>
          <a:ln/>
        </p:spPr>
        <p:txBody>
          <a:bodyPr wrap="square" lIns="0" tIns="0" rIns="0" bIns="0" rtlCol="0" anchor="ctr"/>
          <a:lstStyle/>
          <a:p>
            <a:pPr marL="0" indent="0" algn="ctr">
              <a:buNone/>
            </a:pPr>
            <a:r>
              <a:rPr lang="en-US" sz="900" dirty="0">
                <a:solidFill>
                  <a:srgbClr val="1B2230"/>
                </a:solidFill>
                <a:latin typeface="Calibri" pitchFamily="34" charset="0"/>
                <a:ea typeface="Calibri" pitchFamily="34" charset="-122"/>
                <a:cs typeface="Calibri" pitchFamily="34" charset="-120"/>
              </a:rPr>
              <a:t>On my own</a:t>
            </a:r>
            <a:endParaRPr lang="en-US" sz="900" dirty="0"/>
          </a:p>
        </p:txBody>
      </p:sp>
      <p:sp>
        <p:nvSpPr>
          <p:cNvPr id="31" name="Shape 29"/>
          <p:cNvSpPr/>
          <p:nvPr/>
        </p:nvSpPr>
        <p:spPr>
          <a:xfrm>
            <a:off x="8089240" y="1869948"/>
            <a:ext cx="980054" cy="232258"/>
          </a:xfrm>
          <a:prstGeom prst="roundRect">
            <a:avLst>
              <a:gd name="adj" fmla="val 50000"/>
            </a:avLst>
          </a:prstGeom>
          <a:solidFill>
            <a:srgbClr val="FFFFFF"/>
          </a:solidFill>
          <a:ln w="9525">
            <a:solidFill>
              <a:srgbClr val="DDE1E8"/>
            </a:solidFill>
            <a:prstDash val="solid"/>
          </a:ln>
        </p:spPr>
        <p:txBody>
          <a:bodyPr/>
          <a:lstStyle/>
          <a:p>
            <a:endParaRPr lang="en-MX"/>
          </a:p>
        </p:txBody>
      </p:sp>
      <p:sp>
        <p:nvSpPr>
          <p:cNvPr id="32" name="Text 30"/>
          <p:cNvSpPr txBox="1"/>
          <p:nvPr/>
        </p:nvSpPr>
        <p:spPr>
          <a:xfrm>
            <a:off x="8089240" y="1869948"/>
            <a:ext cx="980054" cy="232258"/>
          </a:xfrm>
          <a:prstGeom prst="rect">
            <a:avLst/>
          </a:prstGeom>
          <a:noFill/>
          <a:ln/>
        </p:spPr>
        <p:txBody>
          <a:bodyPr wrap="square" lIns="0" tIns="0" rIns="0" bIns="0" rtlCol="0" anchor="ctr"/>
          <a:lstStyle/>
          <a:p>
            <a:pPr marL="0" indent="0" algn="ctr">
              <a:buNone/>
            </a:pPr>
            <a:r>
              <a:rPr lang="en-US" sz="900" dirty="0">
                <a:solidFill>
                  <a:srgbClr val="1B2230"/>
                </a:solidFill>
                <a:latin typeface="Calibri" pitchFamily="34" charset="0"/>
                <a:ea typeface="Calibri" pitchFamily="34" charset="-122"/>
                <a:cs typeface="Calibri" pitchFamily="34" charset="-120"/>
              </a:rPr>
              <a:t>Need to discuss it</a:t>
            </a:r>
            <a:endParaRPr lang="en-US" sz="900" dirty="0"/>
          </a:p>
        </p:txBody>
      </p:sp>
      <p:sp>
        <p:nvSpPr>
          <p:cNvPr id="33" name="Shape 31"/>
          <p:cNvSpPr/>
          <p:nvPr/>
        </p:nvSpPr>
        <p:spPr>
          <a:xfrm>
            <a:off x="4160520" y="2505202"/>
            <a:ext cx="7418527" cy="1571181"/>
          </a:xfrm>
          <a:prstGeom prst="roundRect">
            <a:avLst>
              <a:gd name="adj" fmla="val 5820"/>
            </a:avLst>
          </a:prstGeom>
          <a:solidFill>
            <a:srgbClr val="FFFFFF"/>
          </a:solidFill>
          <a:ln w="9525">
            <a:solidFill>
              <a:srgbClr val="DDE1E8"/>
            </a:solidFill>
            <a:prstDash val="solid"/>
          </a:ln>
        </p:spPr>
        <p:txBody>
          <a:bodyPr/>
          <a:lstStyle/>
          <a:p>
            <a:endParaRPr lang="en-MX"/>
          </a:p>
        </p:txBody>
      </p:sp>
      <p:sp>
        <p:nvSpPr>
          <p:cNvPr id="34" name="Text 32"/>
          <p:cNvSpPr txBox="1"/>
          <p:nvPr/>
        </p:nvSpPr>
        <p:spPr>
          <a:xfrm>
            <a:off x="4315968" y="2614930"/>
            <a:ext cx="457200" cy="219456"/>
          </a:xfrm>
          <a:prstGeom prst="rect">
            <a:avLst/>
          </a:prstGeom>
          <a:noFill/>
          <a:ln/>
        </p:spPr>
        <p:txBody>
          <a:bodyPr wrap="square" lIns="0" tIns="0" rIns="0" bIns="0" rtlCol="0" anchor="ctr"/>
          <a:lstStyle/>
          <a:p>
            <a:pPr marL="0" indent="0">
              <a:buNone/>
            </a:pPr>
            <a:r>
              <a:rPr lang="en-US" sz="1200" b="1" dirty="0">
                <a:solidFill>
                  <a:srgbClr val="1B2230"/>
                </a:solidFill>
                <a:latin typeface="Calibri" pitchFamily="34" charset="0"/>
                <a:ea typeface="Calibri" pitchFamily="34" charset="-122"/>
                <a:cs typeface="Calibri" pitchFamily="34" charset="-120"/>
              </a:rPr>
              <a:t>F3</a:t>
            </a:r>
            <a:endParaRPr lang="en-US" sz="1200" dirty="0"/>
          </a:p>
        </p:txBody>
      </p:sp>
      <p:sp>
        <p:nvSpPr>
          <p:cNvPr id="35" name="Text 33"/>
          <p:cNvSpPr txBox="1"/>
          <p:nvPr/>
        </p:nvSpPr>
        <p:spPr>
          <a:xfrm>
            <a:off x="4590288" y="2614930"/>
            <a:ext cx="5736031" cy="219456"/>
          </a:xfrm>
          <a:prstGeom prst="rect">
            <a:avLst/>
          </a:prstGeom>
          <a:noFill/>
          <a:ln/>
        </p:spPr>
        <p:txBody>
          <a:bodyPr wrap="square" lIns="0" tIns="0" rIns="0" bIns="0" rtlCol="0" anchor="ctr"/>
          <a:lstStyle/>
          <a:p>
            <a:pPr marL="0" indent="0">
              <a:buNone/>
            </a:pPr>
            <a:r>
              <a:rPr lang="en-US" sz="950" dirty="0">
                <a:solidFill>
                  <a:srgbClr val="5B6475"/>
                </a:solidFill>
                <a:latin typeface="Calibri" pitchFamily="34" charset="0"/>
                <a:ea typeface="Calibri" pitchFamily="34" charset="-122"/>
                <a:cs typeface="Calibri" pitchFamily="34" charset="-120"/>
              </a:rPr>
              <a:t>On button tap, or day 3</a:t>
            </a:r>
            <a:endParaRPr lang="en-US" sz="950" dirty="0"/>
          </a:p>
        </p:txBody>
      </p:sp>
      <p:sp>
        <p:nvSpPr>
          <p:cNvPr id="36" name="Shape 34"/>
          <p:cNvSpPr/>
          <p:nvPr/>
        </p:nvSpPr>
        <p:spPr>
          <a:xfrm>
            <a:off x="10867187" y="2633218"/>
            <a:ext cx="556412" cy="220370"/>
          </a:xfrm>
          <a:prstGeom prst="roundRect">
            <a:avLst>
              <a:gd name="adj" fmla="val 50000"/>
            </a:avLst>
          </a:prstGeom>
          <a:solidFill>
            <a:srgbClr val="E9ECF6"/>
          </a:solidFill>
          <a:ln w="9525">
            <a:solidFill>
              <a:srgbClr val="E9ECF6"/>
            </a:solidFill>
            <a:prstDash val="solid"/>
          </a:ln>
        </p:spPr>
        <p:txBody>
          <a:bodyPr/>
          <a:lstStyle/>
          <a:p>
            <a:endParaRPr lang="en-MX"/>
          </a:p>
        </p:txBody>
      </p:sp>
      <p:sp>
        <p:nvSpPr>
          <p:cNvPr id="37" name="Text 35"/>
          <p:cNvSpPr txBox="1"/>
          <p:nvPr/>
        </p:nvSpPr>
        <p:spPr>
          <a:xfrm>
            <a:off x="10867187" y="2633218"/>
            <a:ext cx="556412" cy="220370"/>
          </a:xfrm>
          <a:prstGeom prst="rect">
            <a:avLst/>
          </a:prstGeom>
          <a:noFill/>
          <a:ln/>
        </p:spPr>
        <p:txBody>
          <a:bodyPr wrap="square" lIns="0" tIns="0" rIns="0" bIns="0" rtlCol="0" anchor="ctr"/>
          <a:lstStyle/>
          <a:p>
            <a:pPr marL="0" indent="0" algn="ctr">
              <a:buNone/>
            </a:pPr>
            <a:r>
              <a:rPr lang="en-US" sz="850" dirty="0">
                <a:solidFill>
                  <a:srgbClr val="3D4F86"/>
                </a:solidFill>
                <a:latin typeface="Calibri" pitchFamily="34" charset="0"/>
                <a:ea typeface="Calibri" pitchFamily="34" charset="-122"/>
                <a:cs typeface="Calibri" pitchFamily="34" charset="-120"/>
              </a:rPr>
              <a:t>Email</a:t>
            </a:r>
            <a:endParaRPr lang="en-US" sz="850" dirty="0"/>
          </a:p>
        </p:txBody>
      </p:sp>
      <p:sp>
        <p:nvSpPr>
          <p:cNvPr id="38" name="Text 36"/>
          <p:cNvSpPr txBox="1"/>
          <p:nvPr/>
        </p:nvSpPr>
        <p:spPr>
          <a:xfrm>
            <a:off x="4315968" y="2889250"/>
            <a:ext cx="7107631" cy="200851"/>
          </a:xfrm>
          <a:prstGeom prst="rect">
            <a:avLst/>
          </a:prstGeom>
          <a:noFill/>
          <a:ln/>
        </p:spPr>
        <p:txBody>
          <a:bodyPr wrap="square" lIns="0" tIns="0" rIns="0" bIns="0" rtlCol="0" anchor="t"/>
          <a:lstStyle/>
          <a:p>
            <a:pPr marL="0" indent="0">
              <a:buNone/>
            </a:pPr>
            <a:r>
              <a:rPr lang="en-US" sz="1150" b="1" dirty="0">
                <a:solidFill>
                  <a:srgbClr val="1B2230"/>
                </a:solidFill>
                <a:latin typeface="Calibri" pitchFamily="34" charset="0"/>
                <a:ea typeface="Calibri" pitchFamily="34" charset="-122"/>
                <a:cs typeface="Calibri" pitchFamily="34" charset="-120"/>
              </a:rPr>
              <a:t>Time: the program asks for {{tiempo_semanal}} a week and you choose the start date.</a:t>
            </a:r>
            <a:endParaRPr lang="en-US" sz="1150" dirty="0"/>
          </a:p>
        </p:txBody>
      </p:sp>
      <p:sp>
        <p:nvSpPr>
          <p:cNvPr id="39" name="Text 37"/>
          <p:cNvSpPr txBox="1"/>
          <p:nvPr/>
        </p:nvSpPr>
        <p:spPr>
          <a:xfrm>
            <a:off x="4315968" y="3126677"/>
            <a:ext cx="7107631" cy="200851"/>
          </a:xfrm>
          <a:prstGeom prst="rect">
            <a:avLst/>
          </a:prstGeom>
          <a:noFill/>
          <a:ln/>
        </p:spPr>
        <p:txBody>
          <a:bodyPr wrap="square" lIns="0" tIns="0" rIns="0" bIns="0" rtlCol="0" anchor="t"/>
          <a:lstStyle/>
          <a:p>
            <a:pPr marL="0" indent="0">
              <a:buNone/>
            </a:pPr>
            <a:r>
              <a:rPr lang="en-US" sz="1150" b="1" dirty="0">
                <a:solidFill>
                  <a:srgbClr val="1B2230"/>
                </a:solidFill>
                <a:latin typeface="Calibri" pitchFamily="34" charset="0"/>
                <a:ea typeface="Calibri" pitchFamily="34" charset="-122"/>
                <a:cs typeface="Calibri" pitchFamily="34" charset="-120"/>
              </a:rPr>
              <a:t>Investment: {{precio_programa}}, payment plans, and credit for profile and review where it applies.</a:t>
            </a:r>
            <a:endParaRPr lang="en-US" sz="1150" dirty="0"/>
          </a:p>
        </p:txBody>
      </p:sp>
      <p:sp>
        <p:nvSpPr>
          <p:cNvPr id="40" name="Text 38"/>
          <p:cNvSpPr txBox="1"/>
          <p:nvPr/>
        </p:nvSpPr>
        <p:spPr>
          <a:xfrm>
            <a:off x="4315968" y="3364103"/>
            <a:ext cx="7107631" cy="383413"/>
          </a:xfrm>
          <a:prstGeom prst="rect">
            <a:avLst/>
          </a:prstGeom>
          <a:noFill/>
          <a:ln/>
        </p:spPr>
        <p:txBody>
          <a:bodyPr wrap="square" lIns="0" tIns="0" rIns="0" bIns="0" rtlCol="0" anchor="t"/>
          <a:lstStyle/>
          <a:p>
            <a:pPr marL="0" indent="0">
              <a:buNone/>
            </a:pPr>
            <a:r>
              <a:rPr lang="en-US" sz="1150" b="1" dirty="0">
                <a:solidFill>
                  <a:srgbClr val="1B2230"/>
                </a:solidFill>
                <a:latin typeface="Calibri" pitchFamily="34" charset="0"/>
                <a:ea typeface="Calibri" pitchFamily="34" charset="-122"/>
                <a:cs typeface="Calibri" pitchFamily="34" charset="-120"/>
              </a:rPr>
              <a:t>On my own: we respect that. Check your progress at 30 days; the proposal stands until {{vigencia_propuesta}}.</a:t>
            </a:r>
            <a:endParaRPr lang="en-US" sz="1150" dirty="0"/>
          </a:p>
        </p:txBody>
      </p:sp>
      <p:sp>
        <p:nvSpPr>
          <p:cNvPr id="41" name="Text 39"/>
          <p:cNvSpPr txBox="1"/>
          <p:nvPr/>
        </p:nvSpPr>
        <p:spPr>
          <a:xfrm>
            <a:off x="4315968" y="3784092"/>
            <a:ext cx="7107631" cy="200851"/>
          </a:xfrm>
          <a:prstGeom prst="rect">
            <a:avLst/>
          </a:prstGeom>
          <a:noFill/>
          <a:ln/>
        </p:spPr>
        <p:txBody>
          <a:bodyPr wrap="square" lIns="0" tIns="0" rIns="0" bIns="0" rtlCol="0" anchor="t"/>
          <a:lstStyle/>
          <a:p>
            <a:pPr marL="0" indent="0">
              <a:buNone/>
            </a:pPr>
            <a:r>
              <a:rPr lang="en-US" sz="1150" b="1" dirty="0">
                <a:solidFill>
                  <a:srgbClr val="1B2230"/>
                </a:solidFill>
                <a:latin typeface="Calibri" pitchFamily="34" charset="0"/>
                <a:ea typeface="Calibri" pitchFamily="34" charset="-122"/>
                <a:cs typeface="Calibri" pitchFamily="34" charset="-120"/>
              </a:rPr>
              <a:t>Need to discuss it: a one-page summary of the program to share with whoever you need.</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7F9"/>
        </a:solidFill>
        <a:effectLst/>
      </p:bgPr>
    </p:bg>
    <p:spTree>
      <p:nvGrpSpPr>
        <p:cNvPr id="1" name=""/>
        <p:cNvGrpSpPr/>
        <p:nvPr/>
      </p:nvGrpSpPr>
      <p:grpSpPr>
        <a:xfrm>
          <a:off x="0" y="0"/>
          <a:ext cx="0" cy="0"/>
          <a:chOff x="0" y="0"/>
          <a:chExt cx="0" cy="0"/>
        </a:xfrm>
      </p:grpSpPr>
      <p:sp>
        <p:nvSpPr>
          <p:cNvPr id="2" name="Text 0"/>
          <p:cNvSpPr txBox="1"/>
          <p:nvPr/>
        </p:nvSpPr>
        <p:spPr>
          <a:xfrm>
            <a:off x="612648" y="6446520"/>
            <a:ext cx="4572000" cy="228600"/>
          </a:xfrm>
          <a:prstGeom prst="rect">
            <a:avLst/>
          </a:prstGeom>
          <a:noFill/>
          <a:ln/>
        </p:spPr>
        <p:txBody>
          <a:bodyPr wrap="square" lIns="0" tIns="0" rIns="0" bIns="0" rtlCol="0" anchor="ctr"/>
          <a:lstStyle/>
          <a:p>
            <a:pPr marL="0" indent="0">
              <a:buNone/>
            </a:pPr>
            <a:r>
              <a:rPr lang="en-US" sz="900" dirty="0">
                <a:solidFill>
                  <a:srgbClr val="5B6475"/>
                </a:solidFill>
                <a:latin typeface="Calibri" pitchFamily="34" charset="0"/>
                <a:ea typeface="Calibri" pitchFamily="34" charset="-122"/>
                <a:cs typeface="Calibri" pitchFamily="34" charset="-120"/>
              </a:rPr>
              <a:t>Zones of Life: funnels and copy</a:t>
            </a:r>
            <a:endParaRPr lang="en-US" sz="900" dirty="0"/>
          </a:p>
        </p:txBody>
      </p:sp>
      <p:sp>
        <p:nvSpPr>
          <p:cNvPr id="3" name="Text 1"/>
          <p:cNvSpPr txBox="1"/>
          <p:nvPr/>
        </p:nvSpPr>
        <p:spPr>
          <a:xfrm>
            <a:off x="10881360" y="6446520"/>
            <a:ext cx="694944" cy="228600"/>
          </a:xfrm>
          <a:prstGeom prst="rect">
            <a:avLst/>
          </a:prstGeom>
          <a:noFill/>
          <a:ln/>
        </p:spPr>
        <p:txBody>
          <a:bodyPr wrap="square" lIns="0" tIns="0" rIns="0" bIns="0" rtlCol="0" anchor="ctr"/>
          <a:lstStyle/>
          <a:p>
            <a:pPr marL="0" indent="0" algn="r">
              <a:buNone/>
            </a:pPr>
            <a:r>
              <a:rPr lang="en-US" sz="900" dirty="0">
                <a:solidFill>
                  <a:srgbClr val="5B6475"/>
                </a:solidFill>
                <a:latin typeface="Calibri" pitchFamily="34" charset="0"/>
                <a:ea typeface="Calibri" pitchFamily="34" charset="-122"/>
                <a:cs typeface="Calibri" pitchFamily="34" charset="-120"/>
              </a:rPr>
              <a:t>15</a:t>
            </a:r>
            <a:endParaRPr lang="en-US" sz="900" dirty="0"/>
          </a:p>
        </p:txBody>
      </p:sp>
      <p:sp>
        <p:nvSpPr>
          <p:cNvPr id="4" name="Shape 2"/>
          <p:cNvSpPr/>
          <p:nvPr/>
        </p:nvSpPr>
        <p:spPr>
          <a:xfrm>
            <a:off x="612648" y="530352"/>
            <a:ext cx="1737360" cy="256032"/>
          </a:xfrm>
          <a:prstGeom prst="roundRect">
            <a:avLst>
              <a:gd name="adj" fmla="val 50000"/>
            </a:avLst>
          </a:prstGeom>
          <a:solidFill>
            <a:srgbClr val="F5E6EE"/>
          </a:solidFill>
          <a:ln w="9525">
            <a:solidFill>
              <a:srgbClr val="F5E6EE"/>
            </a:solidFill>
            <a:prstDash val="solid"/>
          </a:ln>
        </p:spPr>
        <p:txBody>
          <a:bodyPr/>
          <a:lstStyle/>
          <a:p>
            <a:endParaRPr lang="en-MX"/>
          </a:p>
        </p:txBody>
      </p:sp>
      <p:sp>
        <p:nvSpPr>
          <p:cNvPr id="5" name="Text 3"/>
          <p:cNvSpPr txBox="1"/>
          <p:nvPr/>
        </p:nvSpPr>
        <p:spPr>
          <a:xfrm>
            <a:off x="612648" y="530352"/>
            <a:ext cx="1737360" cy="256032"/>
          </a:xfrm>
          <a:prstGeom prst="rect">
            <a:avLst/>
          </a:prstGeom>
          <a:noFill/>
          <a:ln/>
        </p:spPr>
        <p:txBody>
          <a:bodyPr wrap="square" lIns="0" tIns="0" rIns="0" bIns="0" rtlCol="0" anchor="ctr"/>
          <a:lstStyle/>
          <a:p>
            <a:pPr marL="0" indent="0" algn="ctr">
              <a:buNone/>
            </a:pPr>
            <a:r>
              <a:rPr lang="en-US" sz="1000" b="1" dirty="0">
                <a:solidFill>
                  <a:srgbClr val="9A3D6A"/>
                </a:solidFill>
                <a:latin typeface="Calibri" pitchFamily="34" charset="0"/>
                <a:ea typeface="Calibri" pitchFamily="34" charset="-122"/>
                <a:cs typeface="Calibri" pitchFamily="34" charset="-120"/>
              </a:rPr>
              <a:t>Recovery, 2 of 2</a:t>
            </a:r>
            <a:endParaRPr lang="en-US" sz="1000" dirty="0"/>
          </a:p>
        </p:txBody>
      </p:sp>
      <p:sp>
        <p:nvSpPr>
          <p:cNvPr id="6" name="Text 4"/>
          <p:cNvSpPr txBox="1"/>
          <p:nvPr/>
        </p:nvSpPr>
        <p:spPr>
          <a:xfrm>
            <a:off x="612648" y="941832"/>
            <a:ext cx="3200400" cy="813816"/>
          </a:xfrm>
          <a:prstGeom prst="rect">
            <a:avLst/>
          </a:prstGeom>
          <a:noFill/>
          <a:ln/>
        </p:spPr>
        <p:txBody>
          <a:bodyPr wrap="square" lIns="0" tIns="0" rIns="0" bIns="0" rtlCol="0" anchor="t"/>
          <a:lstStyle/>
          <a:p>
            <a:pPr marL="0" indent="0">
              <a:lnSpc>
                <a:spcPct val="95000"/>
              </a:lnSpc>
              <a:buNone/>
            </a:pPr>
            <a:r>
              <a:rPr lang="en-US" sz="2800" dirty="0">
                <a:solidFill>
                  <a:srgbClr val="1B2230"/>
                </a:solidFill>
                <a:latin typeface="Cambria" pitchFamily="34" charset="0"/>
                <a:ea typeface="Cambria" pitchFamily="34" charset="-122"/>
                <a:cs typeface="Cambria" pitchFamily="34" charset="-120"/>
              </a:rPr>
              <a:t>Flow F: attended, didn't buy</a:t>
            </a:r>
            <a:endParaRPr lang="en-US" sz="2800" dirty="0"/>
          </a:p>
        </p:txBody>
      </p:sp>
      <p:sp>
        <p:nvSpPr>
          <p:cNvPr id="7" name="Text 5"/>
          <p:cNvSpPr txBox="1"/>
          <p:nvPr/>
        </p:nvSpPr>
        <p:spPr>
          <a:xfrm>
            <a:off x="612648" y="1920240"/>
            <a:ext cx="3200400" cy="617601"/>
          </a:xfrm>
          <a:prstGeom prst="rect">
            <a:avLst/>
          </a:prstGeom>
          <a:noFill/>
          <a:ln/>
        </p:spPr>
        <p:txBody>
          <a:bodyPr wrap="square" lIns="0" tIns="0" rIns="0" bIns="0" rtlCol="0" anchor="t"/>
          <a:lstStyle/>
          <a:p>
            <a:pPr marL="0" indent="0">
              <a:buNone/>
            </a:pPr>
            <a:r>
              <a:rPr lang="en-US" sz="1250" b="1" dirty="0">
                <a:solidFill>
                  <a:srgbClr val="1B2230"/>
                </a:solidFill>
                <a:latin typeface="Calibri" pitchFamily="34" charset="0"/>
                <a:ea typeface="Calibri" pitchFamily="34" charset="-122"/>
                <a:cs typeface="Calibri" pitchFamily="34" charset="-120"/>
              </a:rPr>
              <a:t>If no reply</a:t>
            </a:r>
            <a:endParaRPr lang="en-US" sz="1250" dirty="0"/>
          </a:p>
          <a:p>
            <a:pPr marL="0" indent="0">
              <a:buNone/>
            </a:pPr>
            <a:r>
              <a:rPr lang="en-US" sz="1250" dirty="0">
                <a:solidFill>
                  <a:srgbClr val="5B6475"/>
                </a:solidFill>
                <a:latin typeface="Calibri" pitchFamily="34" charset="0"/>
                <a:ea typeface="Calibri" pitchFamily="34" charset="-122"/>
                <a:cs typeface="Calibri" pitchFamily="34" charset="-120"/>
              </a:rPr>
              <a:t>Monthly nurture with the entry product offer.</a:t>
            </a:r>
            <a:endParaRPr lang="en-US" sz="1250" dirty="0"/>
          </a:p>
        </p:txBody>
      </p:sp>
      <p:sp>
        <p:nvSpPr>
          <p:cNvPr id="8" name="Shape 6"/>
          <p:cNvSpPr/>
          <p:nvPr/>
        </p:nvSpPr>
        <p:spPr>
          <a:xfrm>
            <a:off x="4160520" y="530352"/>
            <a:ext cx="7418527" cy="1465834"/>
          </a:xfrm>
          <a:prstGeom prst="roundRect">
            <a:avLst>
              <a:gd name="adj" fmla="val 6238"/>
            </a:avLst>
          </a:prstGeom>
          <a:solidFill>
            <a:srgbClr val="FFFFFF"/>
          </a:solidFill>
          <a:ln w="9525">
            <a:solidFill>
              <a:srgbClr val="DDE1E8"/>
            </a:solidFill>
            <a:prstDash val="solid"/>
          </a:ln>
        </p:spPr>
        <p:txBody>
          <a:bodyPr/>
          <a:lstStyle/>
          <a:p>
            <a:endParaRPr lang="en-MX"/>
          </a:p>
        </p:txBody>
      </p:sp>
      <p:sp>
        <p:nvSpPr>
          <p:cNvPr id="9" name="Text 7"/>
          <p:cNvSpPr txBox="1"/>
          <p:nvPr/>
        </p:nvSpPr>
        <p:spPr>
          <a:xfrm>
            <a:off x="4315968" y="640080"/>
            <a:ext cx="457200" cy="219456"/>
          </a:xfrm>
          <a:prstGeom prst="rect">
            <a:avLst/>
          </a:prstGeom>
          <a:noFill/>
          <a:ln/>
        </p:spPr>
        <p:txBody>
          <a:bodyPr wrap="square" lIns="0" tIns="0" rIns="0" bIns="0" rtlCol="0" anchor="ctr"/>
          <a:lstStyle/>
          <a:p>
            <a:pPr marL="0" indent="0">
              <a:buNone/>
            </a:pPr>
            <a:r>
              <a:rPr lang="en-US" sz="1200" b="1" dirty="0">
                <a:solidFill>
                  <a:srgbClr val="1B2230"/>
                </a:solidFill>
                <a:latin typeface="Calibri" pitchFamily="34" charset="0"/>
                <a:ea typeface="Calibri" pitchFamily="34" charset="-122"/>
                <a:cs typeface="Calibri" pitchFamily="34" charset="-120"/>
              </a:rPr>
              <a:t>F4</a:t>
            </a:r>
            <a:endParaRPr lang="en-US" sz="1200" dirty="0"/>
          </a:p>
        </p:txBody>
      </p:sp>
      <p:sp>
        <p:nvSpPr>
          <p:cNvPr id="10" name="Text 8"/>
          <p:cNvSpPr txBox="1"/>
          <p:nvPr/>
        </p:nvSpPr>
        <p:spPr>
          <a:xfrm>
            <a:off x="4590288" y="640080"/>
            <a:ext cx="5736031" cy="219456"/>
          </a:xfrm>
          <a:prstGeom prst="rect">
            <a:avLst/>
          </a:prstGeom>
          <a:noFill/>
          <a:ln/>
        </p:spPr>
        <p:txBody>
          <a:bodyPr wrap="square" lIns="0" tIns="0" rIns="0" bIns="0" rtlCol="0" anchor="ctr"/>
          <a:lstStyle/>
          <a:p>
            <a:pPr marL="0" indent="0">
              <a:buNone/>
            </a:pPr>
            <a:r>
              <a:rPr lang="en-US" sz="950" dirty="0">
                <a:solidFill>
                  <a:srgbClr val="5B6475"/>
                </a:solidFill>
                <a:latin typeface="Calibri" pitchFamily="34" charset="0"/>
                <a:ea typeface="Calibri" pitchFamily="34" charset="-122"/>
                <a:cs typeface="Calibri" pitchFamily="34" charset="-120"/>
              </a:rPr>
              <a:t>Day 5</a:t>
            </a:r>
            <a:endParaRPr lang="en-US" sz="950" dirty="0"/>
          </a:p>
        </p:txBody>
      </p:sp>
      <p:sp>
        <p:nvSpPr>
          <p:cNvPr id="11" name="Shape 9"/>
          <p:cNvSpPr/>
          <p:nvPr/>
        </p:nvSpPr>
        <p:spPr>
          <a:xfrm>
            <a:off x="10867187" y="658368"/>
            <a:ext cx="556412" cy="220370"/>
          </a:xfrm>
          <a:prstGeom prst="roundRect">
            <a:avLst>
              <a:gd name="adj" fmla="val 50000"/>
            </a:avLst>
          </a:prstGeom>
          <a:solidFill>
            <a:srgbClr val="E9ECF6"/>
          </a:solidFill>
          <a:ln w="9525">
            <a:solidFill>
              <a:srgbClr val="E9ECF6"/>
            </a:solidFill>
            <a:prstDash val="solid"/>
          </a:ln>
        </p:spPr>
        <p:txBody>
          <a:bodyPr/>
          <a:lstStyle/>
          <a:p>
            <a:endParaRPr lang="en-MX"/>
          </a:p>
        </p:txBody>
      </p:sp>
      <p:sp>
        <p:nvSpPr>
          <p:cNvPr id="12" name="Text 10"/>
          <p:cNvSpPr txBox="1"/>
          <p:nvPr/>
        </p:nvSpPr>
        <p:spPr>
          <a:xfrm>
            <a:off x="10867187" y="658368"/>
            <a:ext cx="556412" cy="220370"/>
          </a:xfrm>
          <a:prstGeom prst="rect">
            <a:avLst/>
          </a:prstGeom>
          <a:noFill/>
          <a:ln/>
        </p:spPr>
        <p:txBody>
          <a:bodyPr wrap="square" lIns="0" tIns="0" rIns="0" bIns="0" rtlCol="0" anchor="ctr"/>
          <a:lstStyle/>
          <a:p>
            <a:pPr marL="0" indent="0" algn="ctr">
              <a:buNone/>
            </a:pPr>
            <a:r>
              <a:rPr lang="en-US" sz="850" dirty="0">
                <a:solidFill>
                  <a:srgbClr val="3D4F86"/>
                </a:solidFill>
                <a:latin typeface="Calibri" pitchFamily="34" charset="0"/>
                <a:ea typeface="Calibri" pitchFamily="34" charset="-122"/>
                <a:cs typeface="Calibri" pitchFamily="34" charset="-120"/>
              </a:rPr>
              <a:t>Email</a:t>
            </a:r>
            <a:endParaRPr lang="en-US" sz="850" dirty="0"/>
          </a:p>
        </p:txBody>
      </p:sp>
      <p:sp>
        <p:nvSpPr>
          <p:cNvPr id="13" name="Text 11"/>
          <p:cNvSpPr txBox="1"/>
          <p:nvPr/>
        </p:nvSpPr>
        <p:spPr>
          <a:xfrm>
            <a:off x="4315968" y="914400"/>
            <a:ext cx="7107631" cy="188722"/>
          </a:xfrm>
          <a:prstGeom prst="rect">
            <a:avLst/>
          </a:prstGeom>
          <a:noFill/>
          <a:ln/>
        </p:spPr>
        <p:txBody>
          <a:bodyPr wrap="square" lIns="0" tIns="0" rIns="0" bIns="0" rtlCol="0" anchor="t"/>
          <a:lstStyle/>
          <a:p>
            <a:pPr marL="0" indent="0">
              <a:buNone/>
            </a:pPr>
            <a:r>
              <a:rPr lang="en-US" sz="1100" b="1" dirty="0">
                <a:solidFill>
                  <a:srgbClr val="3D4F86"/>
                </a:solidFill>
                <a:latin typeface="Calibri" pitchFamily="34" charset="0"/>
                <a:ea typeface="Calibri" pitchFamily="34" charset="-122"/>
                <a:cs typeface="Calibri" pitchFamily="34" charset="-120"/>
              </a:rPr>
              <a:t>{{testimonio_nombre}} was exactly where you are</a:t>
            </a:r>
            <a:endParaRPr lang="en-US" sz="1100" dirty="0"/>
          </a:p>
        </p:txBody>
      </p:sp>
      <p:sp>
        <p:nvSpPr>
          <p:cNvPr id="14" name="Text 12"/>
          <p:cNvSpPr txBox="1"/>
          <p:nvPr/>
        </p:nvSpPr>
        <p:spPr>
          <a:xfrm>
            <a:off x="4315968" y="1139698"/>
            <a:ext cx="7107631" cy="399288"/>
          </a:xfrm>
          <a:prstGeom prst="rect">
            <a:avLst/>
          </a:prstGeom>
          <a:noFill/>
          <a:ln/>
        </p:spPr>
        <p:txBody>
          <a:bodyPr wrap="square" lIns="0" tIns="0" rIns="0" bIns="0" rtlCol="0" anchor="t"/>
          <a:lstStyle/>
          <a:p>
            <a:pPr marL="0" indent="0">
              <a:lnSpc>
                <a:spcPct val="105000"/>
              </a:lnSpc>
              <a:buNone/>
            </a:pPr>
            <a:r>
              <a:rPr lang="en-US" sz="1200" dirty="0">
                <a:solidFill>
                  <a:srgbClr val="1B2230"/>
                </a:solidFill>
                <a:latin typeface="Cambria" pitchFamily="34" charset="0"/>
                <a:ea typeface="Cambria" pitchFamily="34" charset="-122"/>
                <a:cs typeface="Cambria" pitchFamily="34" charset="-120"/>
              </a:rPr>
              <a:t>They hesitated before starting too. At 90 days, their re-assessment showed {{testimonio_resultado}}.</a:t>
            </a:r>
            <a:endParaRPr lang="en-US" sz="1200" dirty="0"/>
          </a:p>
        </p:txBody>
      </p:sp>
      <p:sp>
        <p:nvSpPr>
          <p:cNvPr id="15" name="Shape 13"/>
          <p:cNvSpPr/>
          <p:nvPr/>
        </p:nvSpPr>
        <p:spPr>
          <a:xfrm>
            <a:off x="4315968" y="1630426"/>
            <a:ext cx="1317468" cy="232258"/>
          </a:xfrm>
          <a:prstGeom prst="roundRect">
            <a:avLst>
              <a:gd name="adj" fmla="val 50000"/>
            </a:avLst>
          </a:prstGeom>
          <a:solidFill>
            <a:srgbClr val="1B2230"/>
          </a:solidFill>
          <a:ln w="9525">
            <a:solidFill>
              <a:srgbClr val="1B2230"/>
            </a:solidFill>
            <a:prstDash val="solid"/>
          </a:ln>
        </p:spPr>
        <p:txBody>
          <a:bodyPr/>
          <a:lstStyle/>
          <a:p>
            <a:endParaRPr lang="en-MX"/>
          </a:p>
        </p:txBody>
      </p:sp>
      <p:sp>
        <p:nvSpPr>
          <p:cNvPr id="16" name="Text 14"/>
          <p:cNvSpPr txBox="1"/>
          <p:nvPr/>
        </p:nvSpPr>
        <p:spPr>
          <a:xfrm>
            <a:off x="4315968" y="1630426"/>
            <a:ext cx="1317468" cy="23225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See my proposal</a:t>
            </a:r>
            <a:endParaRPr lang="en-US" sz="900" dirty="0"/>
          </a:p>
        </p:txBody>
      </p:sp>
      <p:sp>
        <p:nvSpPr>
          <p:cNvPr id="17" name="Shape 15"/>
          <p:cNvSpPr/>
          <p:nvPr/>
        </p:nvSpPr>
        <p:spPr>
          <a:xfrm>
            <a:off x="4160520" y="2124202"/>
            <a:ext cx="7418527" cy="1465834"/>
          </a:xfrm>
          <a:prstGeom prst="roundRect">
            <a:avLst>
              <a:gd name="adj" fmla="val 6238"/>
            </a:avLst>
          </a:prstGeom>
          <a:solidFill>
            <a:srgbClr val="FFFFFF"/>
          </a:solidFill>
          <a:ln w="9525">
            <a:solidFill>
              <a:srgbClr val="DDE1E8"/>
            </a:solidFill>
            <a:prstDash val="solid"/>
          </a:ln>
        </p:spPr>
        <p:txBody>
          <a:bodyPr/>
          <a:lstStyle/>
          <a:p>
            <a:endParaRPr lang="en-MX"/>
          </a:p>
        </p:txBody>
      </p:sp>
      <p:sp>
        <p:nvSpPr>
          <p:cNvPr id="18" name="Text 16"/>
          <p:cNvSpPr txBox="1"/>
          <p:nvPr/>
        </p:nvSpPr>
        <p:spPr>
          <a:xfrm>
            <a:off x="4315968" y="2233930"/>
            <a:ext cx="457200" cy="219456"/>
          </a:xfrm>
          <a:prstGeom prst="rect">
            <a:avLst/>
          </a:prstGeom>
          <a:noFill/>
          <a:ln/>
        </p:spPr>
        <p:txBody>
          <a:bodyPr wrap="square" lIns="0" tIns="0" rIns="0" bIns="0" rtlCol="0" anchor="ctr"/>
          <a:lstStyle/>
          <a:p>
            <a:pPr marL="0" indent="0">
              <a:buNone/>
            </a:pPr>
            <a:r>
              <a:rPr lang="en-US" sz="1200" b="1" dirty="0">
                <a:solidFill>
                  <a:srgbClr val="1B2230"/>
                </a:solidFill>
                <a:latin typeface="Calibri" pitchFamily="34" charset="0"/>
                <a:ea typeface="Calibri" pitchFamily="34" charset="-122"/>
                <a:cs typeface="Calibri" pitchFamily="34" charset="-120"/>
              </a:rPr>
              <a:t>F5</a:t>
            </a:r>
            <a:endParaRPr lang="en-US" sz="1200" dirty="0"/>
          </a:p>
        </p:txBody>
      </p:sp>
      <p:sp>
        <p:nvSpPr>
          <p:cNvPr id="19" name="Text 17"/>
          <p:cNvSpPr txBox="1"/>
          <p:nvPr/>
        </p:nvSpPr>
        <p:spPr>
          <a:xfrm>
            <a:off x="4590288" y="2233930"/>
            <a:ext cx="5736031" cy="219456"/>
          </a:xfrm>
          <a:prstGeom prst="rect">
            <a:avLst/>
          </a:prstGeom>
          <a:noFill/>
          <a:ln/>
        </p:spPr>
        <p:txBody>
          <a:bodyPr wrap="square" lIns="0" tIns="0" rIns="0" bIns="0" rtlCol="0" anchor="ctr"/>
          <a:lstStyle/>
          <a:p>
            <a:pPr marL="0" indent="0">
              <a:buNone/>
            </a:pPr>
            <a:r>
              <a:rPr lang="en-US" sz="950" dirty="0">
                <a:solidFill>
                  <a:srgbClr val="5B6475"/>
                </a:solidFill>
                <a:latin typeface="Calibri" pitchFamily="34" charset="0"/>
                <a:ea typeface="Calibri" pitchFamily="34" charset="-122"/>
                <a:cs typeface="Calibri" pitchFamily="34" charset="-120"/>
              </a:rPr>
              <a:t>Day 7</a:t>
            </a:r>
            <a:endParaRPr lang="en-US" sz="950" dirty="0"/>
          </a:p>
        </p:txBody>
      </p:sp>
      <p:sp>
        <p:nvSpPr>
          <p:cNvPr id="20" name="Shape 18"/>
          <p:cNvSpPr/>
          <p:nvPr/>
        </p:nvSpPr>
        <p:spPr>
          <a:xfrm>
            <a:off x="10867187" y="2252218"/>
            <a:ext cx="556412" cy="220370"/>
          </a:xfrm>
          <a:prstGeom prst="roundRect">
            <a:avLst>
              <a:gd name="adj" fmla="val 50000"/>
            </a:avLst>
          </a:prstGeom>
          <a:solidFill>
            <a:srgbClr val="E9ECF6"/>
          </a:solidFill>
          <a:ln w="9525">
            <a:solidFill>
              <a:srgbClr val="E9ECF6"/>
            </a:solidFill>
            <a:prstDash val="solid"/>
          </a:ln>
        </p:spPr>
        <p:txBody>
          <a:bodyPr/>
          <a:lstStyle/>
          <a:p>
            <a:endParaRPr lang="en-MX"/>
          </a:p>
        </p:txBody>
      </p:sp>
      <p:sp>
        <p:nvSpPr>
          <p:cNvPr id="21" name="Text 19"/>
          <p:cNvSpPr txBox="1"/>
          <p:nvPr/>
        </p:nvSpPr>
        <p:spPr>
          <a:xfrm>
            <a:off x="10867187" y="2252218"/>
            <a:ext cx="556412" cy="220370"/>
          </a:xfrm>
          <a:prstGeom prst="rect">
            <a:avLst/>
          </a:prstGeom>
          <a:noFill/>
          <a:ln/>
        </p:spPr>
        <p:txBody>
          <a:bodyPr wrap="square" lIns="0" tIns="0" rIns="0" bIns="0" rtlCol="0" anchor="ctr"/>
          <a:lstStyle/>
          <a:p>
            <a:pPr marL="0" indent="0" algn="ctr">
              <a:buNone/>
            </a:pPr>
            <a:r>
              <a:rPr lang="en-US" sz="850" dirty="0">
                <a:solidFill>
                  <a:srgbClr val="3D4F86"/>
                </a:solidFill>
                <a:latin typeface="Calibri" pitchFamily="34" charset="0"/>
                <a:ea typeface="Calibri" pitchFamily="34" charset="-122"/>
                <a:cs typeface="Calibri" pitchFamily="34" charset="-120"/>
              </a:rPr>
              <a:t>Email</a:t>
            </a:r>
            <a:endParaRPr lang="en-US" sz="850" dirty="0"/>
          </a:p>
        </p:txBody>
      </p:sp>
      <p:sp>
        <p:nvSpPr>
          <p:cNvPr id="22" name="Text 20"/>
          <p:cNvSpPr txBox="1"/>
          <p:nvPr/>
        </p:nvSpPr>
        <p:spPr>
          <a:xfrm>
            <a:off x="4315968" y="2508250"/>
            <a:ext cx="7107631" cy="188722"/>
          </a:xfrm>
          <a:prstGeom prst="rect">
            <a:avLst/>
          </a:prstGeom>
          <a:noFill/>
          <a:ln/>
        </p:spPr>
        <p:txBody>
          <a:bodyPr wrap="square" lIns="0" tIns="0" rIns="0" bIns="0" rtlCol="0" anchor="t"/>
          <a:lstStyle/>
          <a:p>
            <a:pPr marL="0" indent="0">
              <a:buNone/>
            </a:pPr>
            <a:r>
              <a:rPr lang="en-US" sz="1100" b="1" dirty="0">
                <a:solidFill>
                  <a:srgbClr val="1B2230"/>
                </a:solidFill>
                <a:latin typeface="Calibri" pitchFamily="34" charset="0"/>
                <a:ea typeface="Calibri" pitchFamily="34" charset="-122"/>
                <a:cs typeface="Calibri" pitchFamily="34" charset="-120"/>
              </a:rPr>
              <a:t>Your proposal expires on {{vigencia_propuesta}}</a:t>
            </a:r>
            <a:endParaRPr lang="en-US" sz="1100" dirty="0"/>
          </a:p>
        </p:txBody>
      </p:sp>
      <p:sp>
        <p:nvSpPr>
          <p:cNvPr id="23" name="Text 21"/>
          <p:cNvSpPr txBox="1"/>
          <p:nvPr/>
        </p:nvSpPr>
        <p:spPr>
          <a:xfrm>
            <a:off x="4315968" y="2733548"/>
            <a:ext cx="7107631" cy="399288"/>
          </a:xfrm>
          <a:prstGeom prst="rect">
            <a:avLst/>
          </a:prstGeom>
          <a:noFill/>
          <a:ln/>
        </p:spPr>
        <p:txBody>
          <a:bodyPr wrap="square" lIns="0" tIns="0" rIns="0" bIns="0" rtlCol="0" anchor="t"/>
          <a:lstStyle/>
          <a:p>
            <a:pPr marL="0" indent="0">
              <a:lnSpc>
                <a:spcPct val="105000"/>
              </a:lnSpc>
              <a:buNone/>
            </a:pPr>
            <a:r>
              <a:rPr lang="en-US" sz="1200" dirty="0">
                <a:solidFill>
                  <a:srgbClr val="1B2230"/>
                </a:solidFill>
                <a:latin typeface="Cambria" pitchFamily="34" charset="0"/>
                <a:ea typeface="Cambria" pitchFamily="34" charset="-122"/>
                <a:cs typeface="Cambria" pitchFamily="34" charset="-120"/>
              </a:rPr>
              <a:t>The terms you discussed with {{coach}} hold until that date. After that you can request it again, but they may change.</a:t>
            </a:r>
            <a:endParaRPr lang="en-US" sz="1200" dirty="0"/>
          </a:p>
        </p:txBody>
      </p:sp>
      <p:sp>
        <p:nvSpPr>
          <p:cNvPr id="24" name="Shape 22"/>
          <p:cNvSpPr/>
          <p:nvPr/>
        </p:nvSpPr>
        <p:spPr>
          <a:xfrm>
            <a:off x="4315968" y="3224276"/>
            <a:ext cx="1519916" cy="232258"/>
          </a:xfrm>
          <a:prstGeom prst="roundRect">
            <a:avLst>
              <a:gd name="adj" fmla="val 50000"/>
            </a:avLst>
          </a:prstGeom>
          <a:solidFill>
            <a:srgbClr val="1B2230"/>
          </a:solidFill>
          <a:ln w="9525">
            <a:solidFill>
              <a:srgbClr val="1B2230"/>
            </a:solidFill>
            <a:prstDash val="solid"/>
          </a:ln>
        </p:spPr>
        <p:txBody>
          <a:bodyPr/>
          <a:lstStyle/>
          <a:p>
            <a:endParaRPr lang="en-MX"/>
          </a:p>
        </p:txBody>
      </p:sp>
      <p:sp>
        <p:nvSpPr>
          <p:cNvPr id="25" name="Text 23"/>
          <p:cNvSpPr txBox="1"/>
          <p:nvPr/>
        </p:nvSpPr>
        <p:spPr>
          <a:xfrm>
            <a:off x="4315968" y="3224276"/>
            <a:ext cx="1519916" cy="23225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Start my program</a:t>
            </a:r>
            <a:endParaRPr lang="en-US" sz="900" dirty="0"/>
          </a:p>
        </p:txBody>
      </p:sp>
      <p:sp>
        <p:nvSpPr>
          <p:cNvPr id="26" name="Shape 24"/>
          <p:cNvSpPr/>
          <p:nvPr/>
        </p:nvSpPr>
        <p:spPr>
          <a:xfrm>
            <a:off x="4160520" y="3718052"/>
            <a:ext cx="7418527" cy="1465834"/>
          </a:xfrm>
          <a:prstGeom prst="roundRect">
            <a:avLst>
              <a:gd name="adj" fmla="val 6238"/>
            </a:avLst>
          </a:prstGeom>
          <a:solidFill>
            <a:srgbClr val="FFFFFF"/>
          </a:solidFill>
          <a:ln w="9525">
            <a:solidFill>
              <a:srgbClr val="DDE1E8"/>
            </a:solidFill>
            <a:prstDash val="solid"/>
          </a:ln>
        </p:spPr>
        <p:txBody>
          <a:bodyPr/>
          <a:lstStyle/>
          <a:p>
            <a:endParaRPr lang="en-MX"/>
          </a:p>
        </p:txBody>
      </p:sp>
      <p:sp>
        <p:nvSpPr>
          <p:cNvPr id="27" name="Text 25"/>
          <p:cNvSpPr txBox="1"/>
          <p:nvPr/>
        </p:nvSpPr>
        <p:spPr>
          <a:xfrm>
            <a:off x="4315968" y="3827780"/>
            <a:ext cx="457200" cy="219456"/>
          </a:xfrm>
          <a:prstGeom prst="rect">
            <a:avLst/>
          </a:prstGeom>
          <a:noFill/>
          <a:ln/>
        </p:spPr>
        <p:txBody>
          <a:bodyPr wrap="square" lIns="0" tIns="0" rIns="0" bIns="0" rtlCol="0" anchor="ctr"/>
          <a:lstStyle/>
          <a:p>
            <a:pPr marL="0" indent="0">
              <a:buNone/>
            </a:pPr>
            <a:r>
              <a:rPr lang="en-US" sz="1200" b="1" dirty="0">
                <a:solidFill>
                  <a:srgbClr val="1B2230"/>
                </a:solidFill>
                <a:latin typeface="Calibri" pitchFamily="34" charset="0"/>
                <a:ea typeface="Calibri" pitchFamily="34" charset="-122"/>
                <a:cs typeface="Calibri" pitchFamily="34" charset="-120"/>
              </a:rPr>
              <a:t>F6</a:t>
            </a:r>
            <a:endParaRPr lang="en-US" sz="1200" dirty="0"/>
          </a:p>
        </p:txBody>
      </p:sp>
      <p:sp>
        <p:nvSpPr>
          <p:cNvPr id="28" name="Text 26"/>
          <p:cNvSpPr txBox="1"/>
          <p:nvPr/>
        </p:nvSpPr>
        <p:spPr>
          <a:xfrm>
            <a:off x="4590288" y="3827780"/>
            <a:ext cx="5736031" cy="219456"/>
          </a:xfrm>
          <a:prstGeom prst="rect">
            <a:avLst/>
          </a:prstGeom>
          <a:noFill/>
          <a:ln/>
        </p:spPr>
        <p:txBody>
          <a:bodyPr wrap="square" lIns="0" tIns="0" rIns="0" bIns="0" rtlCol="0" anchor="ctr"/>
          <a:lstStyle/>
          <a:p>
            <a:pPr marL="0" indent="0">
              <a:buNone/>
            </a:pPr>
            <a:r>
              <a:rPr lang="en-US" sz="950" dirty="0">
                <a:solidFill>
                  <a:srgbClr val="5B6475"/>
                </a:solidFill>
                <a:latin typeface="Calibri" pitchFamily="34" charset="0"/>
                <a:ea typeface="Calibri" pitchFamily="34" charset="-122"/>
                <a:cs typeface="Calibri" pitchFamily="34" charset="-120"/>
              </a:rPr>
              <a:t>Day 14</a:t>
            </a:r>
            <a:endParaRPr lang="en-US" sz="950" dirty="0"/>
          </a:p>
        </p:txBody>
      </p:sp>
      <p:sp>
        <p:nvSpPr>
          <p:cNvPr id="29" name="Shape 27"/>
          <p:cNvSpPr/>
          <p:nvPr/>
        </p:nvSpPr>
        <p:spPr>
          <a:xfrm>
            <a:off x="10867187" y="3846068"/>
            <a:ext cx="556412" cy="220370"/>
          </a:xfrm>
          <a:prstGeom prst="roundRect">
            <a:avLst>
              <a:gd name="adj" fmla="val 50000"/>
            </a:avLst>
          </a:prstGeom>
          <a:solidFill>
            <a:srgbClr val="E9ECF6"/>
          </a:solidFill>
          <a:ln w="9525">
            <a:solidFill>
              <a:srgbClr val="E9ECF6"/>
            </a:solidFill>
            <a:prstDash val="solid"/>
          </a:ln>
        </p:spPr>
        <p:txBody>
          <a:bodyPr/>
          <a:lstStyle/>
          <a:p>
            <a:endParaRPr lang="en-MX"/>
          </a:p>
        </p:txBody>
      </p:sp>
      <p:sp>
        <p:nvSpPr>
          <p:cNvPr id="30" name="Text 28"/>
          <p:cNvSpPr txBox="1"/>
          <p:nvPr/>
        </p:nvSpPr>
        <p:spPr>
          <a:xfrm>
            <a:off x="10867187" y="3846068"/>
            <a:ext cx="556412" cy="220370"/>
          </a:xfrm>
          <a:prstGeom prst="rect">
            <a:avLst/>
          </a:prstGeom>
          <a:noFill/>
          <a:ln/>
        </p:spPr>
        <p:txBody>
          <a:bodyPr wrap="square" lIns="0" tIns="0" rIns="0" bIns="0" rtlCol="0" anchor="ctr"/>
          <a:lstStyle/>
          <a:p>
            <a:pPr marL="0" indent="0" algn="ctr">
              <a:buNone/>
            </a:pPr>
            <a:r>
              <a:rPr lang="en-US" sz="850" dirty="0">
                <a:solidFill>
                  <a:srgbClr val="3D4F86"/>
                </a:solidFill>
                <a:latin typeface="Calibri" pitchFamily="34" charset="0"/>
                <a:ea typeface="Calibri" pitchFamily="34" charset="-122"/>
                <a:cs typeface="Calibri" pitchFamily="34" charset="-120"/>
              </a:rPr>
              <a:t>Email</a:t>
            </a:r>
            <a:endParaRPr lang="en-US" sz="850" dirty="0"/>
          </a:p>
        </p:txBody>
      </p:sp>
      <p:sp>
        <p:nvSpPr>
          <p:cNvPr id="31" name="Text 29"/>
          <p:cNvSpPr txBox="1"/>
          <p:nvPr/>
        </p:nvSpPr>
        <p:spPr>
          <a:xfrm>
            <a:off x="4315968" y="4102100"/>
            <a:ext cx="7107631" cy="188722"/>
          </a:xfrm>
          <a:prstGeom prst="rect">
            <a:avLst/>
          </a:prstGeom>
          <a:noFill/>
          <a:ln/>
        </p:spPr>
        <p:txBody>
          <a:bodyPr wrap="square" lIns="0" tIns="0" rIns="0" bIns="0" rtlCol="0" anchor="t"/>
          <a:lstStyle/>
          <a:p>
            <a:pPr marL="0" indent="0">
              <a:buNone/>
            </a:pPr>
            <a:r>
              <a:rPr lang="en-US" sz="1100" b="1" dirty="0">
                <a:solidFill>
                  <a:srgbClr val="1B2230"/>
                </a:solidFill>
                <a:latin typeface="Calibri" pitchFamily="34" charset="0"/>
                <a:ea typeface="Calibri" pitchFamily="34" charset="-122"/>
                <a:cs typeface="Calibri" pitchFamily="34" charset="-120"/>
              </a:rPr>
              <a:t>A lighter way to start on {{habilidad_critica}}</a:t>
            </a:r>
            <a:endParaRPr lang="en-US" sz="1100" dirty="0"/>
          </a:p>
        </p:txBody>
      </p:sp>
      <p:sp>
        <p:nvSpPr>
          <p:cNvPr id="32" name="Text 30"/>
          <p:cNvSpPr txBox="1"/>
          <p:nvPr/>
        </p:nvSpPr>
        <p:spPr>
          <a:xfrm>
            <a:off x="4315968" y="4327398"/>
            <a:ext cx="7107631" cy="399288"/>
          </a:xfrm>
          <a:prstGeom prst="rect">
            <a:avLst/>
          </a:prstGeom>
          <a:noFill/>
          <a:ln/>
        </p:spPr>
        <p:txBody>
          <a:bodyPr wrap="square" lIns="0" tIns="0" rIns="0" bIns="0" rtlCol="0" anchor="t"/>
          <a:lstStyle/>
          <a:p>
            <a:pPr marL="0" indent="0">
              <a:lnSpc>
                <a:spcPct val="105000"/>
              </a:lnSpc>
              <a:buNone/>
            </a:pPr>
            <a:r>
              <a:rPr lang="en-US" sz="1200" dirty="0">
                <a:solidFill>
                  <a:srgbClr val="3D4F86"/>
                </a:solidFill>
                <a:latin typeface="Calibri" pitchFamily="34" charset="0"/>
                <a:ea typeface="Calibri" pitchFamily="34" charset="-122"/>
                <a:cs typeface="Calibri" pitchFamily="34" charset="-120"/>
              </a:rPr>
              <a:t>{{producto_zona}}: a resource focused only on your lowest ability, at your own pace, for {{precio_producto_zona}}.</a:t>
            </a:r>
            <a:endParaRPr lang="en-US" sz="1200" dirty="0"/>
          </a:p>
        </p:txBody>
      </p:sp>
      <p:sp>
        <p:nvSpPr>
          <p:cNvPr id="33" name="Shape 31"/>
          <p:cNvSpPr/>
          <p:nvPr/>
        </p:nvSpPr>
        <p:spPr>
          <a:xfrm>
            <a:off x="4315968" y="4818126"/>
            <a:ext cx="1519916" cy="232258"/>
          </a:xfrm>
          <a:prstGeom prst="roundRect">
            <a:avLst>
              <a:gd name="adj" fmla="val 50000"/>
            </a:avLst>
          </a:prstGeom>
          <a:solidFill>
            <a:srgbClr val="1B2230"/>
          </a:solidFill>
          <a:ln w="9525">
            <a:solidFill>
              <a:srgbClr val="1B2230"/>
            </a:solidFill>
            <a:prstDash val="solid"/>
          </a:ln>
        </p:spPr>
        <p:txBody>
          <a:bodyPr/>
          <a:lstStyle/>
          <a:p>
            <a:endParaRPr lang="en-MX"/>
          </a:p>
        </p:txBody>
      </p:sp>
      <p:sp>
        <p:nvSpPr>
          <p:cNvPr id="34" name="Text 32"/>
          <p:cNvSpPr txBox="1"/>
          <p:nvPr/>
        </p:nvSpPr>
        <p:spPr>
          <a:xfrm>
            <a:off x="4315968" y="4818126"/>
            <a:ext cx="1519916" cy="23225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See the product</a:t>
            </a:r>
            <a:endParaRPr lang="en-US" sz="900" dirty="0"/>
          </a:p>
        </p:txBody>
      </p:sp>
      <p:sp>
        <p:nvSpPr>
          <p:cNvPr id="35" name="Shape 33"/>
          <p:cNvSpPr/>
          <p:nvPr/>
        </p:nvSpPr>
        <p:spPr>
          <a:xfrm>
            <a:off x="5909036" y="4818126"/>
            <a:ext cx="1317468" cy="232258"/>
          </a:xfrm>
          <a:prstGeom prst="roundRect">
            <a:avLst>
              <a:gd name="adj" fmla="val 50000"/>
            </a:avLst>
          </a:prstGeom>
          <a:solidFill>
            <a:srgbClr val="FFFFFF"/>
          </a:solidFill>
          <a:ln w="9525">
            <a:solidFill>
              <a:srgbClr val="DDE1E8"/>
            </a:solidFill>
            <a:prstDash val="solid"/>
          </a:ln>
        </p:spPr>
        <p:txBody>
          <a:bodyPr/>
          <a:lstStyle/>
          <a:p>
            <a:endParaRPr lang="en-MX"/>
          </a:p>
        </p:txBody>
      </p:sp>
      <p:sp>
        <p:nvSpPr>
          <p:cNvPr id="36" name="Text 34"/>
          <p:cNvSpPr txBox="1"/>
          <p:nvPr/>
        </p:nvSpPr>
        <p:spPr>
          <a:xfrm>
            <a:off x="5909036" y="4818126"/>
            <a:ext cx="1317468" cy="232258"/>
          </a:xfrm>
          <a:prstGeom prst="rect">
            <a:avLst/>
          </a:prstGeom>
          <a:noFill/>
          <a:ln/>
        </p:spPr>
        <p:txBody>
          <a:bodyPr wrap="square" lIns="0" tIns="0" rIns="0" bIns="0" rtlCol="0" anchor="ctr"/>
          <a:lstStyle/>
          <a:p>
            <a:pPr marL="0" indent="0" algn="ctr">
              <a:buNone/>
            </a:pPr>
            <a:r>
              <a:rPr lang="en-US" sz="900" dirty="0">
                <a:solidFill>
                  <a:srgbClr val="1B2230"/>
                </a:solidFill>
                <a:latin typeface="Calibri" pitchFamily="34" charset="0"/>
                <a:ea typeface="Calibri" pitchFamily="34" charset="-122"/>
                <a:cs typeface="Calibri" pitchFamily="34" charset="-120"/>
              </a:rPr>
              <a:t>I'd rather wait</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7F9"/>
        </a:solidFill>
        <a:effectLst/>
      </p:bgPr>
    </p:bg>
    <p:spTree>
      <p:nvGrpSpPr>
        <p:cNvPr id="1" name=""/>
        <p:cNvGrpSpPr/>
        <p:nvPr/>
      </p:nvGrpSpPr>
      <p:grpSpPr>
        <a:xfrm>
          <a:off x="0" y="0"/>
          <a:ext cx="0" cy="0"/>
          <a:chOff x="0" y="0"/>
          <a:chExt cx="0" cy="0"/>
        </a:xfrm>
      </p:grpSpPr>
      <p:sp>
        <p:nvSpPr>
          <p:cNvPr id="2" name="Text 0"/>
          <p:cNvSpPr txBox="1"/>
          <p:nvPr/>
        </p:nvSpPr>
        <p:spPr>
          <a:xfrm>
            <a:off x="612648" y="6446520"/>
            <a:ext cx="4572000" cy="228600"/>
          </a:xfrm>
          <a:prstGeom prst="rect">
            <a:avLst/>
          </a:prstGeom>
          <a:noFill/>
          <a:ln/>
        </p:spPr>
        <p:txBody>
          <a:bodyPr wrap="square" lIns="0" tIns="0" rIns="0" bIns="0" rtlCol="0" anchor="ctr"/>
          <a:lstStyle/>
          <a:p>
            <a:pPr marL="0" indent="0">
              <a:buNone/>
            </a:pPr>
            <a:r>
              <a:rPr lang="en-US" sz="900" dirty="0">
                <a:solidFill>
                  <a:srgbClr val="5B6475"/>
                </a:solidFill>
                <a:latin typeface="Calibri" pitchFamily="34" charset="0"/>
                <a:ea typeface="Calibri" pitchFamily="34" charset="-122"/>
                <a:cs typeface="Calibri" pitchFamily="34" charset="-120"/>
              </a:rPr>
              <a:t>Zones of Life: funnels and copy</a:t>
            </a:r>
            <a:endParaRPr lang="en-US" sz="900" dirty="0"/>
          </a:p>
        </p:txBody>
      </p:sp>
      <p:sp>
        <p:nvSpPr>
          <p:cNvPr id="3" name="Text 1"/>
          <p:cNvSpPr txBox="1"/>
          <p:nvPr/>
        </p:nvSpPr>
        <p:spPr>
          <a:xfrm>
            <a:off x="10881360" y="6446520"/>
            <a:ext cx="694944" cy="228600"/>
          </a:xfrm>
          <a:prstGeom prst="rect">
            <a:avLst/>
          </a:prstGeom>
          <a:noFill/>
          <a:ln/>
        </p:spPr>
        <p:txBody>
          <a:bodyPr wrap="square" lIns="0" tIns="0" rIns="0" bIns="0" rtlCol="0" anchor="ctr"/>
          <a:lstStyle/>
          <a:p>
            <a:pPr marL="0" indent="0" algn="r">
              <a:buNone/>
            </a:pPr>
            <a:r>
              <a:rPr lang="en-US" sz="900" dirty="0">
                <a:solidFill>
                  <a:srgbClr val="5B6475"/>
                </a:solidFill>
                <a:latin typeface="Calibri" pitchFamily="34" charset="0"/>
                <a:ea typeface="Calibri" pitchFamily="34" charset="-122"/>
                <a:cs typeface="Calibri" pitchFamily="34" charset="-120"/>
              </a:rPr>
              <a:t>16</a:t>
            </a:r>
            <a:endParaRPr lang="en-US" sz="900" dirty="0"/>
          </a:p>
        </p:txBody>
      </p:sp>
      <p:sp>
        <p:nvSpPr>
          <p:cNvPr id="4" name="Shape 2"/>
          <p:cNvSpPr/>
          <p:nvPr/>
        </p:nvSpPr>
        <p:spPr>
          <a:xfrm>
            <a:off x="612648" y="530352"/>
            <a:ext cx="837590" cy="256032"/>
          </a:xfrm>
          <a:prstGeom prst="roundRect">
            <a:avLst>
              <a:gd name="adj" fmla="val 50000"/>
            </a:avLst>
          </a:prstGeom>
          <a:solidFill>
            <a:srgbClr val="E3F1EA"/>
          </a:solidFill>
          <a:ln w="9525">
            <a:solidFill>
              <a:srgbClr val="E3F1EA"/>
            </a:solidFill>
            <a:prstDash val="solid"/>
          </a:ln>
        </p:spPr>
        <p:txBody>
          <a:bodyPr/>
          <a:lstStyle/>
          <a:p>
            <a:endParaRPr lang="en-MX"/>
          </a:p>
        </p:txBody>
      </p:sp>
      <p:sp>
        <p:nvSpPr>
          <p:cNvPr id="5" name="Text 3"/>
          <p:cNvSpPr txBox="1"/>
          <p:nvPr/>
        </p:nvSpPr>
        <p:spPr>
          <a:xfrm>
            <a:off x="612648" y="530352"/>
            <a:ext cx="837590" cy="256032"/>
          </a:xfrm>
          <a:prstGeom prst="rect">
            <a:avLst/>
          </a:prstGeom>
          <a:noFill/>
          <a:ln/>
        </p:spPr>
        <p:txBody>
          <a:bodyPr wrap="square" lIns="0" tIns="0" rIns="0" bIns="0" rtlCol="0" anchor="ctr"/>
          <a:lstStyle/>
          <a:p>
            <a:pPr marL="0" indent="0" algn="ctr">
              <a:buNone/>
            </a:pPr>
            <a:r>
              <a:rPr lang="en-US" sz="1000" b="1" dirty="0">
                <a:solidFill>
                  <a:srgbClr val="2E7A57"/>
                </a:solidFill>
                <a:latin typeface="Calibri" pitchFamily="34" charset="0"/>
                <a:ea typeface="Calibri" pitchFamily="34" charset="-122"/>
                <a:cs typeface="Calibri" pitchFamily="34" charset="-120"/>
              </a:rPr>
              <a:t>Clients</a:t>
            </a:r>
            <a:endParaRPr lang="en-US" sz="1000" dirty="0"/>
          </a:p>
        </p:txBody>
      </p:sp>
      <p:sp>
        <p:nvSpPr>
          <p:cNvPr id="6" name="Text 4"/>
          <p:cNvSpPr txBox="1"/>
          <p:nvPr/>
        </p:nvSpPr>
        <p:spPr>
          <a:xfrm>
            <a:off x="612648" y="941832"/>
            <a:ext cx="3200400" cy="1197864"/>
          </a:xfrm>
          <a:prstGeom prst="rect">
            <a:avLst/>
          </a:prstGeom>
          <a:noFill/>
          <a:ln/>
        </p:spPr>
        <p:txBody>
          <a:bodyPr wrap="square" lIns="0" tIns="0" rIns="0" bIns="0" rtlCol="0" anchor="t"/>
          <a:lstStyle/>
          <a:p>
            <a:pPr marL="0" indent="0">
              <a:lnSpc>
                <a:spcPct val="95000"/>
              </a:lnSpc>
              <a:buNone/>
            </a:pPr>
            <a:r>
              <a:rPr lang="en-US" sz="2800" dirty="0">
                <a:solidFill>
                  <a:srgbClr val="1B2230"/>
                </a:solidFill>
                <a:latin typeface="Cambria" pitchFamily="34" charset="0"/>
                <a:ea typeface="Cambria" pitchFamily="34" charset="-122"/>
                <a:cs typeface="Cambria" pitchFamily="34" charset="-120"/>
              </a:rPr>
              <a:t>Onboarding, re-assessment and referrals</a:t>
            </a:r>
            <a:endParaRPr lang="en-US" sz="2800" dirty="0"/>
          </a:p>
        </p:txBody>
      </p:sp>
      <p:sp>
        <p:nvSpPr>
          <p:cNvPr id="7" name="Text 5"/>
          <p:cNvSpPr txBox="1"/>
          <p:nvPr/>
        </p:nvSpPr>
        <p:spPr>
          <a:xfrm>
            <a:off x="612648" y="2304288"/>
            <a:ext cx="3200400" cy="617601"/>
          </a:xfrm>
          <a:prstGeom prst="rect">
            <a:avLst/>
          </a:prstGeom>
          <a:noFill/>
          <a:ln/>
        </p:spPr>
        <p:txBody>
          <a:bodyPr wrap="square" lIns="0" tIns="0" rIns="0" bIns="0" rtlCol="0" anchor="t"/>
          <a:lstStyle/>
          <a:p>
            <a:pPr marL="0" indent="0">
              <a:buNone/>
            </a:pPr>
            <a:r>
              <a:rPr lang="en-US" sz="1250" b="1" dirty="0">
                <a:solidFill>
                  <a:srgbClr val="1B2230"/>
                </a:solidFill>
                <a:latin typeface="Calibri" pitchFamily="34" charset="0"/>
                <a:ea typeface="Calibri" pitchFamily="34" charset="-122"/>
                <a:cs typeface="Calibri" pitchFamily="34" charset="-120"/>
              </a:rPr>
              <a:t>G4</a:t>
            </a:r>
            <a:endParaRPr lang="en-US" sz="1250" dirty="0"/>
          </a:p>
          <a:p>
            <a:pPr marL="0" indent="0">
              <a:buNone/>
            </a:pPr>
            <a:r>
              <a:rPr lang="en-US" sz="1250" dirty="0">
                <a:solidFill>
                  <a:srgbClr val="5B6475"/>
                </a:solidFill>
                <a:latin typeface="Calibri" pitchFamily="34" charset="0"/>
                <a:ea typeface="Calibri" pitchFamily="34" charset="-122"/>
                <a:cs typeface="Calibri" pitchFamily="34" charset="-120"/>
              </a:rPr>
              <a:t>Also sent to anyone who bought the full profile without a program.</a:t>
            </a:r>
            <a:endParaRPr lang="en-US" sz="1250" dirty="0"/>
          </a:p>
        </p:txBody>
      </p:sp>
      <p:sp>
        <p:nvSpPr>
          <p:cNvPr id="8" name="Text 6"/>
          <p:cNvSpPr txBox="1"/>
          <p:nvPr/>
        </p:nvSpPr>
        <p:spPr>
          <a:xfrm>
            <a:off x="612648" y="3049905"/>
            <a:ext cx="3200400" cy="617601"/>
          </a:xfrm>
          <a:prstGeom prst="rect">
            <a:avLst/>
          </a:prstGeom>
          <a:noFill/>
          <a:ln/>
        </p:spPr>
        <p:txBody>
          <a:bodyPr wrap="square" lIns="0" tIns="0" rIns="0" bIns="0" rtlCol="0" anchor="t"/>
          <a:lstStyle/>
          <a:p>
            <a:pPr marL="0" indent="0">
              <a:buNone/>
            </a:pPr>
            <a:r>
              <a:rPr lang="en-US" sz="1250" b="1" dirty="0">
                <a:solidFill>
                  <a:srgbClr val="1B2230"/>
                </a:solidFill>
                <a:latin typeface="Calibri" pitchFamily="34" charset="0"/>
                <a:ea typeface="Calibri" pitchFamily="34" charset="-122"/>
                <a:cs typeface="Calibri" pitchFamily="34" charset="-120"/>
              </a:rPr>
              <a:t>G5</a:t>
            </a:r>
            <a:endParaRPr lang="en-US" sz="1250" dirty="0"/>
          </a:p>
          <a:p>
            <a:pPr marL="0" indent="0">
              <a:buNone/>
            </a:pPr>
            <a:r>
              <a:rPr lang="en-US" sz="1250" dirty="0">
                <a:solidFill>
                  <a:srgbClr val="5B6475"/>
                </a:solidFill>
                <a:latin typeface="Calibri" pitchFamily="34" charset="0"/>
                <a:ea typeface="Calibri" pitchFamily="34" charset="-122"/>
                <a:cs typeface="Calibri" pitchFamily="34" charset="-120"/>
              </a:rPr>
              <a:t>"See the next level" leads to the step-up offer for ACLC.</a:t>
            </a:r>
            <a:endParaRPr lang="en-US" sz="1250" dirty="0"/>
          </a:p>
        </p:txBody>
      </p:sp>
      <p:sp>
        <p:nvSpPr>
          <p:cNvPr id="9" name="Shape 7"/>
          <p:cNvSpPr/>
          <p:nvPr/>
        </p:nvSpPr>
        <p:spPr>
          <a:xfrm>
            <a:off x="4160520" y="530352"/>
            <a:ext cx="3645256" cy="1723644"/>
          </a:xfrm>
          <a:prstGeom prst="roundRect">
            <a:avLst>
              <a:gd name="adj" fmla="val 5305"/>
            </a:avLst>
          </a:prstGeom>
          <a:solidFill>
            <a:srgbClr val="FFFFFF"/>
          </a:solidFill>
          <a:ln w="9525">
            <a:solidFill>
              <a:srgbClr val="DDE1E8"/>
            </a:solidFill>
            <a:prstDash val="solid"/>
          </a:ln>
        </p:spPr>
        <p:txBody>
          <a:bodyPr/>
          <a:lstStyle/>
          <a:p>
            <a:endParaRPr lang="en-MX"/>
          </a:p>
        </p:txBody>
      </p:sp>
      <p:sp>
        <p:nvSpPr>
          <p:cNvPr id="10" name="Text 8"/>
          <p:cNvSpPr txBox="1"/>
          <p:nvPr/>
        </p:nvSpPr>
        <p:spPr>
          <a:xfrm>
            <a:off x="4315968" y="640080"/>
            <a:ext cx="457200" cy="219456"/>
          </a:xfrm>
          <a:prstGeom prst="rect">
            <a:avLst/>
          </a:prstGeom>
          <a:noFill/>
          <a:ln/>
        </p:spPr>
        <p:txBody>
          <a:bodyPr wrap="square" lIns="0" tIns="0" rIns="0" bIns="0" rtlCol="0" anchor="ctr"/>
          <a:lstStyle/>
          <a:p>
            <a:pPr marL="0" indent="0">
              <a:buNone/>
            </a:pPr>
            <a:r>
              <a:rPr lang="en-US" sz="1200" b="1" dirty="0">
                <a:solidFill>
                  <a:srgbClr val="1B2230"/>
                </a:solidFill>
                <a:latin typeface="Calibri" pitchFamily="34" charset="0"/>
                <a:ea typeface="Calibri" pitchFamily="34" charset="-122"/>
                <a:cs typeface="Calibri" pitchFamily="34" charset="-120"/>
              </a:rPr>
              <a:t>G1</a:t>
            </a:r>
            <a:endParaRPr lang="en-US" sz="1200" dirty="0"/>
          </a:p>
        </p:txBody>
      </p:sp>
      <p:sp>
        <p:nvSpPr>
          <p:cNvPr id="11" name="Text 9"/>
          <p:cNvSpPr txBox="1"/>
          <p:nvPr/>
        </p:nvSpPr>
        <p:spPr>
          <a:xfrm>
            <a:off x="4590288" y="640080"/>
            <a:ext cx="1962760" cy="219456"/>
          </a:xfrm>
          <a:prstGeom prst="rect">
            <a:avLst/>
          </a:prstGeom>
          <a:noFill/>
          <a:ln/>
        </p:spPr>
        <p:txBody>
          <a:bodyPr wrap="square" lIns="0" tIns="0" rIns="0" bIns="0" rtlCol="0" anchor="ctr"/>
          <a:lstStyle/>
          <a:p>
            <a:pPr marL="0" indent="0">
              <a:buNone/>
            </a:pPr>
            <a:r>
              <a:rPr lang="en-US" sz="950" dirty="0">
                <a:solidFill>
                  <a:srgbClr val="5B6475"/>
                </a:solidFill>
                <a:latin typeface="Calibri" pitchFamily="34" charset="0"/>
                <a:ea typeface="Calibri" pitchFamily="34" charset="-122"/>
                <a:cs typeface="Calibri" pitchFamily="34" charset="-120"/>
              </a:rPr>
              <a:t>After purchase</a:t>
            </a:r>
            <a:endParaRPr lang="en-US" sz="950" dirty="0"/>
          </a:p>
        </p:txBody>
      </p:sp>
      <p:sp>
        <p:nvSpPr>
          <p:cNvPr id="12" name="Shape 10"/>
          <p:cNvSpPr/>
          <p:nvPr/>
        </p:nvSpPr>
        <p:spPr>
          <a:xfrm>
            <a:off x="6775247" y="658368"/>
            <a:ext cx="875081" cy="220370"/>
          </a:xfrm>
          <a:prstGeom prst="roundRect">
            <a:avLst>
              <a:gd name="adj" fmla="val 50000"/>
            </a:avLst>
          </a:prstGeom>
          <a:solidFill>
            <a:srgbClr val="E9ECF6"/>
          </a:solidFill>
          <a:ln w="9525">
            <a:solidFill>
              <a:srgbClr val="E9ECF6"/>
            </a:solidFill>
            <a:prstDash val="solid"/>
          </a:ln>
        </p:spPr>
        <p:txBody>
          <a:bodyPr/>
          <a:lstStyle/>
          <a:p>
            <a:endParaRPr lang="en-MX"/>
          </a:p>
        </p:txBody>
      </p:sp>
      <p:sp>
        <p:nvSpPr>
          <p:cNvPr id="13" name="Text 11"/>
          <p:cNvSpPr txBox="1"/>
          <p:nvPr/>
        </p:nvSpPr>
        <p:spPr>
          <a:xfrm>
            <a:off x="6775247" y="658368"/>
            <a:ext cx="875081" cy="220370"/>
          </a:xfrm>
          <a:prstGeom prst="rect">
            <a:avLst/>
          </a:prstGeom>
          <a:noFill/>
          <a:ln/>
        </p:spPr>
        <p:txBody>
          <a:bodyPr wrap="square" lIns="0" tIns="0" rIns="0" bIns="0" rtlCol="0" anchor="ctr"/>
          <a:lstStyle/>
          <a:p>
            <a:pPr marL="0" indent="0" algn="ctr">
              <a:buNone/>
            </a:pPr>
            <a:r>
              <a:rPr lang="en-US" sz="850" dirty="0">
                <a:solidFill>
                  <a:srgbClr val="3D4F86"/>
                </a:solidFill>
                <a:latin typeface="Calibri" pitchFamily="34" charset="0"/>
                <a:ea typeface="Calibri" pitchFamily="34" charset="-122"/>
                <a:cs typeface="Calibri" pitchFamily="34" charset="-120"/>
              </a:rPr>
              <a:t>Email + WA</a:t>
            </a:r>
            <a:endParaRPr lang="en-US" sz="850" dirty="0"/>
          </a:p>
        </p:txBody>
      </p:sp>
      <p:sp>
        <p:nvSpPr>
          <p:cNvPr id="14" name="Text 12"/>
          <p:cNvSpPr txBox="1"/>
          <p:nvPr/>
        </p:nvSpPr>
        <p:spPr>
          <a:xfrm>
            <a:off x="4315968" y="914400"/>
            <a:ext cx="3334360" cy="188722"/>
          </a:xfrm>
          <a:prstGeom prst="rect">
            <a:avLst/>
          </a:prstGeom>
          <a:noFill/>
          <a:ln/>
        </p:spPr>
        <p:txBody>
          <a:bodyPr wrap="square" lIns="0" tIns="0" rIns="0" bIns="0" rtlCol="0" anchor="t"/>
          <a:lstStyle/>
          <a:p>
            <a:pPr marL="0" indent="0">
              <a:buNone/>
            </a:pPr>
            <a:r>
              <a:rPr lang="en-US" sz="1100" b="1" dirty="0">
                <a:solidFill>
                  <a:srgbClr val="1B2230"/>
                </a:solidFill>
                <a:latin typeface="Calibri" pitchFamily="34" charset="0"/>
                <a:ea typeface="Calibri" pitchFamily="34" charset="-122"/>
                <a:cs typeface="Calibri" pitchFamily="34" charset="-120"/>
              </a:rPr>
              <a:t>Welcome to your program, {{nombre}}</a:t>
            </a:r>
            <a:endParaRPr lang="en-US" sz="1100" dirty="0"/>
          </a:p>
        </p:txBody>
      </p:sp>
      <p:sp>
        <p:nvSpPr>
          <p:cNvPr id="15" name="Text 13"/>
          <p:cNvSpPr txBox="1"/>
          <p:nvPr/>
        </p:nvSpPr>
        <p:spPr>
          <a:xfrm>
            <a:off x="4315968" y="1139698"/>
            <a:ext cx="3334360" cy="589788"/>
          </a:xfrm>
          <a:prstGeom prst="rect">
            <a:avLst/>
          </a:prstGeom>
          <a:noFill/>
          <a:ln/>
        </p:spPr>
        <p:txBody>
          <a:bodyPr wrap="square" lIns="0" tIns="0" rIns="0" bIns="0" rtlCol="0" anchor="t"/>
          <a:lstStyle/>
          <a:p>
            <a:pPr marL="0" indent="0">
              <a:lnSpc>
                <a:spcPct val="105000"/>
              </a:lnSpc>
              <a:buNone/>
            </a:pPr>
            <a:r>
              <a:rPr lang="en-US" sz="1200" dirty="0">
                <a:solidFill>
                  <a:srgbClr val="1B2230"/>
                </a:solidFill>
                <a:latin typeface="Cambria" pitchFamily="34" charset="0"/>
                <a:ea typeface="Cambria" pitchFamily="34" charset="-122"/>
                <a:cs typeface="Cambria" pitchFamily="34" charset="-120"/>
              </a:rPr>
              <a:t>You start on {{fecha_inicio}}. Your starting point is on record; in 90 days we compare.</a:t>
            </a:r>
            <a:endParaRPr lang="en-US" sz="1200" dirty="0"/>
          </a:p>
        </p:txBody>
      </p:sp>
      <p:sp>
        <p:nvSpPr>
          <p:cNvPr id="16" name="Shape 14"/>
          <p:cNvSpPr/>
          <p:nvPr/>
        </p:nvSpPr>
        <p:spPr>
          <a:xfrm>
            <a:off x="4315968" y="1820926"/>
            <a:ext cx="1587398" cy="232258"/>
          </a:xfrm>
          <a:prstGeom prst="roundRect">
            <a:avLst>
              <a:gd name="adj" fmla="val 50000"/>
            </a:avLst>
          </a:prstGeom>
          <a:solidFill>
            <a:srgbClr val="1B2230"/>
          </a:solidFill>
          <a:ln w="9525">
            <a:solidFill>
              <a:srgbClr val="1B2230"/>
            </a:solidFill>
            <a:prstDash val="solid"/>
          </a:ln>
        </p:spPr>
        <p:txBody>
          <a:bodyPr/>
          <a:lstStyle/>
          <a:p>
            <a:endParaRPr lang="en-MX"/>
          </a:p>
        </p:txBody>
      </p:sp>
      <p:sp>
        <p:nvSpPr>
          <p:cNvPr id="17" name="Text 15"/>
          <p:cNvSpPr txBox="1"/>
          <p:nvPr/>
        </p:nvSpPr>
        <p:spPr>
          <a:xfrm>
            <a:off x="4315968" y="1820926"/>
            <a:ext cx="1587398" cy="23225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Go to my program</a:t>
            </a:r>
            <a:endParaRPr lang="en-US" sz="900" dirty="0"/>
          </a:p>
        </p:txBody>
      </p:sp>
      <p:sp>
        <p:nvSpPr>
          <p:cNvPr id="18" name="Shape 16"/>
          <p:cNvSpPr/>
          <p:nvPr/>
        </p:nvSpPr>
        <p:spPr>
          <a:xfrm>
            <a:off x="7933792" y="530352"/>
            <a:ext cx="3645256" cy="1723644"/>
          </a:xfrm>
          <a:prstGeom prst="roundRect">
            <a:avLst>
              <a:gd name="adj" fmla="val 5305"/>
            </a:avLst>
          </a:prstGeom>
          <a:solidFill>
            <a:srgbClr val="FFFFFF"/>
          </a:solidFill>
          <a:ln w="9525">
            <a:solidFill>
              <a:srgbClr val="DDE1E8"/>
            </a:solidFill>
            <a:prstDash val="solid"/>
          </a:ln>
        </p:spPr>
        <p:txBody>
          <a:bodyPr/>
          <a:lstStyle/>
          <a:p>
            <a:endParaRPr lang="en-MX"/>
          </a:p>
        </p:txBody>
      </p:sp>
      <p:sp>
        <p:nvSpPr>
          <p:cNvPr id="19" name="Text 17"/>
          <p:cNvSpPr txBox="1"/>
          <p:nvPr/>
        </p:nvSpPr>
        <p:spPr>
          <a:xfrm>
            <a:off x="8089240" y="640080"/>
            <a:ext cx="457200" cy="219456"/>
          </a:xfrm>
          <a:prstGeom prst="rect">
            <a:avLst/>
          </a:prstGeom>
          <a:noFill/>
          <a:ln/>
        </p:spPr>
        <p:txBody>
          <a:bodyPr wrap="square" lIns="0" tIns="0" rIns="0" bIns="0" rtlCol="0" anchor="ctr"/>
          <a:lstStyle/>
          <a:p>
            <a:pPr marL="0" indent="0">
              <a:buNone/>
            </a:pPr>
            <a:r>
              <a:rPr lang="en-US" sz="1200" b="1" dirty="0">
                <a:solidFill>
                  <a:srgbClr val="1B2230"/>
                </a:solidFill>
                <a:latin typeface="Calibri" pitchFamily="34" charset="0"/>
                <a:ea typeface="Calibri" pitchFamily="34" charset="-122"/>
                <a:cs typeface="Calibri" pitchFamily="34" charset="-120"/>
              </a:rPr>
              <a:t>G2</a:t>
            </a:r>
            <a:endParaRPr lang="en-US" sz="1200" dirty="0"/>
          </a:p>
        </p:txBody>
      </p:sp>
      <p:sp>
        <p:nvSpPr>
          <p:cNvPr id="20" name="Text 18"/>
          <p:cNvSpPr txBox="1"/>
          <p:nvPr/>
        </p:nvSpPr>
        <p:spPr>
          <a:xfrm>
            <a:off x="8363560" y="640080"/>
            <a:ext cx="1962760" cy="219456"/>
          </a:xfrm>
          <a:prstGeom prst="rect">
            <a:avLst/>
          </a:prstGeom>
          <a:noFill/>
          <a:ln/>
        </p:spPr>
        <p:txBody>
          <a:bodyPr wrap="square" lIns="0" tIns="0" rIns="0" bIns="0" rtlCol="0" anchor="ctr"/>
          <a:lstStyle/>
          <a:p>
            <a:pPr marL="0" indent="0">
              <a:buNone/>
            </a:pPr>
            <a:r>
              <a:rPr lang="en-US" sz="950" dirty="0">
                <a:solidFill>
                  <a:srgbClr val="5B6475"/>
                </a:solidFill>
                <a:latin typeface="Calibri" pitchFamily="34" charset="0"/>
                <a:ea typeface="Calibri" pitchFamily="34" charset="-122"/>
                <a:cs typeface="Calibri" pitchFamily="34" charset="-120"/>
              </a:rPr>
              <a:t>Day 7</a:t>
            </a:r>
            <a:endParaRPr lang="en-US" sz="950" dirty="0"/>
          </a:p>
        </p:txBody>
      </p:sp>
      <p:sp>
        <p:nvSpPr>
          <p:cNvPr id="21" name="Shape 19"/>
          <p:cNvSpPr/>
          <p:nvPr/>
        </p:nvSpPr>
        <p:spPr>
          <a:xfrm>
            <a:off x="10675986" y="658368"/>
            <a:ext cx="747613" cy="220370"/>
          </a:xfrm>
          <a:prstGeom prst="roundRect">
            <a:avLst>
              <a:gd name="adj" fmla="val 50000"/>
            </a:avLst>
          </a:prstGeom>
          <a:solidFill>
            <a:srgbClr val="E1F2EF"/>
          </a:solidFill>
          <a:ln w="9525">
            <a:solidFill>
              <a:srgbClr val="E1F2EF"/>
            </a:solidFill>
            <a:prstDash val="solid"/>
          </a:ln>
        </p:spPr>
        <p:txBody>
          <a:bodyPr/>
          <a:lstStyle/>
          <a:p>
            <a:endParaRPr lang="en-MX"/>
          </a:p>
        </p:txBody>
      </p:sp>
      <p:sp>
        <p:nvSpPr>
          <p:cNvPr id="22" name="Text 20"/>
          <p:cNvSpPr txBox="1"/>
          <p:nvPr/>
        </p:nvSpPr>
        <p:spPr>
          <a:xfrm>
            <a:off x="10675986" y="658368"/>
            <a:ext cx="747613" cy="220370"/>
          </a:xfrm>
          <a:prstGeom prst="rect">
            <a:avLst/>
          </a:prstGeom>
          <a:noFill/>
          <a:ln/>
        </p:spPr>
        <p:txBody>
          <a:bodyPr wrap="square" lIns="0" tIns="0" rIns="0" bIns="0" rtlCol="0" anchor="ctr"/>
          <a:lstStyle/>
          <a:p>
            <a:pPr marL="0" indent="0" algn="ctr">
              <a:buNone/>
            </a:pPr>
            <a:r>
              <a:rPr lang="en-US" sz="850" dirty="0">
                <a:solidFill>
                  <a:srgbClr val="1F7A70"/>
                </a:solidFill>
                <a:latin typeface="Calibri" pitchFamily="34" charset="0"/>
                <a:ea typeface="Calibri" pitchFamily="34" charset="-122"/>
                <a:cs typeface="Calibri" pitchFamily="34" charset="-120"/>
              </a:rPr>
              <a:t>WhatsApp</a:t>
            </a:r>
            <a:endParaRPr lang="en-US" sz="850" dirty="0"/>
          </a:p>
        </p:txBody>
      </p:sp>
      <p:sp>
        <p:nvSpPr>
          <p:cNvPr id="23" name="Text 21"/>
          <p:cNvSpPr txBox="1"/>
          <p:nvPr/>
        </p:nvSpPr>
        <p:spPr>
          <a:xfrm>
            <a:off x="8089240" y="914400"/>
            <a:ext cx="3334360" cy="589788"/>
          </a:xfrm>
          <a:prstGeom prst="rect">
            <a:avLst/>
          </a:prstGeom>
          <a:noFill/>
          <a:ln/>
        </p:spPr>
        <p:txBody>
          <a:bodyPr wrap="square" lIns="0" tIns="0" rIns="0" bIns="0" rtlCol="0" anchor="t"/>
          <a:lstStyle/>
          <a:p>
            <a:pPr marL="0" indent="0">
              <a:lnSpc>
                <a:spcPct val="105000"/>
              </a:lnSpc>
              <a:buNone/>
            </a:pPr>
            <a:r>
              <a:rPr lang="en-US" sz="1200" dirty="0">
                <a:solidFill>
                  <a:srgbClr val="1B2230"/>
                </a:solidFill>
                <a:latin typeface="Cambria" pitchFamily="34" charset="0"/>
                <a:ea typeface="Cambria" pitchFamily="34" charset="-122"/>
                <a:cs typeface="Cambria" pitchFamily="34" charset="-120"/>
              </a:rPr>
              <a:t>You've been in your program a week. How's it going? The last two options create a task for the coach.</a:t>
            </a:r>
            <a:endParaRPr lang="en-US" sz="1200" dirty="0"/>
          </a:p>
        </p:txBody>
      </p:sp>
      <p:sp>
        <p:nvSpPr>
          <p:cNvPr id="24" name="Shape 22"/>
          <p:cNvSpPr/>
          <p:nvPr/>
        </p:nvSpPr>
        <p:spPr>
          <a:xfrm>
            <a:off x="8089240" y="1595628"/>
            <a:ext cx="777606" cy="232258"/>
          </a:xfrm>
          <a:prstGeom prst="roundRect">
            <a:avLst>
              <a:gd name="adj" fmla="val 50000"/>
            </a:avLst>
          </a:prstGeom>
          <a:solidFill>
            <a:srgbClr val="FFFFFF"/>
          </a:solidFill>
          <a:ln w="9525">
            <a:solidFill>
              <a:srgbClr val="DDE1E8"/>
            </a:solidFill>
            <a:prstDash val="solid"/>
          </a:ln>
        </p:spPr>
        <p:txBody>
          <a:bodyPr/>
          <a:lstStyle/>
          <a:p>
            <a:endParaRPr lang="en-MX"/>
          </a:p>
        </p:txBody>
      </p:sp>
      <p:sp>
        <p:nvSpPr>
          <p:cNvPr id="25" name="Text 23"/>
          <p:cNvSpPr txBox="1"/>
          <p:nvPr/>
        </p:nvSpPr>
        <p:spPr>
          <a:xfrm>
            <a:off x="8089240" y="1595628"/>
            <a:ext cx="777606" cy="232258"/>
          </a:xfrm>
          <a:prstGeom prst="rect">
            <a:avLst/>
          </a:prstGeom>
          <a:noFill/>
          <a:ln/>
        </p:spPr>
        <p:txBody>
          <a:bodyPr wrap="square" lIns="0" tIns="0" rIns="0" bIns="0" rtlCol="0" anchor="ctr"/>
          <a:lstStyle/>
          <a:p>
            <a:pPr marL="0" indent="0" algn="ctr">
              <a:buNone/>
            </a:pPr>
            <a:r>
              <a:rPr lang="en-US" sz="900" dirty="0">
                <a:solidFill>
                  <a:srgbClr val="1B2230"/>
                </a:solidFill>
                <a:latin typeface="Calibri" pitchFamily="34" charset="0"/>
                <a:ea typeface="Calibri" pitchFamily="34" charset="-122"/>
                <a:cs typeface="Calibri" pitchFamily="34" charset="-120"/>
              </a:rPr>
              <a:t>Going well</a:t>
            </a:r>
            <a:endParaRPr lang="en-US" sz="900" dirty="0"/>
          </a:p>
        </p:txBody>
      </p:sp>
      <p:sp>
        <p:nvSpPr>
          <p:cNvPr id="26" name="Shape 24"/>
          <p:cNvSpPr/>
          <p:nvPr/>
        </p:nvSpPr>
        <p:spPr>
          <a:xfrm>
            <a:off x="8939997" y="1595628"/>
            <a:ext cx="1317468" cy="232258"/>
          </a:xfrm>
          <a:prstGeom prst="roundRect">
            <a:avLst>
              <a:gd name="adj" fmla="val 50000"/>
            </a:avLst>
          </a:prstGeom>
          <a:solidFill>
            <a:srgbClr val="FFFFFF"/>
          </a:solidFill>
          <a:ln w="9525">
            <a:solidFill>
              <a:srgbClr val="DDE1E8"/>
            </a:solidFill>
            <a:prstDash val="solid"/>
          </a:ln>
        </p:spPr>
        <p:txBody>
          <a:bodyPr/>
          <a:lstStyle/>
          <a:p>
            <a:endParaRPr lang="en-MX"/>
          </a:p>
        </p:txBody>
      </p:sp>
      <p:sp>
        <p:nvSpPr>
          <p:cNvPr id="27" name="Text 25"/>
          <p:cNvSpPr txBox="1"/>
          <p:nvPr/>
        </p:nvSpPr>
        <p:spPr>
          <a:xfrm>
            <a:off x="8939997" y="1595628"/>
            <a:ext cx="1317468" cy="232258"/>
          </a:xfrm>
          <a:prstGeom prst="rect">
            <a:avLst/>
          </a:prstGeom>
          <a:noFill/>
          <a:ln/>
        </p:spPr>
        <p:txBody>
          <a:bodyPr wrap="square" lIns="0" tIns="0" rIns="0" bIns="0" rtlCol="0" anchor="ctr"/>
          <a:lstStyle/>
          <a:p>
            <a:pPr marL="0" indent="0" algn="ctr">
              <a:buNone/>
            </a:pPr>
            <a:r>
              <a:rPr lang="en-US" sz="900" dirty="0">
                <a:solidFill>
                  <a:srgbClr val="1B2230"/>
                </a:solidFill>
                <a:latin typeface="Calibri" pitchFamily="34" charset="0"/>
                <a:ea typeface="Calibri" pitchFamily="34" charset="-122"/>
                <a:cs typeface="Calibri" pitchFamily="34" charset="-120"/>
              </a:rPr>
              <a:t>Struggling with it</a:t>
            </a:r>
            <a:endParaRPr lang="en-US" sz="900" dirty="0"/>
          </a:p>
        </p:txBody>
      </p:sp>
      <p:sp>
        <p:nvSpPr>
          <p:cNvPr id="28" name="Shape 26"/>
          <p:cNvSpPr/>
          <p:nvPr/>
        </p:nvSpPr>
        <p:spPr>
          <a:xfrm>
            <a:off x="8089240" y="1869948"/>
            <a:ext cx="1182502" cy="232258"/>
          </a:xfrm>
          <a:prstGeom prst="roundRect">
            <a:avLst>
              <a:gd name="adj" fmla="val 50000"/>
            </a:avLst>
          </a:prstGeom>
          <a:solidFill>
            <a:srgbClr val="FFFFFF"/>
          </a:solidFill>
          <a:ln w="9525">
            <a:solidFill>
              <a:srgbClr val="DDE1E8"/>
            </a:solidFill>
            <a:prstDash val="solid"/>
          </a:ln>
        </p:spPr>
        <p:txBody>
          <a:bodyPr/>
          <a:lstStyle/>
          <a:p>
            <a:endParaRPr lang="en-MX"/>
          </a:p>
        </p:txBody>
      </p:sp>
      <p:sp>
        <p:nvSpPr>
          <p:cNvPr id="29" name="Text 27"/>
          <p:cNvSpPr txBox="1"/>
          <p:nvPr/>
        </p:nvSpPr>
        <p:spPr>
          <a:xfrm>
            <a:off x="8089240" y="1869948"/>
            <a:ext cx="1182502" cy="232258"/>
          </a:xfrm>
          <a:prstGeom prst="rect">
            <a:avLst/>
          </a:prstGeom>
          <a:noFill/>
          <a:ln/>
        </p:spPr>
        <p:txBody>
          <a:bodyPr wrap="square" lIns="0" tIns="0" rIns="0" bIns="0" rtlCol="0" anchor="ctr"/>
          <a:lstStyle/>
          <a:p>
            <a:pPr marL="0" indent="0" algn="ctr">
              <a:buNone/>
            </a:pPr>
            <a:r>
              <a:rPr lang="en-US" sz="900" dirty="0">
                <a:solidFill>
                  <a:srgbClr val="1B2230"/>
                </a:solidFill>
                <a:latin typeface="Calibri" pitchFamily="34" charset="0"/>
                <a:ea typeface="Calibri" pitchFamily="34" charset="-122"/>
                <a:cs typeface="Calibri" pitchFamily="34" charset="-120"/>
              </a:rPr>
              <a:t>I have a question</a:t>
            </a:r>
            <a:endParaRPr lang="en-US" sz="900" dirty="0"/>
          </a:p>
        </p:txBody>
      </p:sp>
      <p:sp>
        <p:nvSpPr>
          <p:cNvPr id="30" name="Shape 28"/>
          <p:cNvSpPr/>
          <p:nvPr/>
        </p:nvSpPr>
        <p:spPr>
          <a:xfrm>
            <a:off x="4160520" y="2382012"/>
            <a:ext cx="3645256" cy="1826768"/>
          </a:xfrm>
          <a:prstGeom prst="roundRect">
            <a:avLst>
              <a:gd name="adj" fmla="val 5006"/>
            </a:avLst>
          </a:prstGeom>
          <a:solidFill>
            <a:srgbClr val="FFFFFF"/>
          </a:solidFill>
          <a:ln w="9525">
            <a:solidFill>
              <a:srgbClr val="DDE1E8"/>
            </a:solidFill>
            <a:prstDash val="solid"/>
          </a:ln>
        </p:spPr>
        <p:txBody>
          <a:bodyPr/>
          <a:lstStyle/>
          <a:p>
            <a:endParaRPr lang="en-MX"/>
          </a:p>
        </p:txBody>
      </p:sp>
      <p:sp>
        <p:nvSpPr>
          <p:cNvPr id="31" name="Text 29"/>
          <p:cNvSpPr txBox="1"/>
          <p:nvPr/>
        </p:nvSpPr>
        <p:spPr>
          <a:xfrm>
            <a:off x="4315968" y="2491740"/>
            <a:ext cx="457200" cy="219456"/>
          </a:xfrm>
          <a:prstGeom prst="rect">
            <a:avLst/>
          </a:prstGeom>
          <a:noFill/>
          <a:ln/>
        </p:spPr>
        <p:txBody>
          <a:bodyPr wrap="square" lIns="0" tIns="0" rIns="0" bIns="0" rtlCol="0" anchor="ctr"/>
          <a:lstStyle/>
          <a:p>
            <a:pPr marL="0" indent="0">
              <a:buNone/>
            </a:pPr>
            <a:r>
              <a:rPr lang="en-US" sz="1200" b="1" dirty="0">
                <a:solidFill>
                  <a:srgbClr val="1B2230"/>
                </a:solidFill>
                <a:latin typeface="Calibri" pitchFamily="34" charset="0"/>
                <a:ea typeface="Calibri" pitchFamily="34" charset="-122"/>
                <a:cs typeface="Calibri" pitchFamily="34" charset="-120"/>
              </a:rPr>
              <a:t>G3</a:t>
            </a:r>
            <a:endParaRPr lang="en-US" sz="1200" dirty="0"/>
          </a:p>
        </p:txBody>
      </p:sp>
      <p:sp>
        <p:nvSpPr>
          <p:cNvPr id="32" name="Text 30"/>
          <p:cNvSpPr txBox="1"/>
          <p:nvPr/>
        </p:nvSpPr>
        <p:spPr>
          <a:xfrm>
            <a:off x="4590288" y="2491740"/>
            <a:ext cx="1962760" cy="219456"/>
          </a:xfrm>
          <a:prstGeom prst="rect">
            <a:avLst/>
          </a:prstGeom>
          <a:noFill/>
          <a:ln/>
        </p:spPr>
        <p:txBody>
          <a:bodyPr wrap="square" lIns="0" tIns="0" rIns="0" bIns="0" rtlCol="0" anchor="ctr"/>
          <a:lstStyle/>
          <a:p>
            <a:pPr marL="0" indent="0">
              <a:buNone/>
            </a:pPr>
            <a:r>
              <a:rPr lang="en-US" sz="950" dirty="0">
                <a:solidFill>
                  <a:srgbClr val="5B6475"/>
                </a:solidFill>
                <a:latin typeface="Calibri" pitchFamily="34" charset="0"/>
                <a:ea typeface="Calibri" pitchFamily="34" charset="-122"/>
                <a:cs typeface="Calibri" pitchFamily="34" charset="-120"/>
              </a:rPr>
              <a:t>Day 30</a:t>
            </a:r>
            <a:endParaRPr lang="en-US" sz="950" dirty="0"/>
          </a:p>
        </p:txBody>
      </p:sp>
      <p:sp>
        <p:nvSpPr>
          <p:cNvPr id="33" name="Shape 31"/>
          <p:cNvSpPr/>
          <p:nvPr/>
        </p:nvSpPr>
        <p:spPr>
          <a:xfrm>
            <a:off x="7093915" y="2510028"/>
            <a:ext cx="556412" cy="220370"/>
          </a:xfrm>
          <a:prstGeom prst="roundRect">
            <a:avLst>
              <a:gd name="adj" fmla="val 50000"/>
            </a:avLst>
          </a:prstGeom>
          <a:solidFill>
            <a:srgbClr val="E9ECF6"/>
          </a:solidFill>
          <a:ln w="9525">
            <a:solidFill>
              <a:srgbClr val="E9ECF6"/>
            </a:solidFill>
            <a:prstDash val="solid"/>
          </a:ln>
        </p:spPr>
        <p:txBody>
          <a:bodyPr/>
          <a:lstStyle/>
          <a:p>
            <a:endParaRPr lang="en-MX"/>
          </a:p>
        </p:txBody>
      </p:sp>
      <p:sp>
        <p:nvSpPr>
          <p:cNvPr id="34" name="Text 32"/>
          <p:cNvSpPr txBox="1"/>
          <p:nvPr/>
        </p:nvSpPr>
        <p:spPr>
          <a:xfrm>
            <a:off x="7093915" y="2510028"/>
            <a:ext cx="556412" cy="220370"/>
          </a:xfrm>
          <a:prstGeom prst="rect">
            <a:avLst/>
          </a:prstGeom>
          <a:noFill/>
          <a:ln/>
        </p:spPr>
        <p:txBody>
          <a:bodyPr wrap="square" lIns="0" tIns="0" rIns="0" bIns="0" rtlCol="0" anchor="ctr"/>
          <a:lstStyle/>
          <a:p>
            <a:pPr marL="0" indent="0" algn="ctr">
              <a:buNone/>
            </a:pPr>
            <a:r>
              <a:rPr lang="en-US" sz="850" dirty="0">
                <a:solidFill>
                  <a:srgbClr val="3D4F86"/>
                </a:solidFill>
                <a:latin typeface="Calibri" pitchFamily="34" charset="0"/>
                <a:ea typeface="Calibri" pitchFamily="34" charset="-122"/>
                <a:cs typeface="Calibri" pitchFamily="34" charset="-120"/>
              </a:rPr>
              <a:t>Email</a:t>
            </a:r>
            <a:endParaRPr lang="en-US" sz="850" dirty="0"/>
          </a:p>
        </p:txBody>
      </p:sp>
      <p:sp>
        <p:nvSpPr>
          <p:cNvPr id="35" name="Text 33"/>
          <p:cNvSpPr txBox="1"/>
          <p:nvPr/>
        </p:nvSpPr>
        <p:spPr>
          <a:xfrm>
            <a:off x="4315968" y="2766060"/>
            <a:ext cx="3334360" cy="188722"/>
          </a:xfrm>
          <a:prstGeom prst="rect">
            <a:avLst/>
          </a:prstGeom>
          <a:noFill/>
          <a:ln/>
        </p:spPr>
        <p:txBody>
          <a:bodyPr wrap="square" lIns="0" tIns="0" rIns="0" bIns="0" rtlCol="0" anchor="t"/>
          <a:lstStyle/>
          <a:p>
            <a:pPr marL="0" indent="0">
              <a:buNone/>
            </a:pPr>
            <a:r>
              <a:rPr lang="en-US" sz="1100" b="1" dirty="0">
                <a:solidFill>
                  <a:srgbClr val="1B2230"/>
                </a:solidFill>
                <a:latin typeface="Calibri" pitchFamily="34" charset="0"/>
                <a:ea typeface="Calibri" pitchFamily="34" charset="-122"/>
                <a:cs typeface="Calibri" pitchFamily="34" charset="-120"/>
              </a:rPr>
              <a:t>Your first month on {{habilidad_critica}}</a:t>
            </a:r>
            <a:endParaRPr lang="en-US" sz="1100" dirty="0"/>
          </a:p>
        </p:txBody>
      </p:sp>
      <p:sp>
        <p:nvSpPr>
          <p:cNvPr id="36" name="Text 34"/>
          <p:cNvSpPr txBox="1"/>
          <p:nvPr/>
        </p:nvSpPr>
        <p:spPr>
          <a:xfrm>
            <a:off x="4315968" y="2991358"/>
            <a:ext cx="3334360" cy="589788"/>
          </a:xfrm>
          <a:prstGeom prst="rect">
            <a:avLst/>
          </a:prstGeom>
          <a:noFill/>
          <a:ln/>
        </p:spPr>
        <p:txBody>
          <a:bodyPr wrap="square" lIns="0" tIns="0" rIns="0" bIns="0" rtlCol="0" anchor="t"/>
          <a:lstStyle/>
          <a:p>
            <a:pPr marL="0" indent="0">
              <a:lnSpc>
                <a:spcPct val="105000"/>
              </a:lnSpc>
              <a:buNone/>
            </a:pPr>
            <a:r>
              <a:rPr lang="en-US" sz="1200" dirty="0">
                <a:solidFill>
                  <a:srgbClr val="1B2230"/>
                </a:solidFill>
                <a:latin typeface="Cambria" pitchFamily="34" charset="0"/>
                <a:ea typeface="Cambria" pitchFamily="34" charset="-122"/>
                <a:cs typeface="Cambria" pitchFamily="34" charset="-120"/>
              </a:rPr>
              <a:t>This is when most people feel stuck, right before it starts to show. Go back to your plan and check off what you've done.</a:t>
            </a:r>
            <a:endParaRPr lang="en-US" sz="1200" dirty="0"/>
          </a:p>
        </p:txBody>
      </p:sp>
      <p:sp>
        <p:nvSpPr>
          <p:cNvPr id="37" name="Shape 35"/>
          <p:cNvSpPr/>
          <p:nvPr/>
        </p:nvSpPr>
        <p:spPr>
          <a:xfrm>
            <a:off x="7933792" y="2382012"/>
            <a:ext cx="3645256" cy="1826768"/>
          </a:xfrm>
          <a:prstGeom prst="roundRect">
            <a:avLst>
              <a:gd name="adj" fmla="val 5006"/>
            </a:avLst>
          </a:prstGeom>
          <a:solidFill>
            <a:srgbClr val="FFFFFF"/>
          </a:solidFill>
          <a:ln w="9525">
            <a:solidFill>
              <a:srgbClr val="DDE1E8"/>
            </a:solidFill>
            <a:prstDash val="solid"/>
          </a:ln>
        </p:spPr>
        <p:txBody>
          <a:bodyPr/>
          <a:lstStyle/>
          <a:p>
            <a:endParaRPr lang="en-MX"/>
          </a:p>
        </p:txBody>
      </p:sp>
      <p:sp>
        <p:nvSpPr>
          <p:cNvPr id="38" name="Text 36"/>
          <p:cNvSpPr txBox="1"/>
          <p:nvPr/>
        </p:nvSpPr>
        <p:spPr>
          <a:xfrm>
            <a:off x="8089240" y="2491740"/>
            <a:ext cx="457200" cy="219456"/>
          </a:xfrm>
          <a:prstGeom prst="rect">
            <a:avLst/>
          </a:prstGeom>
          <a:noFill/>
          <a:ln/>
        </p:spPr>
        <p:txBody>
          <a:bodyPr wrap="square" lIns="0" tIns="0" rIns="0" bIns="0" rtlCol="0" anchor="ctr"/>
          <a:lstStyle/>
          <a:p>
            <a:pPr marL="0" indent="0">
              <a:buNone/>
            </a:pPr>
            <a:r>
              <a:rPr lang="en-US" sz="1200" b="1" dirty="0">
                <a:solidFill>
                  <a:srgbClr val="1B2230"/>
                </a:solidFill>
                <a:latin typeface="Calibri" pitchFamily="34" charset="0"/>
                <a:ea typeface="Calibri" pitchFamily="34" charset="-122"/>
                <a:cs typeface="Calibri" pitchFamily="34" charset="-120"/>
              </a:rPr>
              <a:t>G4</a:t>
            </a:r>
            <a:endParaRPr lang="en-US" sz="1200" dirty="0"/>
          </a:p>
        </p:txBody>
      </p:sp>
      <p:sp>
        <p:nvSpPr>
          <p:cNvPr id="39" name="Text 37"/>
          <p:cNvSpPr txBox="1"/>
          <p:nvPr/>
        </p:nvSpPr>
        <p:spPr>
          <a:xfrm>
            <a:off x="8363560" y="2491740"/>
            <a:ext cx="1962760" cy="219456"/>
          </a:xfrm>
          <a:prstGeom prst="rect">
            <a:avLst/>
          </a:prstGeom>
          <a:noFill/>
          <a:ln/>
        </p:spPr>
        <p:txBody>
          <a:bodyPr wrap="square" lIns="0" tIns="0" rIns="0" bIns="0" rtlCol="0" anchor="ctr"/>
          <a:lstStyle/>
          <a:p>
            <a:pPr marL="0" indent="0">
              <a:buNone/>
            </a:pPr>
            <a:r>
              <a:rPr lang="en-US" sz="950" dirty="0">
                <a:solidFill>
                  <a:srgbClr val="5B6475"/>
                </a:solidFill>
                <a:latin typeface="Calibri" pitchFamily="34" charset="0"/>
                <a:ea typeface="Calibri" pitchFamily="34" charset="-122"/>
                <a:cs typeface="Calibri" pitchFamily="34" charset="-120"/>
              </a:rPr>
              <a:t>Day 90</a:t>
            </a:r>
            <a:endParaRPr lang="en-US" sz="950" dirty="0"/>
          </a:p>
        </p:txBody>
      </p:sp>
      <p:sp>
        <p:nvSpPr>
          <p:cNvPr id="40" name="Shape 38"/>
          <p:cNvSpPr/>
          <p:nvPr/>
        </p:nvSpPr>
        <p:spPr>
          <a:xfrm>
            <a:off x="10548518" y="2510028"/>
            <a:ext cx="875081" cy="220370"/>
          </a:xfrm>
          <a:prstGeom prst="roundRect">
            <a:avLst>
              <a:gd name="adj" fmla="val 50000"/>
            </a:avLst>
          </a:prstGeom>
          <a:solidFill>
            <a:srgbClr val="E9ECF6"/>
          </a:solidFill>
          <a:ln w="9525">
            <a:solidFill>
              <a:srgbClr val="E9ECF6"/>
            </a:solidFill>
            <a:prstDash val="solid"/>
          </a:ln>
        </p:spPr>
        <p:txBody>
          <a:bodyPr/>
          <a:lstStyle/>
          <a:p>
            <a:endParaRPr lang="en-MX"/>
          </a:p>
        </p:txBody>
      </p:sp>
      <p:sp>
        <p:nvSpPr>
          <p:cNvPr id="41" name="Text 39"/>
          <p:cNvSpPr txBox="1"/>
          <p:nvPr/>
        </p:nvSpPr>
        <p:spPr>
          <a:xfrm>
            <a:off x="10548518" y="2510028"/>
            <a:ext cx="875081" cy="220370"/>
          </a:xfrm>
          <a:prstGeom prst="rect">
            <a:avLst/>
          </a:prstGeom>
          <a:noFill/>
          <a:ln/>
        </p:spPr>
        <p:txBody>
          <a:bodyPr wrap="square" lIns="0" tIns="0" rIns="0" bIns="0" rtlCol="0" anchor="ctr"/>
          <a:lstStyle/>
          <a:p>
            <a:pPr marL="0" indent="0" algn="ctr">
              <a:buNone/>
            </a:pPr>
            <a:r>
              <a:rPr lang="en-US" sz="850" dirty="0">
                <a:solidFill>
                  <a:srgbClr val="3D4F86"/>
                </a:solidFill>
                <a:latin typeface="Calibri" pitchFamily="34" charset="0"/>
                <a:ea typeface="Calibri" pitchFamily="34" charset="-122"/>
                <a:cs typeface="Calibri" pitchFamily="34" charset="-120"/>
              </a:rPr>
              <a:t>Email + WA</a:t>
            </a:r>
            <a:endParaRPr lang="en-US" sz="850" dirty="0"/>
          </a:p>
        </p:txBody>
      </p:sp>
      <p:sp>
        <p:nvSpPr>
          <p:cNvPr id="42" name="Text 40"/>
          <p:cNvSpPr txBox="1"/>
          <p:nvPr/>
        </p:nvSpPr>
        <p:spPr>
          <a:xfrm>
            <a:off x="8089240" y="2766060"/>
            <a:ext cx="3334360" cy="359156"/>
          </a:xfrm>
          <a:prstGeom prst="rect">
            <a:avLst/>
          </a:prstGeom>
          <a:noFill/>
          <a:ln/>
        </p:spPr>
        <p:txBody>
          <a:bodyPr wrap="square" lIns="0" tIns="0" rIns="0" bIns="0" rtlCol="0" anchor="t"/>
          <a:lstStyle/>
          <a:p>
            <a:pPr marL="0" indent="0">
              <a:buNone/>
            </a:pPr>
            <a:r>
              <a:rPr lang="en-US" sz="1100" b="1" dirty="0">
                <a:solidFill>
                  <a:srgbClr val="1B2230"/>
                </a:solidFill>
                <a:latin typeface="Calibri" pitchFamily="34" charset="0"/>
                <a:ea typeface="Calibri" pitchFamily="34" charset="-122"/>
                <a:cs typeface="Calibri" pitchFamily="34" charset="-120"/>
              </a:rPr>
              <a:t>90 days in. How much did your six abilities move?</a:t>
            </a:r>
            <a:endParaRPr lang="en-US" sz="1100" dirty="0"/>
          </a:p>
        </p:txBody>
      </p:sp>
      <p:sp>
        <p:nvSpPr>
          <p:cNvPr id="43" name="Text 41"/>
          <p:cNvSpPr txBox="1"/>
          <p:nvPr/>
        </p:nvSpPr>
        <p:spPr>
          <a:xfrm>
            <a:off x="8089240" y="3161792"/>
            <a:ext cx="3334360" cy="589788"/>
          </a:xfrm>
          <a:prstGeom prst="rect">
            <a:avLst/>
          </a:prstGeom>
          <a:noFill/>
          <a:ln/>
        </p:spPr>
        <p:txBody>
          <a:bodyPr wrap="square" lIns="0" tIns="0" rIns="0" bIns="0" rtlCol="0" anchor="t"/>
          <a:lstStyle/>
          <a:p>
            <a:pPr marL="0" indent="0">
              <a:lnSpc>
                <a:spcPct val="105000"/>
              </a:lnSpc>
              <a:buNone/>
            </a:pPr>
            <a:r>
              <a:rPr lang="en-US" sz="1200" dirty="0">
                <a:solidFill>
                  <a:srgbClr val="1B2230"/>
                </a:solidFill>
                <a:latin typeface="Cambria" pitchFamily="34" charset="0"/>
                <a:ea typeface="Cambria" pitchFamily="34" charset="-122"/>
                <a:cs typeface="Cambria" pitchFamily="34" charset="-120"/>
              </a:rPr>
              <a:t>Your lowest ability was at {{puntaje_inicial}}. Measure again and see your before-and-after.</a:t>
            </a:r>
            <a:endParaRPr lang="en-US" sz="1200" dirty="0"/>
          </a:p>
        </p:txBody>
      </p:sp>
      <p:sp>
        <p:nvSpPr>
          <p:cNvPr id="44" name="Shape 42"/>
          <p:cNvSpPr/>
          <p:nvPr/>
        </p:nvSpPr>
        <p:spPr>
          <a:xfrm>
            <a:off x="8089240" y="3843020"/>
            <a:ext cx="1654881" cy="232258"/>
          </a:xfrm>
          <a:prstGeom prst="roundRect">
            <a:avLst>
              <a:gd name="adj" fmla="val 50000"/>
            </a:avLst>
          </a:prstGeom>
          <a:solidFill>
            <a:srgbClr val="1B2230"/>
          </a:solidFill>
          <a:ln w="9525">
            <a:solidFill>
              <a:srgbClr val="1B2230"/>
            </a:solidFill>
            <a:prstDash val="solid"/>
          </a:ln>
        </p:spPr>
        <p:txBody>
          <a:bodyPr/>
          <a:lstStyle/>
          <a:p>
            <a:endParaRPr lang="en-MX"/>
          </a:p>
        </p:txBody>
      </p:sp>
      <p:sp>
        <p:nvSpPr>
          <p:cNvPr id="45" name="Text 43"/>
          <p:cNvSpPr txBox="1"/>
          <p:nvPr/>
        </p:nvSpPr>
        <p:spPr>
          <a:xfrm>
            <a:off x="8089240" y="3843020"/>
            <a:ext cx="1654881" cy="23225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Take my re-assessment</a:t>
            </a:r>
            <a:endParaRPr lang="en-US" sz="900" dirty="0"/>
          </a:p>
        </p:txBody>
      </p:sp>
      <p:sp>
        <p:nvSpPr>
          <p:cNvPr id="46" name="Shape 44"/>
          <p:cNvSpPr/>
          <p:nvPr/>
        </p:nvSpPr>
        <p:spPr>
          <a:xfrm>
            <a:off x="4160520" y="4336796"/>
            <a:ext cx="7418527" cy="1465834"/>
          </a:xfrm>
          <a:prstGeom prst="roundRect">
            <a:avLst>
              <a:gd name="adj" fmla="val 6238"/>
            </a:avLst>
          </a:prstGeom>
          <a:solidFill>
            <a:srgbClr val="FFFFFF"/>
          </a:solidFill>
          <a:ln w="9525">
            <a:solidFill>
              <a:srgbClr val="DDE1E8"/>
            </a:solidFill>
            <a:prstDash val="solid"/>
          </a:ln>
        </p:spPr>
        <p:txBody>
          <a:bodyPr/>
          <a:lstStyle/>
          <a:p>
            <a:endParaRPr lang="en-MX"/>
          </a:p>
        </p:txBody>
      </p:sp>
      <p:sp>
        <p:nvSpPr>
          <p:cNvPr id="47" name="Text 45"/>
          <p:cNvSpPr txBox="1"/>
          <p:nvPr/>
        </p:nvSpPr>
        <p:spPr>
          <a:xfrm>
            <a:off x="4315968" y="4446524"/>
            <a:ext cx="457200" cy="219456"/>
          </a:xfrm>
          <a:prstGeom prst="rect">
            <a:avLst/>
          </a:prstGeom>
          <a:noFill/>
          <a:ln/>
        </p:spPr>
        <p:txBody>
          <a:bodyPr wrap="square" lIns="0" tIns="0" rIns="0" bIns="0" rtlCol="0" anchor="ctr"/>
          <a:lstStyle/>
          <a:p>
            <a:pPr marL="0" indent="0">
              <a:buNone/>
            </a:pPr>
            <a:r>
              <a:rPr lang="en-US" sz="1200" b="1" dirty="0">
                <a:solidFill>
                  <a:srgbClr val="1B2230"/>
                </a:solidFill>
                <a:latin typeface="Calibri" pitchFamily="34" charset="0"/>
                <a:ea typeface="Calibri" pitchFamily="34" charset="-122"/>
                <a:cs typeface="Calibri" pitchFamily="34" charset="-120"/>
              </a:rPr>
              <a:t>G5</a:t>
            </a:r>
            <a:endParaRPr lang="en-US" sz="1200" dirty="0"/>
          </a:p>
        </p:txBody>
      </p:sp>
      <p:sp>
        <p:nvSpPr>
          <p:cNvPr id="48" name="Text 46"/>
          <p:cNvSpPr txBox="1"/>
          <p:nvPr/>
        </p:nvSpPr>
        <p:spPr>
          <a:xfrm>
            <a:off x="4590288" y="4446524"/>
            <a:ext cx="5736031" cy="219456"/>
          </a:xfrm>
          <a:prstGeom prst="rect">
            <a:avLst/>
          </a:prstGeom>
          <a:noFill/>
          <a:ln/>
        </p:spPr>
        <p:txBody>
          <a:bodyPr wrap="square" lIns="0" tIns="0" rIns="0" bIns="0" rtlCol="0" anchor="ctr"/>
          <a:lstStyle/>
          <a:p>
            <a:pPr marL="0" indent="0">
              <a:buNone/>
            </a:pPr>
            <a:r>
              <a:rPr lang="en-US" sz="950" dirty="0">
                <a:solidFill>
                  <a:srgbClr val="5B6475"/>
                </a:solidFill>
                <a:latin typeface="Calibri" pitchFamily="34" charset="0"/>
                <a:ea typeface="Calibri" pitchFamily="34" charset="-122"/>
                <a:cs typeface="Calibri" pitchFamily="34" charset="-120"/>
              </a:rPr>
              <a:t>Re-assessment with improvement</a:t>
            </a:r>
            <a:endParaRPr lang="en-US" sz="950" dirty="0"/>
          </a:p>
        </p:txBody>
      </p:sp>
      <p:sp>
        <p:nvSpPr>
          <p:cNvPr id="49" name="Shape 47"/>
          <p:cNvSpPr/>
          <p:nvPr/>
        </p:nvSpPr>
        <p:spPr>
          <a:xfrm>
            <a:off x="10867187" y="4464812"/>
            <a:ext cx="556412" cy="220370"/>
          </a:xfrm>
          <a:prstGeom prst="roundRect">
            <a:avLst>
              <a:gd name="adj" fmla="val 50000"/>
            </a:avLst>
          </a:prstGeom>
          <a:solidFill>
            <a:srgbClr val="E9ECF6"/>
          </a:solidFill>
          <a:ln w="9525">
            <a:solidFill>
              <a:srgbClr val="E9ECF6"/>
            </a:solidFill>
            <a:prstDash val="solid"/>
          </a:ln>
        </p:spPr>
        <p:txBody>
          <a:bodyPr/>
          <a:lstStyle/>
          <a:p>
            <a:endParaRPr lang="en-MX"/>
          </a:p>
        </p:txBody>
      </p:sp>
      <p:sp>
        <p:nvSpPr>
          <p:cNvPr id="50" name="Text 48"/>
          <p:cNvSpPr txBox="1"/>
          <p:nvPr/>
        </p:nvSpPr>
        <p:spPr>
          <a:xfrm>
            <a:off x="10867187" y="4464812"/>
            <a:ext cx="556412" cy="220370"/>
          </a:xfrm>
          <a:prstGeom prst="rect">
            <a:avLst/>
          </a:prstGeom>
          <a:noFill/>
          <a:ln/>
        </p:spPr>
        <p:txBody>
          <a:bodyPr wrap="square" lIns="0" tIns="0" rIns="0" bIns="0" rtlCol="0" anchor="ctr"/>
          <a:lstStyle/>
          <a:p>
            <a:pPr marL="0" indent="0" algn="ctr">
              <a:buNone/>
            </a:pPr>
            <a:r>
              <a:rPr lang="en-US" sz="850" dirty="0">
                <a:solidFill>
                  <a:srgbClr val="3D4F86"/>
                </a:solidFill>
                <a:latin typeface="Calibri" pitchFamily="34" charset="0"/>
                <a:ea typeface="Calibri" pitchFamily="34" charset="-122"/>
                <a:cs typeface="Calibri" pitchFamily="34" charset="-120"/>
              </a:rPr>
              <a:t>Email</a:t>
            </a:r>
            <a:endParaRPr lang="en-US" sz="850" dirty="0"/>
          </a:p>
        </p:txBody>
      </p:sp>
      <p:sp>
        <p:nvSpPr>
          <p:cNvPr id="51" name="Text 49"/>
          <p:cNvSpPr txBox="1"/>
          <p:nvPr/>
        </p:nvSpPr>
        <p:spPr>
          <a:xfrm>
            <a:off x="4315968" y="4720844"/>
            <a:ext cx="7107631" cy="188722"/>
          </a:xfrm>
          <a:prstGeom prst="rect">
            <a:avLst/>
          </a:prstGeom>
          <a:noFill/>
          <a:ln/>
        </p:spPr>
        <p:txBody>
          <a:bodyPr wrap="square" lIns="0" tIns="0" rIns="0" bIns="0" rtlCol="0" anchor="t"/>
          <a:lstStyle/>
          <a:p>
            <a:pPr marL="0" indent="0">
              <a:buNone/>
            </a:pPr>
            <a:r>
              <a:rPr lang="en-US" sz="1100" b="1" dirty="0">
                <a:solidFill>
                  <a:srgbClr val="1B2230"/>
                </a:solidFill>
                <a:latin typeface="Calibri" pitchFamily="34" charset="0"/>
                <a:ea typeface="Calibri" pitchFamily="34" charset="-122"/>
                <a:cs typeface="Calibri" pitchFamily="34" charset="-120"/>
              </a:rPr>
              <a:t>Your {{habilidad_critica}} went up {{mejora}} points</a:t>
            </a:r>
            <a:endParaRPr lang="en-US" sz="1100" dirty="0"/>
          </a:p>
        </p:txBody>
      </p:sp>
      <p:sp>
        <p:nvSpPr>
          <p:cNvPr id="52" name="Text 50"/>
          <p:cNvSpPr txBox="1"/>
          <p:nvPr/>
        </p:nvSpPr>
        <p:spPr>
          <a:xfrm>
            <a:off x="4315968" y="4946142"/>
            <a:ext cx="7107631" cy="399288"/>
          </a:xfrm>
          <a:prstGeom prst="rect">
            <a:avLst/>
          </a:prstGeom>
          <a:noFill/>
          <a:ln/>
        </p:spPr>
        <p:txBody>
          <a:bodyPr wrap="square" lIns="0" tIns="0" rIns="0" bIns="0" rtlCol="0" anchor="t"/>
          <a:lstStyle/>
          <a:p>
            <a:pPr marL="0" indent="0">
              <a:lnSpc>
                <a:spcPct val="105000"/>
              </a:lnSpc>
              <a:buNone/>
            </a:pPr>
            <a:r>
              <a:rPr lang="en-US" sz="1200" dirty="0">
                <a:solidFill>
                  <a:srgbClr val="1B2230"/>
                </a:solidFill>
                <a:latin typeface="Cambria" pitchFamily="34" charset="0"/>
                <a:ea typeface="Cambria" pitchFamily="34" charset="-122"/>
                <a:cs typeface="Cambria" pitchFamily="34" charset="-120"/>
              </a:rPr>
              <a:t>If you know someone where you were 90 days ago, share your link: they get {{beneficio_referido}} and you get {{beneficio_referente}}.</a:t>
            </a:r>
            <a:endParaRPr lang="en-US" sz="1200" dirty="0"/>
          </a:p>
        </p:txBody>
      </p:sp>
      <p:sp>
        <p:nvSpPr>
          <p:cNvPr id="53" name="Shape 51"/>
          <p:cNvSpPr/>
          <p:nvPr/>
        </p:nvSpPr>
        <p:spPr>
          <a:xfrm>
            <a:off x="4315968" y="5436870"/>
            <a:ext cx="1317468" cy="232258"/>
          </a:xfrm>
          <a:prstGeom prst="roundRect">
            <a:avLst>
              <a:gd name="adj" fmla="val 50000"/>
            </a:avLst>
          </a:prstGeom>
          <a:solidFill>
            <a:srgbClr val="1B2230"/>
          </a:solidFill>
          <a:ln w="9525">
            <a:solidFill>
              <a:srgbClr val="1B2230"/>
            </a:solidFill>
            <a:prstDash val="solid"/>
          </a:ln>
        </p:spPr>
        <p:txBody>
          <a:bodyPr/>
          <a:lstStyle/>
          <a:p>
            <a:endParaRPr lang="en-MX"/>
          </a:p>
        </p:txBody>
      </p:sp>
      <p:sp>
        <p:nvSpPr>
          <p:cNvPr id="54" name="Text 52"/>
          <p:cNvSpPr txBox="1"/>
          <p:nvPr/>
        </p:nvSpPr>
        <p:spPr>
          <a:xfrm>
            <a:off x="4315968" y="5436870"/>
            <a:ext cx="1317468" cy="23225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Copy my link</a:t>
            </a:r>
            <a:endParaRPr lang="en-US" sz="900" dirty="0"/>
          </a:p>
        </p:txBody>
      </p:sp>
      <p:sp>
        <p:nvSpPr>
          <p:cNvPr id="55" name="Shape 53"/>
          <p:cNvSpPr/>
          <p:nvPr/>
        </p:nvSpPr>
        <p:spPr>
          <a:xfrm>
            <a:off x="5706588" y="5436870"/>
            <a:ext cx="1519916" cy="232258"/>
          </a:xfrm>
          <a:prstGeom prst="roundRect">
            <a:avLst>
              <a:gd name="adj" fmla="val 50000"/>
            </a:avLst>
          </a:prstGeom>
          <a:solidFill>
            <a:srgbClr val="FFFFFF"/>
          </a:solidFill>
          <a:ln w="9525">
            <a:solidFill>
              <a:srgbClr val="DDE1E8"/>
            </a:solidFill>
            <a:prstDash val="solid"/>
          </a:ln>
        </p:spPr>
        <p:txBody>
          <a:bodyPr/>
          <a:lstStyle/>
          <a:p>
            <a:endParaRPr lang="en-MX"/>
          </a:p>
        </p:txBody>
      </p:sp>
      <p:sp>
        <p:nvSpPr>
          <p:cNvPr id="56" name="Text 54"/>
          <p:cNvSpPr txBox="1"/>
          <p:nvPr/>
        </p:nvSpPr>
        <p:spPr>
          <a:xfrm>
            <a:off x="5706588" y="5436870"/>
            <a:ext cx="1519916" cy="232258"/>
          </a:xfrm>
          <a:prstGeom prst="rect">
            <a:avLst/>
          </a:prstGeom>
          <a:noFill/>
          <a:ln/>
        </p:spPr>
        <p:txBody>
          <a:bodyPr wrap="square" lIns="0" tIns="0" rIns="0" bIns="0" rtlCol="0" anchor="ctr"/>
          <a:lstStyle/>
          <a:p>
            <a:pPr marL="0" indent="0" algn="ctr">
              <a:buNone/>
            </a:pPr>
            <a:r>
              <a:rPr lang="en-US" sz="900" dirty="0">
                <a:solidFill>
                  <a:srgbClr val="1B2230"/>
                </a:solidFill>
                <a:latin typeface="Calibri" pitchFamily="34" charset="0"/>
                <a:ea typeface="Calibri" pitchFamily="34" charset="-122"/>
                <a:cs typeface="Calibri" pitchFamily="34" charset="-120"/>
              </a:rPr>
              <a:t>See the next level</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7F9"/>
        </a:solidFill>
        <a:effectLst/>
      </p:bgPr>
    </p:bg>
    <p:spTree>
      <p:nvGrpSpPr>
        <p:cNvPr id="1" name=""/>
        <p:cNvGrpSpPr/>
        <p:nvPr/>
      </p:nvGrpSpPr>
      <p:grpSpPr>
        <a:xfrm>
          <a:off x="0" y="0"/>
          <a:ext cx="0" cy="0"/>
          <a:chOff x="0" y="0"/>
          <a:chExt cx="0" cy="0"/>
        </a:xfrm>
      </p:grpSpPr>
      <p:sp>
        <p:nvSpPr>
          <p:cNvPr id="2" name="Text 0"/>
          <p:cNvSpPr txBox="1"/>
          <p:nvPr/>
        </p:nvSpPr>
        <p:spPr>
          <a:xfrm>
            <a:off x="612648" y="6446520"/>
            <a:ext cx="4572000" cy="228600"/>
          </a:xfrm>
          <a:prstGeom prst="rect">
            <a:avLst/>
          </a:prstGeom>
          <a:noFill/>
          <a:ln/>
        </p:spPr>
        <p:txBody>
          <a:bodyPr wrap="square" lIns="0" tIns="0" rIns="0" bIns="0" rtlCol="0" anchor="ctr"/>
          <a:lstStyle/>
          <a:p>
            <a:pPr marL="0" indent="0">
              <a:buNone/>
            </a:pPr>
            <a:r>
              <a:rPr lang="en-US" sz="900" dirty="0">
                <a:solidFill>
                  <a:srgbClr val="5B6475"/>
                </a:solidFill>
                <a:latin typeface="Calibri" pitchFamily="34" charset="0"/>
                <a:ea typeface="Calibri" pitchFamily="34" charset="-122"/>
                <a:cs typeface="Calibri" pitchFamily="34" charset="-120"/>
              </a:rPr>
              <a:t>Zones of Life: funnels and copy</a:t>
            </a:r>
            <a:endParaRPr lang="en-US" sz="900" dirty="0"/>
          </a:p>
        </p:txBody>
      </p:sp>
      <p:sp>
        <p:nvSpPr>
          <p:cNvPr id="3" name="Text 1"/>
          <p:cNvSpPr txBox="1"/>
          <p:nvPr/>
        </p:nvSpPr>
        <p:spPr>
          <a:xfrm>
            <a:off x="10881360" y="6446520"/>
            <a:ext cx="694944" cy="228600"/>
          </a:xfrm>
          <a:prstGeom prst="rect">
            <a:avLst/>
          </a:prstGeom>
          <a:noFill/>
          <a:ln/>
        </p:spPr>
        <p:txBody>
          <a:bodyPr wrap="square" lIns="0" tIns="0" rIns="0" bIns="0" rtlCol="0" anchor="ctr"/>
          <a:lstStyle/>
          <a:p>
            <a:pPr marL="0" indent="0" algn="r">
              <a:buNone/>
            </a:pPr>
            <a:r>
              <a:rPr lang="en-US" sz="900" dirty="0">
                <a:solidFill>
                  <a:srgbClr val="5B6475"/>
                </a:solidFill>
                <a:latin typeface="Calibri" pitchFamily="34" charset="0"/>
                <a:ea typeface="Calibri" pitchFamily="34" charset="-122"/>
                <a:cs typeface="Calibri" pitchFamily="34" charset="-120"/>
              </a:rPr>
              <a:t>17</a:t>
            </a:r>
            <a:endParaRPr lang="en-US" sz="900" dirty="0"/>
          </a:p>
        </p:txBody>
      </p:sp>
      <p:sp>
        <p:nvSpPr>
          <p:cNvPr id="4" name="Shape 2"/>
          <p:cNvSpPr/>
          <p:nvPr/>
        </p:nvSpPr>
        <p:spPr>
          <a:xfrm>
            <a:off x="612648" y="530352"/>
            <a:ext cx="912571" cy="256032"/>
          </a:xfrm>
          <a:prstGeom prst="roundRect">
            <a:avLst>
              <a:gd name="adj" fmla="val 50000"/>
            </a:avLst>
          </a:prstGeom>
          <a:solidFill>
            <a:srgbClr val="E9ECF6"/>
          </a:solidFill>
          <a:ln w="9525">
            <a:solidFill>
              <a:srgbClr val="E9ECF6"/>
            </a:solidFill>
            <a:prstDash val="solid"/>
          </a:ln>
        </p:spPr>
        <p:txBody>
          <a:bodyPr/>
          <a:lstStyle/>
          <a:p>
            <a:endParaRPr lang="en-MX"/>
          </a:p>
        </p:txBody>
      </p:sp>
      <p:sp>
        <p:nvSpPr>
          <p:cNvPr id="5" name="Text 3"/>
          <p:cNvSpPr txBox="1"/>
          <p:nvPr/>
        </p:nvSpPr>
        <p:spPr>
          <a:xfrm>
            <a:off x="612648" y="530352"/>
            <a:ext cx="912571" cy="256032"/>
          </a:xfrm>
          <a:prstGeom prst="rect">
            <a:avLst/>
          </a:prstGeom>
          <a:noFill/>
          <a:ln/>
        </p:spPr>
        <p:txBody>
          <a:bodyPr wrap="square" lIns="0" tIns="0" rIns="0" bIns="0" rtlCol="0" anchor="ctr"/>
          <a:lstStyle/>
          <a:p>
            <a:pPr marL="0" indent="0" algn="ctr">
              <a:buNone/>
            </a:pPr>
            <a:r>
              <a:rPr lang="en-US" sz="1000" b="1" dirty="0">
                <a:solidFill>
                  <a:srgbClr val="3D4F86"/>
                </a:solidFill>
                <a:latin typeface="Calibri" pitchFamily="34" charset="0"/>
                <a:ea typeface="Calibri" pitchFamily="34" charset="-122"/>
                <a:cs typeface="Calibri" pitchFamily="34" charset="-120"/>
              </a:rPr>
              <a:t>Nurture</a:t>
            </a:r>
            <a:endParaRPr lang="en-US" sz="1000" dirty="0"/>
          </a:p>
        </p:txBody>
      </p:sp>
      <p:sp>
        <p:nvSpPr>
          <p:cNvPr id="6" name="Text 4"/>
          <p:cNvSpPr txBox="1"/>
          <p:nvPr/>
        </p:nvSpPr>
        <p:spPr>
          <a:xfrm>
            <a:off x="612648" y="941832"/>
            <a:ext cx="3200400" cy="813816"/>
          </a:xfrm>
          <a:prstGeom prst="rect">
            <a:avLst/>
          </a:prstGeom>
          <a:noFill/>
          <a:ln/>
        </p:spPr>
        <p:txBody>
          <a:bodyPr wrap="square" lIns="0" tIns="0" rIns="0" bIns="0" rtlCol="0" anchor="t"/>
          <a:lstStyle/>
          <a:p>
            <a:pPr marL="0" indent="0">
              <a:lnSpc>
                <a:spcPct val="95000"/>
              </a:lnSpc>
              <a:buNone/>
            </a:pPr>
            <a:r>
              <a:rPr lang="en-US" sz="2800" dirty="0">
                <a:solidFill>
                  <a:srgbClr val="1B2230"/>
                </a:solidFill>
                <a:latin typeface="Cambria" pitchFamily="34" charset="0"/>
                <a:ea typeface="Cambria" pitchFamily="34" charset="-122"/>
                <a:cs typeface="Cambria" pitchFamily="34" charset="-120"/>
              </a:rPr>
              <a:t>Monthly nurture</a:t>
            </a:r>
            <a:endParaRPr lang="en-US" sz="2800" dirty="0"/>
          </a:p>
        </p:txBody>
      </p:sp>
      <p:sp>
        <p:nvSpPr>
          <p:cNvPr id="7" name="Text 5"/>
          <p:cNvSpPr txBox="1"/>
          <p:nvPr/>
        </p:nvSpPr>
        <p:spPr>
          <a:xfrm>
            <a:off x="612648" y="1920240"/>
            <a:ext cx="3200400" cy="970280"/>
          </a:xfrm>
          <a:prstGeom prst="rect">
            <a:avLst/>
          </a:prstGeom>
          <a:noFill/>
          <a:ln/>
        </p:spPr>
        <p:txBody>
          <a:bodyPr wrap="square" lIns="0" tIns="0" rIns="0" bIns="0" rtlCol="0" anchor="t"/>
          <a:lstStyle/>
          <a:p>
            <a:pPr marL="0" indent="0">
              <a:lnSpc>
                <a:spcPct val="110000"/>
              </a:lnSpc>
              <a:buNone/>
            </a:pPr>
            <a:r>
              <a:rPr lang="en-US" sz="1400" dirty="0">
                <a:solidFill>
                  <a:srgbClr val="5B6475"/>
                </a:solidFill>
                <a:latin typeface="Calibri" pitchFamily="34" charset="0"/>
                <a:ea typeface="Calibri" pitchFamily="34" charset="-122"/>
                <a:cs typeface="Calibri" pitchFamily="34" charset="-120"/>
              </a:rPr>
              <a:t>For anyone who left a flow without moving forward. One email a month with a practical idea on one of the six abilities and a single invitation based on their stage.</a:t>
            </a:r>
            <a:endParaRPr lang="en-US" sz="1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160520" y="566928"/>
          <a:ext cx="7415784" cy="1732280"/>
        </p:xfrm>
        <a:graphic>
          <a:graphicData uri="http://schemas.openxmlformats.org/drawingml/2006/table">
            <a:tbl>
              <a:tblPr/>
              <a:tblGrid>
                <a:gridCol w="2377440">
                  <a:extLst>
                    <a:ext uri="{9D8B030D-6E8A-4147-A177-3AD203B41FA5}">
                      <a16:colId xmlns:a16="http://schemas.microsoft.com/office/drawing/2014/main" val="20000"/>
                    </a:ext>
                  </a:extLst>
                </a:gridCol>
                <a:gridCol w="5038344">
                  <a:extLst>
                    <a:ext uri="{9D8B030D-6E8A-4147-A177-3AD203B41FA5}">
                      <a16:colId xmlns:a16="http://schemas.microsoft.com/office/drawing/2014/main" val="20001"/>
                    </a:ext>
                  </a:extLst>
                </a:gridCol>
              </a:tblGrid>
              <a:tr h="0">
                <a:tc>
                  <a:txBody>
                    <a:bodyPr/>
                    <a:lstStyle/>
                    <a:p>
                      <a:pPr marL="0" indent="0">
                        <a:buNone/>
                      </a:pPr>
                      <a:r>
                        <a:rPr lang="en-US" sz="1200" b="1" dirty="0">
                          <a:solidFill>
                            <a:srgbClr val="1B2230"/>
                          </a:solidFill>
                          <a:latin typeface="Calibri" pitchFamily="34" charset="0"/>
                          <a:ea typeface="Calibri" pitchFamily="34" charset="-122"/>
                          <a:cs typeface="Calibri" pitchFamily="34" charset="-120"/>
                        </a:rPr>
                        <a:t>Lead stage</a:t>
                      </a:r>
                      <a:endParaRPr lang="en-US" sz="1200" dirty="0">
                        <a:latin typeface="Calibri" charset="0"/>
                        <a:ea typeface="Calibri" charset="0"/>
                        <a:cs typeface="Calibri" charset="0"/>
                      </a:endParaRPr>
                    </a:p>
                  </a:txBody>
                  <a:tcPr marL="101600" marR="101600" marT="63500" marB="63500">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FFFFF"/>
                    </a:solidFill>
                  </a:tcPr>
                </a:tc>
                <a:tc>
                  <a:txBody>
                    <a:bodyPr/>
                    <a:lstStyle/>
                    <a:p>
                      <a:pPr marL="0" indent="0">
                        <a:buNone/>
                      </a:pPr>
                      <a:r>
                        <a:rPr lang="en-US" sz="1200" b="1" dirty="0">
                          <a:solidFill>
                            <a:srgbClr val="1B2230"/>
                          </a:solidFill>
                          <a:latin typeface="Calibri" pitchFamily="34" charset="0"/>
                          <a:ea typeface="Calibri" pitchFamily="34" charset="-122"/>
                          <a:cs typeface="Calibri" pitchFamily="34" charset="-120"/>
                        </a:rPr>
                        <a:t>Invitation of the month</a:t>
                      </a:r>
                      <a:endParaRPr lang="en-US" sz="1200" dirty="0">
                        <a:latin typeface="Calibri" charset="0"/>
                        <a:ea typeface="Calibri" charset="0"/>
                        <a:cs typeface="Calibri" charset="0"/>
                      </a:endParaRPr>
                    </a:p>
                  </a:txBody>
                  <a:tcPr marL="101600" marR="101600" marT="63500" marB="63500">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0">
                <a:tc>
                  <a:txBody>
                    <a:bodyPr/>
                    <a:lstStyle/>
                    <a:p>
                      <a:pPr marL="0" indent="0">
                        <a:buNone/>
                      </a:pPr>
                      <a:r>
                        <a:rPr lang="en-US" sz="1200" dirty="0">
                          <a:solidFill>
                            <a:srgbClr val="1B2230"/>
                          </a:solidFill>
                          <a:latin typeface="Calibri" pitchFamily="34" charset="0"/>
                          <a:ea typeface="Calibri" pitchFamily="34" charset="-122"/>
                          <a:cs typeface="Calibri" pitchFamily="34" charset="-120"/>
                        </a:rPr>
                        <a:t>Didn't finish the mini profile</a:t>
                      </a:r>
                      <a:endParaRPr lang="en-US" sz="1200" dirty="0">
                        <a:latin typeface="Calibri" charset="0"/>
                        <a:ea typeface="Calibri" charset="0"/>
                        <a:cs typeface="Calibri" charset="0"/>
                      </a:endParaRPr>
                    </a:p>
                  </a:txBody>
                  <a:tcPr marL="101600" marR="101600" marT="63500" marB="63500">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FFFFF"/>
                    </a:solidFill>
                  </a:tcPr>
                </a:tc>
                <a:tc>
                  <a:txBody>
                    <a:bodyPr/>
                    <a:lstStyle/>
                    <a:p>
                      <a:pPr marL="0" indent="0">
                        <a:buNone/>
                      </a:pPr>
                      <a:r>
                        <a:rPr lang="en-US" sz="1200" dirty="0">
                          <a:solidFill>
                            <a:srgbClr val="1B2230"/>
                          </a:solidFill>
                          <a:latin typeface="Calibri" pitchFamily="34" charset="0"/>
                          <a:ea typeface="Calibri" pitchFamily="34" charset="-122"/>
                          <a:cs typeface="Calibri" pitchFamily="34" charset="-120"/>
                        </a:rPr>
                        <a:t>Your Financial Mini Profile is still waiting for you.</a:t>
                      </a:r>
                      <a:endParaRPr lang="en-US" sz="1200" dirty="0">
                        <a:latin typeface="Calibri" charset="0"/>
                        <a:ea typeface="Calibri" charset="0"/>
                        <a:cs typeface="Calibri" charset="0"/>
                      </a:endParaRPr>
                    </a:p>
                  </a:txBody>
                  <a:tcPr marL="101600" marR="101600" marT="63500" marB="63500">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200" dirty="0">
                          <a:solidFill>
                            <a:srgbClr val="1B2230"/>
                          </a:solidFill>
                          <a:latin typeface="Calibri" pitchFamily="34" charset="0"/>
                          <a:ea typeface="Calibri" pitchFamily="34" charset="-122"/>
                          <a:cs typeface="Calibri" pitchFamily="34" charset="-120"/>
                        </a:rPr>
                        <a:t>Finished the mini profile</a:t>
                      </a:r>
                      <a:endParaRPr lang="en-US" sz="1200" dirty="0">
                        <a:latin typeface="Calibri" charset="0"/>
                        <a:ea typeface="Calibri" charset="0"/>
                        <a:cs typeface="Calibri" charset="0"/>
                      </a:endParaRPr>
                    </a:p>
                  </a:txBody>
                  <a:tcPr marL="101600" marR="101600" marT="63500" marB="63500">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FFFFF"/>
                    </a:solidFill>
                  </a:tcPr>
                </a:tc>
                <a:tc>
                  <a:txBody>
                    <a:bodyPr/>
                    <a:lstStyle/>
                    <a:p>
                      <a:pPr marL="0" indent="0">
                        <a:buNone/>
                      </a:pPr>
                      <a:r>
                        <a:rPr lang="en-US" sz="1200" dirty="0">
                          <a:solidFill>
                            <a:srgbClr val="1B2230"/>
                          </a:solidFill>
                          <a:latin typeface="Calibri" pitchFamily="34" charset="0"/>
                          <a:ea typeface="Calibri" pitchFamily="34" charset="-122"/>
                          <a:cs typeface="Calibri" pitchFamily="34" charset="-120"/>
                        </a:rPr>
                        <a:t>Find out why {{habilidad_critica}} sits where it does, with your Financial Health Profile.</a:t>
                      </a:r>
                      <a:endParaRPr lang="en-US" sz="1200" dirty="0">
                        <a:latin typeface="Calibri" charset="0"/>
                        <a:ea typeface="Calibri" charset="0"/>
                        <a:cs typeface="Calibri" charset="0"/>
                      </a:endParaRPr>
                    </a:p>
                  </a:txBody>
                  <a:tcPr marL="101600" marR="101600" marT="63500" marB="63500">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200" dirty="0">
                          <a:solidFill>
                            <a:srgbClr val="1B2230"/>
                          </a:solidFill>
                          <a:latin typeface="Calibri" pitchFamily="34" charset="0"/>
                          <a:ea typeface="Calibri" pitchFamily="34" charset="-122"/>
                          <a:cs typeface="Calibri" pitchFamily="34" charset="-120"/>
                        </a:rPr>
                        <a:t>Has the profile, no review</a:t>
                      </a:r>
                      <a:endParaRPr lang="en-US" sz="1200" dirty="0">
                        <a:latin typeface="Calibri" charset="0"/>
                        <a:ea typeface="Calibri" charset="0"/>
                        <a:cs typeface="Calibri" charset="0"/>
                      </a:endParaRPr>
                    </a:p>
                  </a:txBody>
                  <a:tcPr marL="101600" marR="101600" marT="63500" marB="63500">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FFFFF"/>
                    </a:solidFill>
                  </a:tcPr>
                </a:tc>
                <a:tc>
                  <a:txBody>
                    <a:bodyPr/>
                    <a:lstStyle/>
                    <a:p>
                      <a:pPr marL="0" indent="0">
                        <a:buNone/>
                      </a:pPr>
                      <a:r>
                        <a:rPr lang="en-US" sz="1200" dirty="0">
                          <a:solidFill>
                            <a:srgbClr val="1B2230"/>
                          </a:solidFill>
                          <a:latin typeface="Calibri" pitchFamily="34" charset="0"/>
                          <a:ea typeface="Calibri" pitchFamily="34" charset="-122"/>
                          <a:cs typeface="Calibri" pitchFamily="34" charset="-120"/>
                        </a:rPr>
                        <a:t>Read your chart with a coach: Private Review for {{precio_sesion}}.</a:t>
                      </a:r>
                      <a:endParaRPr lang="en-US" sz="1200" dirty="0">
                        <a:latin typeface="Calibri" charset="0"/>
                        <a:ea typeface="Calibri" charset="0"/>
                        <a:cs typeface="Calibri" charset="0"/>
                      </a:endParaRPr>
                    </a:p>
                  </a:txBody>
                  <a:tcPr marL="101600" marR="101600" marT="63500" marB="63500">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200" dirty="0">
                          <a:solidFill>
                            <a:srgbClr val="1B2230"/>
                          </a:solidFill>
                          <a:latin typeface="Calibri" pitchFamily="34" charset="0"/>
                          <a:ea typeface="Calibri" pitchFamily="34" charset="-122"/>
                          <a:cs typeface="Calibri" pitchFamily="34" charset="-120"/>
                        </a:rPr>
                        <a:t>Had the review, didn't buy</a:t>
                      </a:r>
                      <a:endParaRPr lang="en-US" sz="1200" dirty="0">
                        <a:latin typeface="Calibri" charset="0"/>
                        <a:ea typeface="Calibri" charset="0"/>
                        <a:cs typeface="Calibri" charset="0"/>
                      </a:endParaRPr>
                    </a:p>
                  </a:txBody>
                  <a:tcPr marL="101600" marR="101600" marT="63500" marB="63500">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FFFFF"/>
                    </a:solidFill>
                  </a:tcPr>
                </a:tc>
                <a:tc>
                  <a:txBody>
                    <a:bodyPr/>
                    <a:lstStyle/>
                    <a:p>
                      <a:pPr marL="0" indent="0">
                        <a:buNone/>
                      </a:pPr>
                      <a:r>
                        <a:rPr lang="en-US" sz="1200" dirty="0">
                          <a:solidFill>
                            <a:srgbClr val="1B2230"/>
                          </a:solidFill>
                          <a:latin typeface="Calibri" pitchFamily="34" charset="0"/>
                          <a:ea typeface="Calibri" pitchFamily="34" charset="-122"/>
                          <a:cs typeface="Calibri" pitchFamily="34" charset="-120"/>
                        </a:rPr>
                        <a:t>Take a look at {{producto_zona}}.</a:t>
                      </a:r>
                      <a:endParaRPr lang="en-US" sz="1200" dirty="0">
                        <a:latin typeface="Calibri" charset="0"/>
                        <a:ea typeface="Calibri" charset="0"/>
                        <a:cs typeface="Calibri" charset="0"/>
                      </a:endParaRPr>
                    </a:p>
                  </a:txBody>
                  <a:tcPr marL="101600" marR="101600" marT="63500" marB="63500">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7F9"/>
        </a:solidFill>
        <a:effectLst/>
      </p:bgPr>
    </p:bg>
    <p:spTree>
      <p:nvGrpSpPr>
        <p:cNvPr id="1" name=""/>
        <p:cNvGrpSpPr/>
        <p:nvPr/>
      </p:nvGrpSpPr>
      <p:grpSpPr>
        <a:xfrm>
          <a:off x="0" y="0"/>
          <a:ext cx="0" cy="0"/>
          <a:chOff x="0" y="0"/>
          <a:chExt cx="0" cy="0"/>
        </a:xfrm>
      </p:grpSpPr>
      <p:sp>
        <p:nvSpPr>
          <p:cNvPr id="2" name="Text 0"/>
          <p:cNvSpPr txBox="1"/>
          <p:nvPr/>
        </p:nvSpPr>
        <p:spPr>
          <a:xfrm>
            <a:off x="612648" y="6446520"/>
            <a:ext cx="4572000" cy="228600"/>
          </a:xfrm>
          <a:prstGeom prst="rect">
            <a:avLst/>
          </a:prstGeom>
          <a:noFill/>
          <a:ln/>
        </p:spPr>
        <p:txBody>
          <a:bodyPr wrap="square" lIns="0" tIns="0" rIns="0" bIns="0" rtlCol="0" anchor="ctr"/>
          <a:lstStyle/>
          <a:p>
            <a:pPr marL="0" indent="0">
              <a:buNone/>
            </a:pPr>
            <a:r>
              <a:rPr lang="en-US" sz="900" dirty="0">
                <a:solidFill>
                  <a:srgbClr val="5B6475"/>
                </a:solidFill>
                <a:latin typeface="Calibri" pitchFamily="34" charset="0"/>
                <a:ea typeface="Calibri" pitchFamily="34" charset="-122"/>
                <a:cs typeface="Calibri" pitchFamily="34" charset="-120"/>
              </a:rPr>
              <a:t>Zones of Life: funnels and copy</a:t>
            </a:r>
            <a:endParaRPr lang="en-US" sz="900" dirty="0"/>
          </a:p>
        </p:txBody>
      </p:sp>
      <p:sp>
        <p:nvSpPr>
          <p:cNvPr id="3" name="Text 1"/>
          <p:cNvSpPr txBox="1"/>
          <p:nvPr/>
        </p:nvSpPr>
        <p:spPr>
          <a:xfrm>
            <a:off x="10881360" y="6446520"/>
            <a:ext cx="694944" cy="228600"/>
          </a:xfrm>
          <a:prstGeom prst="rect">
            <a:avLst/>
          </a:prstGeom>
          <a:noFill/>
          <a:ln/>
        </p:spPr>
        <p:txBody>
          <a:bodyPr wrap="square" lIns="0" tIns="0" rIns="0" bIns="0" rtlCol="0" anchor="ctr"/>
          <a:lstStyle/>
          <a:p>
            <a:pPr marL="0" indent="0" algn="r">
              <a:buNone/>
            </a:pPr>
            <a:r>
              <a:rPr lang="en-US" sz="900" dirty="0">
                <a:solidFill>
                  <a:srgbClr val="5B6475"/>
                </a:solidFill>
                <a:latin typeface="Calibri" pitchFamily="34" charset="0"/>
                <a:ea typeface="Calibri" pitchFamily="34" charset="-122"/>
                <a:cs typeface="Calibri" pitchFamily="34" charset="-120"/>
              </a:rPr>
              <a:t>18</a:t>
            </a:r>
            <a:endParaRPr lang="en-US" sz="900" dirty="0"/>
          </a:p>
        </p:txBody>
      </p:sp>
      <p:sp>
        <p:nvSpPr>
          <p:cNvPr id="4" name="Shape 2"/>
          <p:cNvSpPr/>
          <p:nvPr/>
        </p:nvSpPr>
        <p:spPr>
          <a:xfrm>
            <a:off x="612648" y="530352"/>
            <a:ext cx="987552" cy="256032"/>
          </a:xfrm>
          <a:prstGeom prst="roundRect">
            <a:avLst>
              <a:gd name="adj" fmla="val 50000"/>
            </a:avLst>
          </a:prstGeom>
          <a:solidFill>
            <a:srgbClr val="E9ECF6"/>
          </a:solidFill>
          <a:ln w="9525">
            <a:solidFill>
              <a:srgbClr val="E9ECF6"/>
            </a:solidFill>
            <a:prstDash val="solid"/>
          </a:ln>
        </p:spPr>
        <p:txBody>
          <a:bodyPr/>
          <a:lstStyle/>
          <a:p>
            <a:endParaRPr lang="en-MX"/>
          </a:p>
        </p:txBody>
      </p:sp>
      <p:sp>
        <p:nvSpPr>
          <p:cNvPr id="5" name="Text 3"/>
          <p:cNvSpPr txBox="1"/>
          <p:nvPr/>
        </p:nvSpPr>
        <p:spPr>
          <a:xfrm>
            <a:off x="612648" y="530352"/>
            <a:ext cx="987552" cy="256032"/>
          </a:xfrm>
          <a:prstGeom prst="rect">
            <a:avLst/>
          </a:prstGeom>
          <a:noFill/>
          <a:ln/>
        </p:spPr>
        <p:txBody>
          <a:bodyPr wrap="square" lIns="0" tIns="0" rIns="0" bIns="0" rtlCol="0" anchor="ctr"/>
          <a:lstStyle/>
          <a:p>
            <a:pPr marL="0" indent="0" algn="ctr">
              <a:buNone/>
            </a:pPr>
            <a:r>
              <a:rPr lang="en-US" sz="1000" b="1" dirty="0">
                <a:solidFill>
                  <a:srgbClr val="3D4F86"/>
                </a:solidFill>
                <a:latin typeface="Calibri" pitchFamily="34" charset="0"/>
                <a:ea typeface="Calibri" pitchFamily="34" charset="-122"/>
                <a:cs typeface="Calibri" pitchFamily="34" charset="-120"/>
              </a:rPr>
              <a:t>Library</a:t>
            </a:r>
            <a:endParaRPr lang="en-US" sz="1000" dirty="0"/>
          </a:p>
        </p:txBody>
      </p:sp>
      <p:sp>
        <p:nvSpPr>
          <p:cNvPr id="6" name="Text 4"/>
          <p:cNvSpPr txBox="1"/>
          <p:nvPr/>
        </p:nvSpPr>
        <p:spPr>
          <a:xfrm>
            <a:off x="612648" y="941832"/>
            <a:ext cx="3200400" cy="813816"/>
          </a:xfrm>
          <a:prstGeom prst="rect">
            <a:avLst/>
          </a:prstGeom>
          <a:noFill/>
          <a:ln/>
        </p:spPr>
        <p:txBody>
          <a:bodyPr wrap="square" lIns="0" tIns="0" rIns="0" bIns="0" rtlCol="0" anchor="t"/>
          <a:lstStyle/>
          <a:p>
            <a:pPr marL="0" indent="0">
              <a:lnSpc>
                <a:spcPct val="95000"/>
              </a:lnSpc>
              <a:buNone/>
            </a:pPr>
            <a:r>
              <a:rPr lang="en-US" sz="2800" dirty="0">
                <a:solidFill>
                  <a:srgbClr val="1B2230"/>
                </a:solidFill>
                <a:latin typeface="Cambria" pitchFamily="34" charset="0"/>
                <a:ea typeface="Cambria" pitchFamily="34" charset="-122"/>
                <a:cs typeface="Cambria" pitchFamily="34" charset="-120"/>
              </a:rPr>
              <a:t>One line per ability</a:t>
            </a:r>
            <a:endParaRPr lang="en-US" sz="2800" dirty="0"/>
          </a:p>
        </p:txBody>
      </p:sp>
      <p:sp>
        <p:nvSpPr>
          <p:cNvPr id="7" name="Text 5"/>
          <p:cNvSpPr txBox="1"/>
          <p:nvPr/>
        </p:nvSpPr>
        <p:spPr>
          <a:xfrm>
            <a:off x="612648" y="1920240"/>
            <a:ext cx="3200400" cy="508000"/>
          </a:xfrm>
          <a:prstGeom prst="rect">
            <a:avLst/>
          </a:prstGeom>
          <a:noFill/>
          <a:ln/>
        </p:spPr>
        <p:txBody>
          <a:bodyPr wrap="square" lIns="0" tIns="0" rIns="0" bIns="0" rtlCol="0" anchor="t"/>
          <a:lstStyle/>
          <a:p>
            <a:pPr marL="0" indent="0">
              <a:lnSpc>
                <a:spcPct val="110000"/>
              </a:lnSpc>
              <a:buNone/>
            </a:pPr>
            <a:r>
              <a:rPr lang="en-US" sz="1400" dirty="0">
                <a:solidFill>
                  <a:srgbClr val="5B6475"/>
                </a:solidFill>
                <a:latin typeface="Calibri" pitchFamily="34" charset="0"/>
                <a:ea typeface="Calibri" pitchFamily="34" charset="-122"/>
                <a:cs typeface="Calibri" pitchFamily="34" charset="-120"/>
              </a:rPr>
              <a:t>Inserted as {{frase_habilidad}} in R1 and B1.</a:t>
            </a:r>
            <a:endParaRPr lang="en-US" sz="14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160520" y="566928"/>
          <a:ext cx="7415784" cy="1915160"/>
        </p:xfrm>
        <a:graphic>
          <a:graphicData uri="http://schemas.openxmlformats.org/drawingml/2006/table">
            <a:tbl>
              <a:tblPr/>
              <a:tblGrid>
                <a:gridCol w="1828800">
                  <a:extLst>
                    <a:ext uri="{9D8B030D-6E8A-4147-A177-3AD203B41FA5}">
                      <a16:colId xmlns:a16="http://schemas.microsoft.com/office/drawing/2014/main" val="20000"/>
                    </a:ext>
                  </a:extLst>
                </a:gridCol>
                <a:gridCol w="5586984">
                  <a:extLst>
                    <a:ext uri="{9D8B030D-6E8A-4147-A177-3AD203B41FA5}">
                      <a16:colId xmlns:a16="http://schemas.microsoft.com/office/drawing/2014/main" val="20001"/>
                    </a:ext>
                  </a:extLst>
                </a:gridCol>
              </a:tblGrid>
              <a:tr h="0">
                <a:tc>
                  <a:txBody>
                    <a:bodyPr/>
                    <a:lstStyle/>
                    <a:p>
                      <a:pPr marL="0" indent="0">
                        <a:buNone/>
                      </a:pPr>
                      <a:r>
                        <a:rPr lang="en-US" sz="1200" b="1" dirty="0">
                          <a:solidFill>
                            <a:srgbClr val="1B2230"/>
                          </a:solidFill>
                          <a:latin typeface="Calibri" pitchFamily="34" charset="0"/>
                          <a:ea typeface="Calibri" pitchFamily="34" charset="-122"/>
                          <a:cs typeface="Calibri" pitchFamily="34" charset="-120"/>
                        </a:rPr>
                        <a:t>Ability</a:t>
                      </a:r>
                      <a:endParaRPr lang="en-US" sz="1200" dirty="0">
                        <a:latin typeface="Calibri" charset="0"/>
                        <a:ea typeface="Calibri" charset="0"/>
                        <a:cs typeface="Calibri" charset="0"/>
                      </a:endParaRPr>
                    </a:p>
                  </a:txBody>
                  <a:tcPr marL="101600" marR="101600" marT="63500" marB="63500">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FFFFF"/>
                    </a:solidFill>
                  </a:tcPr>
                </a:tc>
                <a:tc>
                  <a:txBody>
                    <a:bodyPr/>
                    <a:lstStyle/>
                    <a:p>
                      <a:pPr marL="0" indent="0">
                        <a:buNone/>
                      </a:pPr>
                      <a:r>
                        <a:rPr lang="en-US" sz="1200" b="1" dirty="0">
                          <a:solidFill>
                            <a:srgbClr val="1B2230"/>
                          </a:solidFill>
                          <a:latin typeface="Calibri" pitchFamily="34" charset="0"/>
                          <a:ea typeface="Calibri" pitchFamily="34" charset="-122"/>
                          <a:cs typeface="Calibri" pitchFamily="34" charset="-120"/>
                        </a:rPr>
                        <a:t>Line</a:t>
                      </a:r>
                      <a:endParaRPr lang="en-US" sz="1200" dirty="0">
                        <a:latin typeface="Calibri" charset="0"/>
                        <a:ea typeface="Calibri" charset="0"/>
                        <a:cs typeface="Calibri" charset="0"/>
                      </a:endParaRPr>
                    </a:p>
                  </a:txBody>
                  <a:tcPr marL="101600" marR="101600" marT="63500" marB="63500">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0">
                <a:tc>
                  <a:txBody>
                    <a:bodyPr/>
                    <a:lstStyle/>
                    <a:p>
                      <a:pPr marL="0" indent="0">
                        <a:buNone/>
                      </a:pPr>
                      <a:r>
                        <a:rPr lang="en-US" sz="1200" dirty="0">
                          <a:solidFill>
                            <a:srgbClr val="1B2230"/>
                          </a:solidFill>
                          <a:latin typeface="Calibri" pitchFamily="34" charset="0"/>
                          <a:ea typeface="Calibri" pitchFamily="34" charset="-122"/>
                          <a:cs typeface="Calibri" pitchFamily="34" charset="-120"/>
                        </a:rPr>
                        <a:t>Have</a:t>
                      </a:r>
                      <a:endParaRPr lang="en-US" sz="1200" dirty="0">
                        <a:latin typeface="Calibri" charset="0"/>
                        <a:ea typeface="Calibri" charset="0"/>
                        <a:cs typeface="Calibri" charset="0"/>
                      </a:endParaRPr>
                    </a:p>
                  </a:txBody>
                  <a:tcPr marL="101600" marR="101600" marT="63500" marB="63500">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FFFFF"/>
                    </a:solidFill>
                  </a:tcPr>
                </a:tc>
                <a:tc>
                  <a:txBody>
                    <a:bodyPr/>
                    <a:lstStyle/>
                    <a:p>
                      <a:pPr marL="0" indent="0">
                        <a:buNone/>
                      </a:pPr>
                      <a:r>
                        <a:rPr lang="en-US" sz="1200" dirty="0">
                          <a:solidFill>
                            <a:srgbClr val="1B2230"/>
                          </a:solidFill>
                          <a:latin typeface="Calibri" pitchFamily="34" charset="0"/>
                          <a:ea typeface="Calibri" pitchFamily="34" charset="-122"/>
                          <a:cs typeface="Calibri" pitchFamily="34" charset="-120"/>
                        </a:rPr>
                        <a:t>You can earn more and still end up with nothing: if you don't feel entitled to keep it, money finds its own way out.</a:t>
                      </a:r>
                      <a:endParaRPr lang="en-US" sz="1200" dirty="0">
                        <a:latin typeface="Calibri" charset="0"/>
                        <a:ea typeface="Calibri" charset="0"/>
                        <a:cs typeface="Calibri" charset="0"/>
                      </a:endParaRPr>
                    </a:p>
                  </a:txBody>
                  <a:tcPr marL="101600" marR="101600" marT="63500" marB="63500">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200" dirty="0">
                          <a:solidFill>
                            <a:srgbClr val="1B2230"/>
                          </a:solidFill>
                          <a:latin typeface="Calibri" pitchFamily="34" charset="0"/>
                          <a:ea typeface="Calibri" pitchFamily="34" charset="-122"/>
                          <a:cs typeface="Calibri" pitchFamily="34" charset="-120"/>
                        </a:rPr>
                        <a:t>Investigate</a:t>
                      </a:r>
                      <a:endParaRPr lang="en-US" sz="1200" dirty="0">
                        <a:latin typeface="Calibri" charset="0"/>
                        <a:ea typeface="Calibri" charset="0"/>
                        <a:cs typeface="Calibri" charset="0"/>
                      </a:endParaRPr>
                    </a:p>
                  </a:txBody>
                  <a:tcPr marL="101600" marR="101600" marT="63500" marB="63500">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FFFFF"/>
                    </a:solidFill>
                  </a:tcPr>
                </a:tc>
                <a:tc>
                  <a:txBody>
                    <a:bodyPr/>
                    <a:lstStyle/>
                    <a:p>
                      <a:pPr marL="0" indent="0">
                        <a:buNone/>
                      </a:pPr>
                      <a:r>
                        <a:rPr lang="en-US" sz="1200" dirty="0">
                          <a:solidFill>
                            <a:srgbClr val="1B2230"/>
                          </a:solidFill>
                          <a:latin typeface="Calibri" pitchFamily="34" charset="0"/>
                          <a:ea typeface="Calibri" pitchFamily="34" charset="-122"/>
                          <a:cs typeface="Calibri" pitchFamily="34" charset="-120"/>
                        </a:rPr>
                        <a:t>Expensive decisions are rarely made for lack of money. They're made for lack of questions before signing.</a:t>
                      </a:r>
                      <a:endParaRPr lang="en-US" sz="1200" dirty="0">
                        <a:latin typeface="Calibri" charset="0"/>
                        <a:ea typeface="Calibri" charset="0"/>
                        <a:cs typeface="Calibri" charset="0"/>
                      </a:endParaRPr>
                    </a:p>
                  </a:txBody>
                  <a:tcPr marL="101600" marR="101600" marT="63500" marB="63500">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200" dirty="0">
                          <a:solidFill>
                            <a:srgbClr val="1B2230"/>
                          </a:solidFill>
                          <a:latin typeface="Calibri" pitchFamily="34" charset="0"/>
                          <a:ea typeface="Calibri" pitchFamily="34" charset="-122"/>
                          <a:cs typeface="Calibri" pitchFamily="34" charset="-120"/>
                        </a:rPr>
                        <a:t>Focus</a:t>
                      </a:r>
                      <a:endParaRPr lang="en-US" sz="1200" dirty="0">
                        <a:latin typeface="Calibri" charset="0"/>
                        <a:ea typeface="Calibri" charset="0"/>
                        <a:cs typeface="Calibri" charset="0"/>
                      </a:endParaRPr>
                    </a:p>
                  </a:txBody>
                  <a:tcPr marL="101600" marR="101600" marT="63500" marB="63500">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FFFFF"/>
                    </a:solidFill>
                  </a:tcPr>
                </a:tc>
                <a:tc>
                  <a:txBody>
                    <a:bodyPr/>
                    <a:lstStyle/>
                    <a:p>
                      <a:pPr marL="0" indent="0">
                        <a:buNone/>
                      </a:pPr>
                      <a:r>
                        <a:rPr lang="en-US" sz="1200" dirty="0">
                          <a:solidFill>
                            <a:srgbClr val="1B2230"/>
                          </a:solidFill>
                          <a:latin typeface="Calibri" pitchFamily="34" charset="0"/>
                          <a:ea typeface="Calibri" pitchFamily="34" charset="-122"/>
                          <a:cs typeface="Calibri" pitchFamily="34" charset="-120"/>
                        </a:rPr>
                        <a:t>Your attention is spread across so many fronts that none of them reaches the point where results start.</a:t>
                      </a:r>
                      <a:endParaRPr lang="en-US" sz="1200" dirty="0">
                        <a:latin typeface="Calibri" charset="0"/>
                        <a:ea typeface="Calibri" charset="0"/>
                        <a:cs typeface="Calibri" charset="0"/>
                      </a:endParaRPr>
                    </a:p>
                  </a:txBody>
                  <a:tcPr marL="101600" marR="101600" marT="63500" marB="63500">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200" dirty="0">
                          <a:solidFill>
                            <a:srgbClr val="1B2230"/>
                          </a:solidFill>
                          <a:latin typeface="Calibri" pitchFamily="34" charset="0"/>
                          <a:ea typeface="Calibri" pitchFamily="34" charset="-122"/>
                          <a:cs typeface="Calibri" pitchFamily="34" charset="-120"/>
                        </a:rPr>
                        <a:t>Invest</a:t>
                      </a:r>
                      <a:endParaRPr lang="en-US" sz="1200" dirty="0">
                        <a:latin typeface="Calibri" charset="0"/>
                        <a:ea typeface="Calibri" charset="0"/>
                        <a:cs typeface="Calibri" charset="0"/>
                      </a:endParaRPr>
                    </a:p>
                  </a:txBody>
                  <a:tcPr marL="101600" marR="101600" marT="63500" marB="63500">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FFFFF"/>
                    </a:solidFill>
                  </a:tcPr>
                </a:tc>
                <a:tc>
                  <a:txBody>
                    <a:bodyPr/>
                    <a:lstStyle/>
                    <a:p>
                      <a:pPr marL="0" indent="0">
                        <a:buNone/>
                      </a:pPr>
                      <a:r>
                        <a:rPr lang="en-US" sz="1200" dirty="0">
                          <a:solidFill>
                            <a:srgbClr val="1B2230"/>
                          </a:solidFill>
                          <a:latin typeface="Calibri" pitchFamily="34" charset="0"/>
                          <a:ea typeface="Calibri" pitchFamily="34" charset="-122"/>
                          <a:cs typeface="Calibri" pitchFamily="34" charset="-120"/>
                        </a:rPr>
                        <a:t>Your time, your energy and your money are already invested in something. The question is whether it's giving anything back.</a:t>
                      </a:r>
                      <a:endParaRPr lang="en-US" sz="1200" dirty="0">
                        <a:latin typeface="Calibri" charset="0"/>
                        <a:ea typeface="Calibri" charset="0"/>
                        <a:cs typeface="Calibri" charset="0"/>
                      </a:endParaRPr>
                    </a:p>
                  </a:txBody>
                  <a:tcPr marL="101600" marR="101600" marT="63500" marB="63500">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indent="0">
                        <a:buNone/>
                      </a:pPr>
                      <a:r>
                        <a:rPr lang="en-US" sz="1200" dirty="0">
                          <a:solidFill>
                            <a:srgbClr val="1B2230"/>
                          </a:solidFill>
                          <a:latin typeface="Calibri" pitchFamily="34" charset="0"/>
                          <a:ea typeface="Calibri" pitchFamily="34" charset="-122"/>
                          <a:cs typeface="Calibri" pitchFamily="34" charset="-120"/>
                        </a:rPr>
                        <a:t>Produce</a:t>
                      </a:r>
                      <a:endParaRPr lang="en-US" sz="1200" dirty="0">
                        <a:latin typeface="Calibri" charset="0"/>
                        <a:ea typeface="Calibri" charset="0"/>
                        <a:cs typeface="Calibri" charset="0"/>
                      </a:endParaRPr>
                    </a:p>
                  </a:txBody>
                  <a:tcPr marL="101600" marR="101600" marT="63500" marB="63500">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FFFFF"/>
                    </a:solidFill>
                  </a:tcPr>
                </a:tc>
                <a:tc>
                  <a:txBody>
                    <a:bodyPr/>
                    <a:lstStyle/>
                    <a:p>
                      <a:pPr marL="0" indent="0">
                        <a:buNone/>
                      </a:pPr>
                      <a:r>
                        <a:rPr lang="en-US" sz="1200" dirty="0">
                          <a:solidFill>
                            <a:srgbClr val="1B2230"/>
                          </a:solidFill>
                          <a:latin typeface="Calibri" pitchFamily="34" charset="0"/>
                          <a:ea typeface="Calibri" pitchFamily="34" charset="-122"/>
                          <a:cs typeface="Calibri" pitchFamily="34" charset="-120"/>
                        </a:rPr>
                        <a:t>You're busy most of the day and still find it hard to point at what you produced this week.</a:t>
                      </a:r>
                      <a:endParaRPr lang="en-US" sz="1200" dirty="0">
                        <a:latin typeface="Calibri" charset="0"/>
                        <a:ea typeface="Calibri" charset="0"/>
                        <a:cs typeface="Calibri" charset="0"/>
                      </a:endParaRPr>
                    </a:p>
                  </a:txBody>
                  <a:tcPr marL="101600" marR="101600" marT="63500" marB="63500">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indent="0">
                        <a:buNone/>
                      </a:pPr>
                      <a:r>
                        <a:rPr lang="en-US" sz="1200" dirty="0">
                          <a:solidFill>
                            <a:srgbClr val="1B2230"/>
                          </a:solidFill>
                          <a:latin typeface="Calibri" pitchFamily="34" charset="0"/>
                          <a:ea typeface="Calibri" pitchFamily="34" charset="-122"/>
                          <a:cs typeface="Calibri" pitchFamily="34" charset="-120"/>
                        </a:rPr>
                        <a:t>Create Wealth</a:t>
                      </a:r>
                      <a:endParaRPr lang="en-US" sz="1200" dirty="0">
                        <a:latin typeface="Calibri" charset="0"/>
                        <a:ea typeface="Calibri" charset="0"/>
                        <a:cs typeface="Calibri" charset="0"/>
                      </a:endParaRPr>
                    </a:p>
                  </a:txBody>
                  <a:tcPr marL="101600" marR="101600" marT="63500" marB="63500">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FFFFF"/>
                    </a:solidFill>
                  </a:tcPr>
                </a:tc>
                <a:tc>
                  <a:txBody>
                    <a:bodyPr/>
                    <a:lstStyle/>
                    <a:p>
                      <a:pPr marL="0" indent="0">
                        <a:buNone/>
                      </a:pPr>
                      <a:r>
                        <a:rPr lang="en-US" sz="1200" dirty="0">
                          <a:solidFill>
                            <a:srgbClr val="1B2230"/>
                          </a:solidFill>
                          <a:latin typeface="Calibri" pitchFamily="34" charset="0"/>
                          <a:ea typeface="Calibri" pitchFamily="34" charset="-122"/>
                          <a:cs typeface="Calibri" pitchFamily="34" charset="-120"/>
                        </a:rPr>
                        <a:t>It can't be trained on its own: it's the average of the other five, showing you the result of all of them together.</a:t>
                      </a:r>
                      <a:endParaRPr lang="en-US" sz="1200" dirty="0">
                        <a:latin typeface="Calibri" charset="0"/>
                        <a:ea typeface="Calibri" charset="0"/>
                        <a:cs typeface="Calibri" charset="0"/>
                      </a:endParaRPr>
                    </a:p>
                  </a:txBody>
                  <a:tcPr marL="101600" marR="101600" marT="63500" marB="63500">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7F9"/>
        </a:solidFill>
        <a:effectLst/>
      </p:bgPr>
    </p:bg>
    <p:spTree>
      <p:nvGrpSpPr>
        <p:cNvPr id="1" name=""/>
        <p:cNvGrpSpPr/>
        <p:nvPr/>
      </p:nvGrpSpPr>
      <p:grpSpPr>
        <a:xfrm>
          <a:off x="0" y="0"/>
          <a:ext cx="0" cy="0"/>
          <a:chOff x="0" y="0"/>
          <a:chExt cx="0" cy="0"/>
        </a:xfrm>
      </p:grpSpPr>
      <p:sp>
        <p:nvSpPr>
          <p:cNvPr id="2" name="Text 0"/>
          <p:cNvSpPr txBox="1"/>
          <p:nvPr/>
        </p:nvSpPr>
        <p:spPr>
          <a:xfrm>
            <a:off x="612648" y="6446520"/>
            <a:ext cx="4572000" cy="228600"/>
          </a:xfrm>
          <a:prstGeom prst="rect">
            <a:avLst/>
          </a:prstGeom>
          <a:noFill/>
          <a:ln/>
        </p:spPr>
        <p:txBody>
          <a:bodyPr wrap="square" lIns="0" tIns="0" rIns="0" bIns="0" rtlCol="0" anchor="ctr"/>
          <a:lstStyle/>
          <a:p>
            <a:pPr marL="0" indent="0">
              <a:buNone/>
            </a:pPr>
            <a:r>
              <a:rPr lang="en-US" sz="900" dirty="0">
                <a:solidFill>
                  <a:srgbClr val="5B6475"/>
                </a:solidFill>
                <a:latin typeface="Calibri" pitchFamily="34" charset="0"/>
                <a:ea typeface="Calibri" pitchFamily="34" charset="-122"/>
                <a:cs typeface="Calibri" pitchFamily="34" charset="-120"/>
              </a:rPr>
              <a:t>Zones of Life: funnels and copy</a:t>
            </a:r>
            <a:endParaRPr lang="en-US" sz="900" dirty="0"/>
          </a:p>
        </p:txBody>
      </p:sp>
      <p:sp>
        <p:nvSpPr>
          <p:cNvPr id="3" name="Text 1"/>
          <p:cNvSpPr txBox="1"/>
          <p:nvPr/>
        </p:nvSpPr>
        <p:spPr>
          <a:xfrm>
            <a:off x="10881360" y="6446520"/>
            <a:ext cx="694944" cy="228600"/>
          </a:xfrm>
          <a:prstGeom prst="rect">
            <a:avLst/>
          </a:prstGeom>
          <a:noFill/>
          <a:ln/>
        </p:spPr>
        <p:txBody>
          <a:bodyPr wrap="square" lIns="0" tIns="0" rIns="0" bIns="0" rtlCol="0" anchor="ctr"/>
          <a:lstStyle/>
          <a:p>
            <a:pPr marL="0" indent="0" algn="r">
              <a:buNone/>
            </a:pPr>
            <a:r>
              <a:rPr lang="en-US" sz="900" dirty="0">
                <a:solidFill>
                  <a:srgbClr val="5B6475"/>
                </a:solidFill>
                <a:latin typeface="Calibri" pitchFamily="34" charset="0"/>
                <a:ea typeface="Calibri" pitchFamily="34" charset="-122"/>
                <a:cs typeface="Calibri" pitchFamily="34" charset="-120"/>
              </a:rPr>
              <a:t>19</a:t>
            </a:r>
            <a:endParaRPr lang="en-US" sz="900" dirty="0"/>
          </a:p>
        </p:txBody>
      </p:sp>
      <p:sp>
        <p:nvSpPr>
          <p:cNvPr id="4" name="Shape 2"/>
          <p:cNvSpPr/>
          <p:nvPr/>
        </p:nvSpPr>
        <p:spPr>
          <a:xfrm>
            <a:off x="612648" y="530352"/>
            <a:ext cx="1437437" cy="256032"/>
          </a:xfrm>
          <a:prstGeom prst="roundRect">
            <a:avLst>
              <a:gd name="adj" fmla="val 50000"/>
            </a:avLst>
          </a:prstGeom>
          <a:solidFill>
            <a:srgbClr val="F5E6EE"/>
          </a:solidFill>
          <a:ln w="9525">
            <a:solidFill>
              <a:srgbClr val="F5E6EE"/>
            </a:solidFill>
            <a:prstDash val="solid"/>
          </a:ln>
        </p:spPr>
        <p:txBody>
          <a:bodyPr/>
          <a:lstStyle/>
          <a:p>
            <a:endParaRPr lang="en-MX"/>
          </a:p>
        </p:txBody>
      </p:sp>
      <p:sp>
        <p:nvSpPr>
          <p:cNvPr id="5" name="Text 3"/>
          <p:cNvSpPr txBox="1"/>
          <p:nvPr/>
        </p:nvSpPr>
        <p:spPr>
          <a:xfrm>
            <a:off x="612648" y="530352"/>
            <a:ext cx="1437437" cy="256032"/>
          </a:xfrm>
          <a:prstGeom prst="rect">
            <a:avLst/>
          </a:prstGeom>
          <a:noFill/>
          <a:ln/>
        </p:spPr>
        <p:txBody>
          <a:bodyPr wrap="square" lIns="0" tIns="0" rIns="0" bIns="0" rtlCol="0" anchor="ctr"/>
          <a:lstStyle/>
          <a:p>
            <a:pPr marL="0" indent="0" algn="ctr">
              <a:buNone/>
            </a:pPr>
            <a:r>
              <a:rPr lang="en-US" sz="1000" b="1" dirty="0">
                <a:solidFill>
                  <a:srgbClr val="9A3D6A"/>
                </a:solidFill>
                <a:latin typeface="Calibri" pitchFamily="34" charset="0"/>
                <a:ea typeface="Calibri" pitchFamily="34" charset="-122"/>
                <a:cs typeface="Calibri" pitchFamily="34" charset="-120"/>
              </a:rPr>
              <a:t>Before launch</a:t>
            </a:r>
            <a:endParaRPr lang="en-US" sz="1000" dirty="0"/>
          </a:p>
        </p:txBody>
      </p:sp>
      <p:sp>
        <p:nvSpPr>
          <p:cNvPr id="6" name="Text 4"/>
          <p:cNvSpPr txBox="1"/>
          <p:nvPr/>
        </p:nvSpPr>
        <p:spPr>
          <a:xfrm>
            <a:off x="612648" y="941832"/>
            <a:ext cx="3200400" cy="813816"/>
          </a:xfrm>
          <a:prstGeom prst="rect">
            <a:avLst/>
          </a:prstGeom>
          <a:noFill/>
          <a:ln/>
        </p:spPr>
        <p:txBody>
          <a:bodyPr wrap="square" lIns="0" tIns="0" rIns="0" bIns="0" rtlCol="0" anchor="t"/>
          <a:lstStyle/>
          <a:p>
            <a:pPr marL="0" indent="0">
              <a:lnSpc>
                <a:spcPct val="95000"/>
              </a:lnSpc>
              <a:buNone/>
            </a:pPr>
            <a:r>
              <a:rPr lang="en-US" sz="2800" dirty="0">
                <a:solidFill>
                  <a:srgbClr val="1B2230"/>
                </a:solidFill>
                <a:latin typeface="Cambria" pitchFamily="34" charset="0"/>
                <a:ea typeface="Cambria" pitchFamily="34" charset="-122"/>
                <a:cs typeface="Cambria" pitchFamily="34" charset="-120"/>
              </a:rPr>
              <a:t>Variables still to define</a:t>
            </a:r>
            <a:endParaRPr lang="en-US" sz="2800" dirty="0"/>
          </a:p>
        </p:txBody>
      </p:sp>
      <p:sp>
        <p:nvSpPr>
          <p:cNvPr id="7" name="Text 5"/>
          <p:cNvSpPr txBox="1"/>
          <p:nvPr/>
        </p:nvSpPr>
        <p:spPr>
          <a:xfrm>
            <a:off x="612648" y="1920240"/>
            <a:ext cx="3200400" cy="508000"/>
          </a:xfrm>
          <a:prstGeom prst="rect">
            <a:avLst/>
          </a:prstGeom>
          <a:noFill/>
          <a:ln/>
        </p:spPr>
        <p:txBody>
          <a:bodyPr wrap="square" lIns="0" tIns="0" rIns="0" bIns="0" rtlCol="0" anchor="t"/>
          <a:lstStyle/>
          <a:p>
            <a:pPr marL="0" indent="0">
              <a:lnSpc>
                <a:spcPct val="110000"/>
              </a:lnSpc>
              <a:buNone/>
            </a:pPr>
            <a:r>
              <a:rPr lang="en-US" sz="1400" dirty="0">
                <a:solidFill>
                  <a:srgbClr val="5B6475"/>
                </a:solidFill>
                <a:latin typeface="Calibri" pitchFamily="34" charset="0"/>
                <a:ea typeface="Calibri" pitchFamily="34" charset="-122"/>
                <a:cs typeface="Calibri" pitchFamily="34" charset="-120"/>
              </a:rPr>
              <a:t>No flow goes live until these are real. Variable names stay in Spanish on purpose: both language versions read the same CRM fields.</a:t>
            </a:r>
            <a:endParaRPr lang="en-US" sz="1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160520" y="566928"/>
          <a:ext cx="7415784" cy="2788920"/>
        </p:xfrm>
        <a:graphic>
          <a:graphicData uri="http://schemas.openxmlformats.org/drawingml/2006/table">
            <a:tbl>
              <a:tblPr/>
              <a:tblGrid>
                <a:gridCol w="3749040">
                  <a:extLst>
                    <a:ext uri="{9D8B030D-6E8A-4147-A177-3AD203B41FA5}">
                      <a16:colId xmlns:a16="http://schemas.microsoft.com/office/drawing/2014/main" val="20000"/>
                    </a:ext>
                  </a:extLst>
                </a:gridCol>
                <a:gridCol w="3666744">
                  <a:extLst>
                    <a:ext uri="{9D8B030D-6E8A-4147-A177-3AD203B41FA5}">
                      <a16:colId xmlns:a16="http://schemas.microsoft.com/office/drawing/2014/main" val="20001"/>
                    </a:ext>
                  </a:extLst>
                </a:gridCol>
              </a:tblGrid>
              <a:tr h="0">
                <a:tc>
                  <a:txBody>
                    <a:bodyPr/>
                    <a:lstStyle/>
                    <a:p>
                      <a:pPr marL="0" indent="0">
                        <a:buNone/>
                      </a:pPr>
                      <a:r>
                        <a:rPr lang="en-US" sz="1200" b="1" dirty="0">
                          <a:solidFill>
                            <a:srgbClr val="1B2230"/>
                          </a:solidFill>
                          <a:latin typeface="Calibri" pitchFamily="34" charset="0"/>
                          <a:ea typeface="Calibri" pitchFamily="34" charset="-122"/>
                          <a:cs typeface="Calibri" pitchFamily="34" charset="-120"/>
                        </a:rPr>
                        <a:t>Variable</a:t>
                      </a:r>
                      <a:endParaRPr lang="en-US" sz="1200" dirty="0">
                        <a:latin typeface="Calibri" charset="0"/>
                        <a:ea typeface="Calibri" charset="0"/>
                        <a:cs typeface="Calibri" charset="0"/>
                      </a:endParaRPr>
                    </a:p>
                  </a:txBody>
                  <a:tcPr marL="101600" marR="101600" marT="63500" marB="63500">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FFFFF"/>
                    </a:solidFill>
                  </a:tcPr>
                </a:tc>
                <a:tc>
                  <a:txBody>
                    <a:bodyPr/>
                    <a:lstStyle/>
                    <a:p>
                      <a:pPr marL="0" indent="0">
                        <a:buNone/>
                      </a:pPr>
                      <a:r>
                        <a:rPr lang="en-US" sz="1200" b="1" dirty="0">
                          <a:solidFill>
                            <a:srgbClr val="1B2230"/>
                          </a:solidFill>
                          <a:latin typeface="Calibri" pitchFamily="34" charset="0"/>
                          <a:ea typeface="Calibri" pitchFamily="34" charset="-122"/>
                          <a:cs typeface="Calibri" pitchFamily="34" charset="-120"/>
                        </a:rPr>
                        <a:t>What it is</a:t>
                      </a:r>
                      <a:endParaRPr lang="en-US" sz="1200" dirty="0">
                        <a:latin typeface="Calibri" charset="0"/>
                        <a:ea typeface="Calibri" charset="0"/>
                        <a:cs typeface="Calibri" charset="0"/>
                      </a:endParaRPr>
                    </a:p>
                  </a:txBody>
                  <a:tcPr marL="101600" marR="101600" marT="63500" marB="63500">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0">
                <a:tc>
                  <a:txBody>
                    <a:bodyPr/>
                    <a:lstStyle/>
                    <a:p>
                      <a:pPr marL="0" indent="0">
                        <a:buNone/>
                      </a:pPr>
                      <a:r>
                        <a:rPr lang="en-US" sz="1200" dirty="0">
                          <a:solidFill>
                            <a:srgbClr val="1B2230"/>
                          </a:solidFill>
                          <a:latin typeface="Calibri" pitchFamily="34" charset="0"/>
                          <a:ea typeface="Calibri" pitchFamily="34" charset="-122"/>
                          <a:cs typeface="Calibri" pitchFamily="34" charset="-120"/>
                        </a:rPr>
                        <a:t>{{precio_completo}}</a:t>
                      </a:r>
                      <a:endParaRPr lang="en-US" sz="1200" dirty="0">
                        <a:latin typeface="Calibri" charset="0"/>
                        <a:ea typeface="Calibri" charset="0"/>
                        <a:cs typeface="Calibri" charset="0"/>
                      </a:endParaRPr>
                    </a:p>
                  </a:txBody>
                  <a:tcPr marL="101600" marR="101600" marT="63500" marB="63500">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FFFFF"/>
                    </a:solidFill>
                  </a:tcPr>
                </a:tc>
                <a:tc>
                  <a:txBody>
                    <a:bodyPr/>
                    <a:lstStyle/>
                    <a:p>
                      <a:pPr marL="0" indent="0">
                        <a:buNone/>
                      </a:pPr>
                      <a:r>
                        <a:rPr lang="en-US" sz="1200" dirty="0">
                          <a:solidFill>
                            <a:srgbClr val="1B2230"/>
                          </a:solidFill>
                          <a:latin typeface="Calibri" pitchFamily="34" charset="0"/>
                          <a:ea typeface="Calibri" pitchFamily="34" charset="-122"/>
                          <a:cs typeface="Calibri" pitchFamily="34" charset="-120"/>
                        </a:rPr>
                        <a:t>Price of the Financial Health Profile: $500 (confirm currency and the US price)</a:t>
                      </a:r>
                      <a:endParaRPr lang="en-US" sz="1200" dirty="0">
                        <a:latin typeface="Calibri" charset="0"/>
                        <a:ea typeface="Calibri" charset="0"/>
                        <a:cs typeface="Calibri" charset="0"/>
                      </a:endParaRPr>
                    </a:p>
                  </a:txBody>
                  <a:tcPr marL="101600" marR="101600" marT="63500" marB="63500">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200" dirty="0">
                          <a:solidFill>
                            <a:srgbClr val="1B2230"/>
                          </a:solidFill>
                          <a:latin typeface="Calibri" pitchFamily="34" charset="0"/>
                          <a:ea typeface="Calibri" pitchFamily="34" charset="-122"/>
                          <a:cs typeface="Calibri" pitchFamily="34" charset="-120"/>
                        </a:rPr>
                        <a:t>{{precio_sesion}}</a:t>
                      </a:r>
                      <a:endParaRPr lang="en-US" sz="1200" dirty="0">
                        <a:latin typeface="Calibri" charset="0"/>
                        <a:ea typeface="Calibri" charset="0"/>
                        <a:cs typeface="Calibri" charset="0"/>
                      </a:endParaRPr>
                    </a:p>
                  </a:txBody>
                  <a:tcPr marL="101600" marR="101600" marT="63500" marB="63500">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FFFFF"/>
                    </a:solidFill>
                  </a:tcPr>
                </a:tc>
                <a:tc>
                  <a:txBody>
                    <a:bodyPr/>
                    <a:lstStyle/>
                    <a:p>
                      <a:pPr marL="0" indent="0">
                        <a:buNone/>
                      </a:pPr>
                      <a:r>
                        <a:rPr lang="en-US" sz="1200" dirty="0">
                          <a:solidFill>
                            <a:srgbClr val="1B2230"/>
                          </a:solidFill>
                          <a:latin typeface="Calibri" pitchFamily="34" charset="0"/>
                          <a:ea typeface="Calibri" pitchFamily="34" charset="-122"/>
                          <a:cs typeface="Calibri" pitchFamily="34" charset="-120"/>
                        </a:rPr>
                        <a:t>Price of the Private Review. Undefined: it's the second sale in the funnel.</a:t>
                      </a:r>
                      <a:endParaRPr lang="en-US" sz="1200" dirty="0">
                        <a:latin typeface="Calibri" charset="0"/>
                        <a:ea typeface="Calibri" charset="0"/>
                        <a:cs typeface="Calibri" charset="0"/>
                      </a:endParaRPr>
                    </a:p>
                  </a:txBody>
                  <a:tcPr marL="101600" marR="101600" marT="63500" marB="63500">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200" dirty="0">
                          <a:solidFill>
                            <a:srgbClr val="1B2230"/>
                          </a:solidFill>
                          <a:latin typeface="Calibri" pitchFamily="34" charset="0"/>
                          <a:ea typeface="Calibri" pitchFamily="34" charset="-122"/>
                          <a:cs typeface="Calibri" pitchFamily="34" charset="-120"/>
                        </a:rPr>
                        <a:t>{{opcion_pago}}</a:t>
                      </a:r>
                      <a:endParaRPr lang="en-US" sz="1200" dirty="0">
                        <a:latin typeface="Calibri" charset="0"/>
                        <a:ea typeface="Calibri" charset="0"/>
                        <a:cs typeface="Calibri" charset="0"/>
                      </a:endParaRPr>
                    </a:p>
                  </a:txBody>
                  <a:tcPr marL="101600" marR="101600" marT="63500" marB="63500">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FFFFF"/>
                    </a:solidFill>
                  </a:tcPr>
                </a:tc>
                <a:tc>
                  <a:txBody>
                    <a:bodyPr/>
                    <a:lstStyle/>
                    <a:p>
                      <a:pPr marL="0" indent="0">
                        <a:buNone/>
                      </a:pPr>
                      <a:r>
                        <a:rPr lang="en-US" sz="1200" dirty="0">
                          <a:solidFill>
                            <a:srgbClr val="1B2230"/>
                          </a:solidFill>
                          <a:latin typeface="Calibri" pitchFamily="34" charset="0"/>
                          <a:ea typeface="Calibri" pitchFamily="34" charset="-122"/>
                          <a:cs typeface="Calibri" pitchFamily="34" charset="-120"/>
                        </a:rPr>
                        <a:t>Payment methods and plans at checkout</a:t>
                      </a:r>
                      <a:endParaRPr lang="en-US" sz="1200" dirty="0">
                        <a:latin typeface="Calibri" charset="0"/>
                        <a:ea typeface="Calibri" charset="0"/>
                        <a:cs typeface="Calibri" charset="0"/>
                      </a:endParaRPr>
                    </a:p>
                  </a:txBody>
                  <a:tcPr marL="101600" marR="101600" marT="63500" marB="63500">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200" dirty="0">
                          <a:solidFill>
                            <a:srgbClr val="1B2230"/>
                          </a:solidFill>
                          <a:latin typeface="Calibri" pitchFamily="34" charset="0"/>
                          <a:ea typeface="Calibri" pitchFamily="34" charset="-122"/>
                          <a:cs typeface="Calibri" pitchFamily="34" charset="-120"/>
                        </a:rPr>
                        <a:t>{{minutos_completo}}, {{total_preguntas}}</a:t>
                      </a:r>
                      <a:endParaRPr lang="en-US" sz="1200" dirty="0">
                        <a:latin typeface="Calibri" charset="0"/>
                        <a:ea typeface="Calibri" charset="0"/>
                        <a:cs typeface="Calibri" charset="0"/>
                      </a:endParaRPr>
                    </a:p>
                  </a:txBody>
                  <a:tcPr marL="101600" marR="101600" marT="63500" marB="63500">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FFFFF"/>
                    </a:solidFill>
                  </a:tcPr>
                </a:tc>
                <a:tc>
                  <a:txBody>
                    <a:bodyPr/>
                    <a:lstStyle/>
                    <a:p>
                      <a:pPr marL="0" indent="0">
                        <a:buNone/>
                      </a:pPr>
                      <a:r>
                        <a:rPr lang="en-US" sz="1200" dirty="0">
                          <a:solidFill>
                            <a:srgbClr val="1B2230"/>
                          </a:solidFill>
                          <a:latin typeface="Calibri" pitchFamily="34" charset="0"/>
                          <a:ea typeface="Calibri" pitchFamily="34" charset="-122"/>
                          <a:cs typeface="Calibri" pitchFamily="34" charset="-120"/>
                        </a:rPr>
                        <a:t>Length of the full questionnaire and number of mini profile questions</a:t>
                      </a:r>
                      <a:endParaRPr lang="en-US" sz="1200" dirty="0">
                        <a:latin typeface="Calibri" charset="0"/>
                        <a:ea typeface="Calibri" charset="0"/>
                        <a:cs typeface="Calibri" charset="0"/>
                      </a:endParaRPr>
                    </a:p>
                  </a:txBody>
                  <a:tcPr marL="101600" marR="101600" marT="63500" marB="63500">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indent="0">
                        <a:buNone/>
                      </a:pPr>
                      <a:r>
                        <a:rPr lang="en-US" sz="1200" dirty="0">
                          <a:solidFill>
                            <a:srgbClr val="1B2230"/>
                          </a:solidFill>
                          <a:latin typeface="Calibri" pitchFamily="34" charset="0"/>
                          <a:ea typeface="Calibri" pitchFamily="34" charset="-122"/>
                          <a:cs typeface="Calibri" pitchFamily="34" charset="-120"/>
                        </a:rPr>
                        <a:t>{{duracion_sesion}}, {{horas_reagendar}}</a:t>
                      </a:r>
                      <a:endParaRPr lang="en-US" sz="1200" dirty="0">
                        <a:latin typeface="Calibri" charset="0"/>
                        <a:ea typeface="Calibri" charset="0"/>
                        <a:cs typeface="Calibri" charset="0"/>
                      </a:endParaRPr>
                    </a:p>
                  </a:txBody>
                  <a:tcPr marL="101600" marR="101600" marT="63500" marB="63500">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FFFFF"/>
                    </a:solidFill>
                  </a:tcPr>
                </a:tc>
                <a:tc>
                  <a:txBody>
                    <a:bodyPr/>
                    <a:lstStyle/>
                    <a:p>
                      <a:pPr marL="0" indent="0">
                        <a:buNone/>
                      </a:pPr>
                      <a:r>
                        <a:rPr lang="en-US" sz="1200" dirty="0">
                          <a:solidFill>
                            <a:srgbClr val="1B2230"/>
                          </a:solidFill>
                          <a:latin typeface="Calibri" pitchFamily="34" charset="0"/>
                          <a:ea typeface="Calibri" pitchFamily="34" charset="-122"/>
                          <a:cs typeface="Calibri" pitchFamily="34" charset="-120"/>
                        </a:rPr>
                        <a:t>Length of the Private Review and the free-reschedule window</a:t>
                      </a:r>
                      <a:endParaRPr lang="en-US" sz="1200" dirty="0">
                        <a:latin typeface="Calibri" charset="0"/>
                        <a:ea typeface="Calibri" charset="0"/>
                        <a:cs typeface="Calibri" charset="0"/>
                      </a:endParaRPr>
                    </a:p>
                  </a:txBody>
                  <a:tcPr marL="101600" marR="101600" marT="63500" marB="63500">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200" dirty="0">
                          <a:solidFill>
                            <a:srgbClr val="1B2230"/>
                          </a:solidFill>
                          <a:latin typeface="Calibri" pitchFamily="34" charset="0"/>
                          <a:ea typeface="Calibri" pitchFamily="34" charset="-122"/>
                          <a:cs typeface="Calibri" pitchFamily="34" charset="-120"/>
                        </a:rPr>
                        <a:t>Booking and payment link</a:t>
                      </a:r>
                      <a:endParaRPr lang="en-US" sz="1200" dirty="0">
                        <a:latin typeface="Calibri" charset="0"/>
                        <a:ea typeface="Calibri" charset="0"/>
                        <a:cs typeface="Calibri" charset="0"/>
                      </a:endParaRPr>
                    </a:p>
                  </a:txBody>
                  <a:tcPr marL="101600" marR="101600" marT="63500" marB="63500">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FFFFF"/>
                    </a:solidFill>
                  </a:tcPr>
                </a:tc>
                <a:tc>
                  <a:txBody>
                    <a:bodyPr/>
                    <a:lstStyle/>
                    <a:p>
                      <a:pPr marL="0" indent="0">
                        <a:buNone/>
                      </a:pPr>
                      <a:r>
                        <a:rPr lang="en-US" sz="1200" dirty="0">
                          <a:solidFill>
                            <a:srgbClr val="1B2230"/>
                          </a:solidFill>
                          <a:latin typeface="Calibri" pitchFamily="34" charset="0"/>
                          <a:ea typeface="Calibri" pitchFamily="34" charset="-122"/>
                          <a:cs typeface="Calibri" pitchFamily="34" charset="-120"/>
                        </a:rPr>
                        <a:t>The same one used in the workbook CTA. One link for everything.</a:t>
                      </a:r>
                      <a:endParaRPr lang="en-US" sz="1200" dirty="0">
                        <a:latin typeface="Calibri" charset="0"/>
                        <a:ea typeface="Calibri" charset="0"/>
                        <a:cs typeface="Calibri" charset="0"/>
                      </a:endParaRPr>
                    </a:p>
                  </a:txBody>
                  <a:tcPr marL="101600" marR="101600" marT="63500" marB="63500">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0">
                <a:tc>
                  <a:txBody>
                    <a:bodyPr/>
                    <a:lstStyle/>
                    <a:p>
                      <a:pPr marL="0" indent="0">
                        <a:buNone/>
                      </a:pPr>
                      <a:r>
                        <a:rPr lang="en-US" sz="1200" dirty="0">
                          <a:solidFill>
                            <a:srgbClr val="1B2230"/>
                          </a:solidFill>
                          <a:latin typeface="Calibri" pitchFamily="34" charset="0"/>
                          <a:ea typeface="Calibri" pitchFamily="34" charset="-122"/>
                          <a:cs typeface="Calibri" pitchFamily="34" charset="-120"/>
                        </a:rPr>
                        <a:t>{{cupos_semana}}</a:t>
                      </a:r>
                      <a:endParaRPr lang="en-US" sz="1200" dirty="0">
                        <a:latin typeface="Calibri" charset="0"/>
                        <a:ea typeface="Calibri" charset="0"/>
                        <a:cs typeface="Calibri" charset="0"/>
                      </a:endParaRPr>
                    </a:p>
                  </a:txBody>
                  <a:tcPr marL="101600" marR="101600" marT="63500" marB="63500">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FFFFF"/>
                    </a:solidFill>
                  </a:tcPr>
                </a:tc>
                <a:tc>
                  <a:txBody>
                    <a:bodyPr/>
                    <a:lstStyle/>
                    <a:p>
                      <a:pPr marL="0" indent="0">
                        <a:buNone/>
                      </a:pPr>
                      <a:r>
                        <a:rPr lang="en-US" sz="1200" dirty="0">
                          <a:solidFill>
                            <a:srgbClr val="1B2230"/>
                          </a:solidFill>
                          <a:latin typeface="Calibri" pitchFamily="34" charset="0"/>
                          <a:ea typeface="Calibri" pitchFamily="34" charset="-122"/>
                          <a:cs typeface="Calibri" pitchFamily="34" charset="-120"/>
                        </a:rPr>
                        <a:t>Real calendar availability (D5)</a:t>
                      </a:r>
                      <a:endParaRPr lang="en-US" sz="1200" dirty="0">
                        <a:latin typeface="Calibri" charset="0"/>
                        <a:ea typeface="Calibri" charset="0"/>
                        <a:cs typeface="Calibri" charset="0"/>
                      </a:endParaRPr>
                    </a:p>
                  </a:txBody>
                  <a:tcPr marL="101600" marR="101600" marT="63500" marB="63500">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0">
                <a:tc>
                  <a:txBody>
                    <a:bodyPr/>
                    <a:lstStyle/>
                    <a:p>
                      <a:pPr marL="0" indent="0">
                        <a:buNone/>
                      </a:pPr>
                      <a:r>
                        <a:rPr lang="en-US" sz="1200" dirty="0">
                          <a:solidFill>
                            <a:srgbClr val="1B2230"/>
                          </a:solidFill>
                          <a:latin typeface="Calibri" pitchFamily="34" charset="0"/>
                          <a:ea typeface="Calibri" pitchFamily="34" charset="-122"/>
                          <a:cs typeface="Calibri" pitchFamily="34" charset="-120"/>
                        </a:rPr>
                        <a:t>{{caso_*}}, {{testimonio_*}}</a:t>
                      </a:r>
                      <a:endParaRPr lang="en-US" sz="1200" dirty="0">
                        <a:latin typeface="Calibri" charset="0"/>
                        <a:ea typeface="Calibri" charset="0"/>
                        <a:cs typeface="Calibri" charset="0"/>
                      </a:endParaRPr>
                    </a:p>
                  </a:txBody>
                  <a:tcPr marL="101600" marR="101600" marT="63500" marB="63500">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FFFFF"/>
                    </a:solidFill>
                  </a:tcPr>
                </a:tc>
                <a:tc>
                  <a:txBody>
                    <a:bodyPr/>
                    <a:lstStyle/>
                    <a:p>
                      <a:pPr marL="0" indent="0">
                        <a:buNone/>
                      </a:pPr>
                      <a:r>
                        <a:rPr lang="en-US" sz="1200" dirty="0">
                          <a:solidFill>
                            <a:srgbClr val="1B2230"/>
                          </a:solidFill>
                          <a:latin typeface="Calibri" pitchFamily="34" charset="0"/>
                          <a:ea typeface="Calibri" pitchFamily="34" charset="-122"/>
                          <a:cs typeface="Calibri" pitchFamily="34" charset="-120"/>
                        </a:rPr>
                        <a:t>One real case per ability, with written permission</a:t>
                      </a:r>
                      <a:endParaRPr lang="en-US" sz="1200" dirty="0">
                        <a:latin typeface="Calibri" charset="0"/>
                        <a:ea typeface="Calibri" charset="0"/>
                        <a:cs typeface="Calibri" charset="0"/>
                      </a:endParaRPr>
                    </a:p>
                  </a:txBody>
                  <a:tcPr marL="101600" marR="101600" marT="63500" marB="63500">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0">
                <a:tc>
                  <a:txBody>
                    <a:bodyPr/>
                    <a:lstStyle/>
                    <a:p>
                      <a:pPr marL="0" indent="0">
                        <a:buNone/>
                      </a:pPr>
                      <a:r>
                        <a:rPr lang="en-US" sz="1200" dirty="0">
                          <a:solidFill>
                            <a:srgbClr val="1B2230"/>
                          </a:solidFill>
                          <a:latin typeface="Calibri" pitchFamily="34" charset="0"/>
                          <a:ea typeface="Calibri" pitchFamily="34" charset="-122"/>
                          <a:cs typeface="Calibri" pitchFamily="34" charset="-120"/>
                        </a:rPr>
                        <a:t>{{propuesta_programa}}, {{precio_programa}}</a:t>
                      </a:r>
                      <a:endParaRPr lang="en-US" sz="1200" dirty="0">
                        <a:latin typeface="Calibri" charset="0"/>
                        <a:ea typeface="Calibri" charset="0"/>
                        <a:cs typeface="Calibri" charset="0"/>
                      </a:endParaRPr>
                    </a:p>
                  </a:txBody>
                  <a:tcPr marL="101600" marR="101600" marT="63500" marB="63500">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FFFFF"/>
                    </a:solidFill>
                  </a:tcPr>
                </a:tc>
                <a:tc>
                  <a:txBody>
                    <a:bodyPr/>
                    <a:lstStyle/>
                    <a:p>
                      <a:pPr marL="0" indent="0">
                        <a:buNone/>
                      </a:pPr>
                      <a:r>
                        <a:rPr lang="en-US" sz="1200" dirty="0">
                          <a:solidFill>
                            <a:srgbClr val="1B2230"/>
                          </a:solidFill>
                          <a:latin typeface="Calibri" pitchFamily="34" charset="0"/>
                          <a:ea typeface="Calibri" pitchFamily="34" charset="-122"/>
                          <a:cs typeface="Calibri" pitchFamily="34" charset="-120"/>
                        </a:rPr>
                        <a:t>The program offer the coach proposes</a:t>
                      </a:r>
                      <a:endParaRPr lang="en-US" sz="1200" dirty="0">
                        <a:latin typeface="Calibri" charset="0"/>
                        <a:ea typeface="Calibri" charset="0"/>
                        <a:cs typeface="Calibri" charset="0"/>
                      </a:endParaRPr>
                    </a:p>
                  </a:txBody>
                  <a:tcPr marL="101600" marR="101600" marT="63500" marB="63500">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0">
                <a:tc>
                  <a:txBody>
                    <a:bodyPr/>
                    <a:lstStyle/>
                    <a:p>
                      <a:pPr marL="0" indent="0">
                        <a:buNone/>
                      </a:pPr>
                      <a:r>
                        <a:rPr lang="en-US" sz="1200" dirty="0">
                          <a:solidFill>
                            <a:srgbClr val="1B2230"/>
                          </a:solidFill>
                          <a:latin typeface="Calibri" pitchFamily="34" charset="0"/>
                          <a:ea typeface="Calibri" pitchFamily="34" charset="-122"/>
                          <a:cs typeface="Calibri" pitchFamily="34" charset="-120"/>
                        </a:rPr>
                        <a:t>{{producto_zona}}, {{precio_producto_zona}}</a:t>
                      </a:r>
                      <a:endParaRPr lang="en-US" sz="1200" dirty="0">
                        <a:latin typeface="Calibri" charset="0"/>
                        <a:ea typeface="Calibri" charset="0"/>
                        <a:cs typeface="Calibri" charset="0"/>
                      </a:endParaRPr>
                    </a:p>
                  </a:txBody>
                  <a:tcPr marL="101600" marR="101600" marT="63500" marB="63500">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FFFFF"/>
                    </a:solidFill>
                  </a:tcPr>
                </a:tc>
                <a:tc>
                  <a:txBody>
                    <a:bodyPr/>
                    <a:lstStyle/>
                    <a:p>
                      <a:pPr marL="0" indent="0">
                        <a:buNone/>
                      </a:pPr>
                      <a:r>
                        <a:rPr lang="en-US" sz="1200" dirty="0">
                          <a:solidFill>
                            <a:srgbClr val="1B2230"/>
                          </a:solidFill>
                          <a:latin typeface="Calibri" pitchFamily="34" charset="0"/>
                          <a:ea typeface="Calibri" pitchFamily="34" charset="-122"/>
                          <a:cs typeface="Calibri" pitchFamily="34" charset="-120"/>
                        </a:rPr>
                        <a:t>Entry product per ability</a:t>
                      </a:r>
                      <a:endParaRPr lang="en-US" sz="1200" dirty="0">
                        <a:latin typeface="Calibri" charset="0"/>
                        <a:ea typeface="Calibri" charset="0"/>
                        <a:cs typeface="Calibri" charset="0"/>
                      </a:endParaRPr>
                    </a:p>
                  </a:txBody>
                  <a:tcPr marL="101600" marR="101600" marT="63500" marB="63500">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0">
                <a:tc>
                  <a:txBody>
                    <a:bodyPr/>
                    <a:lstStyle/>
                    <a:p>
                      <a:pPr marL="0" indent="0">
                        <a:buNone/>
                      </a:pPr>
                      <a:r>
                        <a:rPr lang="en-US" sz="1200" dirty="0">
                          <a:solidFill>
                            <a:srgbClr val="1B2230"/>
                          </a:solidFill>
                          <a:latin typeface="Calibri" pitchFamily="34" charset="0"/>
                          <a:ea typeface="Calibri" pitchFamily="34" charset="-122"/>
                          <a:cs typeface="Calibri" pitchFamily="34" charset="-120"/>
                        </a:rPr>
                        <a:t>{{beneficio_referido}}, {{beneficio_referente}}</a:t>
                      </a:r>
                      <a:endParaRPr lang="en-US" sz="1200" dirty="0">
                        <a:latin typeface="Calibri" charset="0"/>
                        <a:ea typeface="Calibri" charset="0"/>
                        <a:cs typeface="Calibri" charset="0"/>
                      </a:endParaRPr>
                    </a:p>
                  </a:txBody>
                  <a:tcPr marL="101600" marR="101600" marT="63500" marB="63500">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FFFFF"/>
                    </a:solidFill>
                  </a:tcPr>
                </a:tc>
                <a:tc>
                  <a:txBody>
                    <a:bodyPr/>
                    <a:lstStyle/>
                    <a:p>
                      <a:pPr marL="0" indent="0">
                        <a:buNone/>
                      </a:pPr>
                      <a:r>
                        <a:rPr lang="en-US" sz="1200" dirty="0">
                          <a:solidFill>
                            <a:srgbClr val="1B2230"/>
                          </a:solidFill>
                          <a:latin typeface="Calibri" pitchFamily="34" charset="0"/>
                          <a:ea typeface="Calibri" pitchFamily="34" charset="-122"/>
                          <a:cs typeface="Calibri" pitchFamily="34" charset="-120"/>
                        </a:rPr>
                        <a:t>Referral incentives</a:t>
                      </a:r>
                      <a:endParaRPr lang="en-US" sz="1200" dirty="0">
                        <a:latin typeface="Calibri" charset="0"/>
                        <a:ea typeface="Calibri" charset="0"/>
                        <a:cs typeface="Calibri" charset="0"/>
                      </a:endParaRPr>
                    </a:p>
                  </a:txBody>
                  <a:tcPr marL="101600" marR="101600" marT="63500" marB="63500">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1637</TotalTime>
  <Words>3366</Words>
  <Application>Microsoft Macintosh PowerPoint</Application>
  <PresentationFormat>Widescreen</PresentationFormat>
  <Paragraphs>552</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Zones of Life: funnels y copys</dc:title>
  <dc:subject>PptxGenJS Presentation</dc:subject>
  <dc:creator>PptxGenJS</dc:creator>
  <cp:lastModifiedBy>Erika Fonseca</cp:lastModifiedBy>
  <cp:revision>2</cp:revision>
  <dcterms:created xsi:type="dcterms:W3CDTF">2026-09-16T23:27:18Z</dcterms:created>
  <dcterms:modified xsi:type="dcterms:W3CDTF">2026-09-18T02:46:13Z</dcterms:modified>
</cp:coreProperties>
</file>